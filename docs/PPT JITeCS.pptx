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1A73E8"/>
                </a:solidFill>
              </a:rPr>
              <a:t>Multimodal Fusion of Facial Image and Landmark Features</a:t>
            </a:r>
          </a:p>
          <a:p>
            <a:pPr algn="ctr"/>
            <a:r>
              <a:rPr sz="2200" b="1" i="0">
                <a:solidFill>
                  <a:srgbClr val="1A73E8"/>
                </a:solidFill>
              </a:rPr>
              <a:t>with Transfer Learning for Emotion Recognition</a:t>
            </a:r>
          </a:p>
          <a:p>
            <a:pPr algn="ctr"/>
            <a:r>
              <a:rPr sz="2200" b="1" i="0">
                <a:solidFill>
                  <a:srgbClr val="1A73E8"/>
                </a:solidFill>
              </a:rPr>
              <a:t>in Programming Learning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1">
                <a:solidFill>
                  <a:srgbClr val="202020"/>
                </a:solidFill>
              </a:rPr>
              <a:t>Proposal Publikasi Paper — JITeCS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202020"/>
                </a:solidFill>
              </a:rPr>
              <a:t>Taufik Hidayat</a:t>
            </a:r>
          </a:p>
          <a:p>
            <a:pPr algn="ctr"/>
            <a:r>
              <a:rPr sz="1100" b="0" i="0">
                <a:solidFill>
                  <a:srgbClr val="666666"/>
                </a:solidFill>
              </a:rPr>
              <a:t>Magister Ilmu Komputer</a:t>
            </a:r>
          </a:p>
          <a:p>
            <a:pPr algn="ctr"/>
            <a:r>
              <a:rPr sz="1000" b="0" i="1">
                <a:solidFill>
                  <a:srgbClr val="666666"/>
                </a:solidFill>
              </a:rPr>
              <a:t>Subset dari Tahap 4 Tesis —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Daftar Isi Paper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A73E8"/>
                </a:solidFill>
              </a:rPr>
              <a:t>BAB  </a:t>
            </a:r>
            <a:r>
              <a:rPr sz="900">
                <a:solidFill>
                  <a:srgbClr val="666666"/>
                </a:solidFill>
              </a:rPr>
              <a:t>= judul bab   |   </a:t>
            </a:r>
            <a:r>
              <a:rPr sz="900" b="1" i="1">
                <a:solidFill>
                  <a:srgbClr val="202020"/>
                </a:solidFill>
              </a:rPr>
              <a:t>Sub bab  </a:t>
            </a:r>
            <a:r>
              <a:rPr sz="900">
                <a:solidFill>
                  <a:srgbClr val="666666"/>
                </a:solidFill>
              </a:rPr>
              <a:t>= judul sub bab   |   </a:t>
            </a:r>
            <a:r>
              <a:rPr sz="900">
                <a:solidFill>
                  <a:srgbClr val="666666"/>
                </a:solidFill>
              </a:rPr>
              <a:t>•  </a:t>
            </a:r>
            <a:r>
              <a:rPr sz="900" i="1">
                <a:solidFill>
                  <a:srgbClr val="666666"/>
                </a:solidFill>
              </a:rPr>
              <a:t>isi poin yang dibahas dalam sub bab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4297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73E8"/>
                </a:solidFill>
              </a:rPr>
              <a:t>Abstract  </a:t>
            </a:r>
            <a:r>
              <a:rPr sz="1150" b="1">
                <a:solidFill>
                  <a:srgbClr val="1A73E8"/>
                </a:solidFill>
              </a:rPr>
              <a:t/>
            </a:r>
          </a:p>
          <a:p>
            <a:r>
              <a:rPr sz="850">
                <a:solidFill>
                  <a:srgbClr val="666666"/>
                </a:solidFill>
              </a:rPr>
              <a:t>        •  Problem: FER di konteks programming natural</a:t>
            </a:r>
          </a:p>
          <a:p>
            <a:r>
              <a:rPr sz="850">
                <a:solidFill>
                  <a:srgbClr val="666666"/>
                </a:solidFill>
              </a:rPr>
              <a:t>        •  Method: 5 arsitektur (CNN/FCNN/Early/Intermediate/Late) × TL</a:t>
            </a:r>
          </a:p>
          <a:p>
            <a:r>
              <a:rPr sz="850">
                <a:solidFill>
                  <a:srgbClr val="666666"/>
                </a:solidFill>
              </a:rPr>
              <a:t>        •  Data: 7.091 samples dari 37 mahasiswa</a:t>
            </a:r>
          </a:p>
          <a:p>
            <a:r>
              <a:rPr sz="850">
                <a:solidFill>
                  <a:srgbClr val="666666"/>
                </a:solidFill>
              </a:rPr>
              <a:t>        •  Best: Intermediate Fusion TL 4c B1 = F1 0.412</a:t>
            </a:r>
          </a:p>
          <a:p>
            <a:r>
              <a:rPr sz="850">
                <a:solidFill>
                  <a:srgbClr val="666666"/>
                </a:solidFill>
              </a:rPr>
              <a:t>        •  Insight: Intermediate + TL unggul di data natural</a:t>
            </a:r>
          </a:p>
          <a:p>
            <a:r>
              <a:rPr sz="400"/>
              <a:t/>
            </a:r>
          </a:p>
          <a:p>
            <a:r>
              <a:rPr sz="1150" b="1">
                <a:solidFill>
                  <a:srgbClr val="1A73E8"/>
                </a:solidFill>
              </a:rPr>
              <a:t>1.  </a:t>
            </a:r>
            <a:r>
              <a:rPr sz="1150" b="1">
                <a:solidFill>
                  <a:srgbClr val="1A73E8"/>
                </a:solidFill>
              </a:rPr>
              <a:t>Introduction</a:t>
            </a:r>
          </a:p>
          <a:p>
            <a:r>
              <a:rPr sz="850">
                <a:solidFill>
                  <a:srgbClr val="666666"/>
                </a:solidFill>
              </a:rPr>
              <a:t>        •  Motivasi: emosi mahasiswa → learning outcome programming</a:t>
            </a:r>
          </a:p>
          <a:p>
            <a:r>
              <a:rPr sz="850">
                <a:solidFill>
                  <a:srgbClr val="666666"/>
                </a:solidFill>
              </a:rPr>
              <a:t>        •  Gap: FER existing fokus data lab (posed), bukan natural</a:t>
            </a:r>
          </a:p>
          <a:p>
            <a:r>
              <a:rPr sz="850">
                <a:solidFill>
                  <a:srgbClr val="666666"/>
                </a:solidFill>
              </a:rPr>
              <a:t>        •  Rumusan masalah &amp; tujuan penelitian</a:t>
            </a:r>
          </a:p>
          <a:p>
            <a:r>
              <a:rPr sz="850">
                <a:solidFill>
                  <a:srgbClr val="666666"/>
                </a:solidFill>
              </a:rPr>
              <a:t>        •  Kontribusi: dataset baru + studi sistematis fusion × TL</a:t>
            </a:r>
          </a:p>
          <a:p>
            <a:r>
              <a:rPr sz="850">
                <a:solidFill>
                  <a:srgbClr val="666666"/>
                </a:solidFill>
              </a:rPr>
              <a:t>        •  Struktur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05156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73E8"/>
                </a:solidFill>
              </a:rPr>
              <a:t>2.  </a:t>
            </a:r>
            <a:r>
              <a:rPr sz="1150" b="1">
                <a:solidFill>
                  <a:srgbClr val="1A73E8"/>
                </a:solidFill>
              </a:rPr>
              <a:t>Related Work</a:t>
            </a:r>
          </a:p>
          <a:p>
            <a:r>
              <a:rPr sz="1000" b="1">
                <a:solidFill>
                  <a:srgbClr val="202020"/>
                </a:solidFill>
              </a:rPr>
              <a:t>    2.1  </a:t>
            </a:r>
            <a:r>
              <a:rPr sz="1000" b="1" i="1">
                <a:solidFill>
                  <a:srgbClr val="202020"/>
                </a:solidFill>
              </a:rPr>
              <a:t>Deep Learning for FER</a:t>
            </a:r>
          </a:p>
          <a:p>
            <a:r>
              <a:rPr sz="1000" b="1">
                <a:solidFill>
                  <a:srgbClr val="202020"/>
                </a:solidFill>
              </a:rPr>
              <a:t>    2.2  </a:t>
            </a:r>
            <a:r>
              <a:rPr sz="1000" b="1" i="1">
                <a:solidFill>
                  <a:srgbClr val="202020"/>
                </a:solidFill>
              </a:rPr>
              <a:t>Multimodal Fusion of Image and Landmark Features</a:t>
            </a:r>
          </a:p>
          <a:p>
            <a:r>
              <a:rPr sz="1000" b="1">
                <a:solidFill>
                  <a:srgbClr val="202020"/>
                </a:solidFill>
              </a:rPr>
              <a:t>    2.3  </a:t>
            </a:r>
            <a:r>
              <a:rPr sz="1000" b="1" i="1">
                <a:solidFill>
                  <a:srgbClr val="202020"/>
                </a:solidFill>
              </a:rPr>
              <a:t>Transfer Learning for FER</a:t>
            </a:r>
          </a:p>
          <a:p>
            <a:r>
              <a:rPr sz="1000" b="1">
                <a:solidFill>
                  <a:srgbClr val="202020"/>
                </a:solidFill>
              </a:rPr>
              <a:t>    2.4  </a:t>
            </a:r>
            <a:r>
              <a:rPr sz="1000" b="1" i="1">
                <a:solidFill>
                  <a:srgbClr val="202020"/>
                </a:solidFill>
              </a:rPr>
              <a:t>Affective Computing in Education</a:t>
            </a:r>
          </a:p>
          <a:p>
            <a:r>
              <a:rPr sz="400"/>
              <a:t/>
            </a:r>
          </a:p>
          <a:p>
            <a:r>
              <a:rPr sz="1150" b="1">
                <a:solidFill>
                  <a:srgbClr val="1A73E8"/>
                </a:solidFill>
              </a:rPr>
              <a:t>3.  </a:t>
            </a:r>
            <a:r>
              <a:rPr sz="1150" b="1">
                <a:solidFill>
                  <a:srgbClr val="1A73E8"/>
                </a:solidFill>
              </a:rPr>
              <a:t>Proposed Method</a:t>
            </a:r>
          </a:p>
          <a:p>
            <a:r>
              <a:rPr sz="1000" b="1">
                <a:solidFill>
                  <a:srgbClr val="202020"/>
                </a:solidFill>
              </a:rPr>
              <a:t>    3.1  </a:t>
            </a:r>
            <a:r>
              <a:rPr sz="1000" b="1" i="1">
                <a:solidFill>
                  <a:srgbClr val="202020"/>
                </a:solidFill>
              </a:rPr>
              <a:t>Dataset</a:t>
            </a:r>
          </a:p>
          <a:p>
            <a:r>
              <a:rPr sz="850">
                <a:solidFill>
                  <a:srgbClr val="666666"/>
                </a:solidFill>
              </a:rPr>
              <a:t>        •  Akuisisi 37 user, 2 batch, sesi programming</a:t>
            </a:r>
          </a:p>
          <a:p>
            <a:r>
              <a:rPr sz="850">
                <a:solidFill>
                  <a:srgbClr val="666666"/>
                </a:solidFill>
              </a:rPr>
              <a:t>        •  Anotasi Face API + confidence score</a:t>
            </a:r>
          </a:p>
          <a:p>
            <a:r>
              <a:rPr sz="850">
                <a:solidFill>
                  <a:srgbClr val="666666"/>
                </a:solidFill>
              </a:rPr>
              <a:t>        •  Statistik &amp; distribusi (imbalanced)</a:t>
            </a:r>
          </a:p>
          <a:p>
            <a:r>
              <a:rPr sz="850">
                <a:solidFill>
                  <a:srgbClr val="666666"/>
                </a:solidFill>
              </a:rPr>
              <a:t>        •  Preprocessing (resize, MediaPipe landmark)</a:t>
            </a:r>
          </a:p>
          <a:p>
            <a:r>
              <a:rPr sz="850">
                <a:solidFill>
                  <a:srgbClr val="666666"/>
                </a:solidFill>
              </a:rPr>
              <a:t>        •  Split strategi user-wise 80/10/10</a:t>
            </a:r>
          </a:p>
          <a:p>
            <a:r>
              <a:rPr sz="1000" b="1">
                <a:solidFill>
                  <a:srgbClr val="202020"/>
                </a:solidFill>
              </a:rPr>
              <a:t>    3.2  </a:t>
            </a:r>
            <a:r>
              <a:rPr sz="1000" b="1" i="1">
                <a:solidFill>
                  <a:srgbClr val="202020"/>
                </a:solidFill>
              </a:rPr>
              <a:t>Multimodal Architecture</a:t>
            </a:r>
          </a:p>
          <a:p>
            <a:r>
              <a:rPr sz="850">
                <a:solidFill>
                  <a:srgbClr val="666666"/>
                </a:solidFill>
              </a:rPr>
              <a:t>        •  CNN branch (vanilla + ResNet18 TL)</a:t>
            </a:r>
          </a:p>
          <a:p>
            <a:r>
              <a:rPr sz="850">
                <a:solidFill>
                  <a:srgbClr val="666666"/>
                </a:solidFill>
              </a:rPr>
              <a:t>        •  FCNN branch (68 landmark, 136-dim)</a:t>
            </a:r>
          </a:p>
          <a:p>
            <a:r>
              <a:rPr sz="850">
                <a:solidFill>
                  <a:srgbClr val="666666"/>
                </a:solidFill>
              </a:rPr>
              <a:t>        •  Fusion: Intermediate, 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Daftar Isi Paper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73E8"/>
                </a:solidFill>
              </a:rPr>
              <a:t>3.  </a:t>
            </a:r>
            <a:r>
              <a:rPr sz="1150" b="1">
                <a:solidFill>
                  <a:srgbClr val="1A73E8"/>
                </a:solidFill>
              </a:rPr>
              <a:t>Proposed Method (lanjutan)</a:t>
            </a:r>
          </a:p>
          <a:p>
            <a:r>
              <a:rPr sz="1000" b="1">
                <a:solidFill>
                  <a:srgbClr val="202020"/>
                </a:solidFill>
              </a:rPr>
              <a:t>    3.3  </a:t>
            </a:r>
            <a:r>
              <a:rPr sz="1000" b="1" i="1">
                <a:solidFill>
                  <a:srgbClr val="202020"/>
                </a:solidFill>
              </a:rPr>
              <a:t>Training Setup</a:t>
            </a:r>
          </a:p>
          <a:p>
            <a:r>
              <a:rPr sz="850">
                <a:solidFill>
                  <a:srgbClr val="666666"/>
                </a:solidFill>
              </a:rPr>
              <a:t>        •  Adam optimizer, ReduceLROnPlateau scheduler</a:t>
            </a:r>
          </a:p>
          <a:p>
            <a:r>
              <a:rPr sz="850">
                <a:solidFill>
                  <a:srgbClr val="666666"/>
                </a:solidFill>
              </a:rPr>
              <a:t>        •  Early stopping by macro F1 (patience=15)</a:t>
            </a:r>
          </a:p>
          <a:p>
            <a:r>
              <a:rPr sz="1000" b="1">
                <a:solidFill>
                  <a:srgbClr val="202020"/>
                </a:solidFill>
              </a:rPr>
              <a:t>    3.4  </a:t>
            </a:r>
            <a:r>
              <a:rPr sz="1000" b="1" i="1">
                <a:solidFill>
                  <a:srgbClr val="202020"/>
                </a:solidFill>
              </a:rPr>
              <a:t>Experimental Design</a:t>
            </a:r>
          </a:p>
          <a:p>
            <a:r>
              <a:rPr sz="850">
                <a:solidFill>
                  <a:srgbClr val="666666"/>
                </a:solidFill>
              </a:rPr>
              <a:t>        •  Scenarios: B1 Baseline, B2 Class Weights, B3 Augmentation</a:t>
            </a:r>
          </a:p>
          <a:p>
            <a:r>
              <a:rPr sz="850">
                <a:solidFill>
                  <a:srgbClr val="666666"/>
                </a:solidFill>
              </a:rPr>
              <a:t>        •  Class config: 7-class vs 4-class (minoritas → negative)</a:t>
            </a:r>
          </a:p>
          <a:p>
            <a:r>
              <a:rPr sz="850">
                <a:solidFill>
                  <a:srgbClr val="666666"/>
                </a:solidFill>
              </a:rPr>
              <a:t>        •  Evaluation metrics: Macro F1 (utama), Micro F1, Weighted F1</a:t>
            </a:r>
          </a:p>
          <a:p>
            <a:r>
              <a:rPr sz="400"/>
              <a:t/>
            </a:r>
          </a:p>
          <a:p>
            <a:r>
              <a:rPr sz="1150" b="1">
                <a:solidFill>
                  <a:srgbClr val="1A73E8"/>
                </a:solidFill>
              </a:rPr>
              <a:t>4.  </a:t>
            </a:r>
            <a:r>
              <a:rPr sz="1150" b="1">
                <a:solidFill>
                  <a:srgbClr val="1A73E8"/>
                </a:solidFill>
              </a:rPr>
              <a:t>Experimental Results</a:t>
            </a:r>
          </a:p>
          <a:p>
            <a:r>
              <a:rPr sz="1000" b="1">
                <a:solidFill>
                  <a:srgbClr val="202020"/>
                </a:solidFill>
              </a:rPr>
              <a:t>    4.1  </a:t>
            </a:r>
            <a:r>
              <a:rPr sz="1000" b="1" i="1">
                <a:solidFill>
                  <a:srgbClr val="202020"/>
                </a:solidFill>
              </a:rPr>
              <a:t>Overall Performance</a:t>
            </a:r>
          </a:p>
          <a:p>
            <a:r>
              <a:rPr sz="1000" b="1">
                <a:solidFill>
                  <a:srgbClr val="202020"/>
                </a:solidFill>
              </a:rPr>
              <a:t>    4.2  </a:t>
            </a:r>
            <a:r>
              <a:rPr sz="1000" b="1" i="1">
                <a:solidFill>
                  <a:srgbClr val="202020"/>
                </a:solidFill>
              </a:rPr>
              <a:t>Effect of Transfer Learning</a:t>
            </a:r>
          </a:p>
          <a:p>
            <a:r>
              <a:rPr sz="1000" b="1">
                <a:solidFill>
                  <a:srgbClr val="202020"/>
                </a:solidFill>
              </a:rPr>
              <a:t>    4.3  </a:t>
            </a:r>
            <a:r>
              <a:rPr sz="1000" b="1" i="1">
                <a:solidFill>
                  <a:srgbClr val="202020"/>
                </a:solidFill>
              </a:rPr>
              <a:t>Effect of Fusion Strategy</a:t>
            </a:r>
          </a:p>
          <a:p>
            <a:r>
              <a:rPr sz="1000" b="1">
                <a:solidFill>
                  <a:srgbClr val="202020"/>
                </a:solidFill>
              </a:rPr>
              <a:t>    4.4  </a:t>
            </a:r>
            <a:r>
              <a:rPr sz="1000" b="1" i="1">
                <a:solidFill>
                  <a:srgbClr val="202020"/>
                </a:solidFill>
              </a:rPr>
              <a:t>Effect of Class Granularity</a:t>
            </a:r>
          </a:p>
          <a:p>
            <a:r>
              <a:rPr sz="1000" b="1">
                <a:solidFill>
                  <a:srgbClr val="202020"/>
                </a:solidFill>
              </a:rPr>
              <a:t>    4.5  </a:t>
            </a:r>
            <a:r>
              <a:rPr sz="1000" b="1" i="1">
                <a:solidFill>
                  <a:srgbClr val="202020"/>
                </a:solidFill>
              </a:rPr>
              <a:t>Per-Class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77724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A73E8"/>
                </a:solidFill>
              </a:rPr>
              <a:t>5.  </a:t>
            </a:r>
            <a:r>
              <a:rPr sz="1150" b="1">
                <a:solidFill>
                  <a:srgbClr val="1A73E8"/>
                </a:solidFill>
              </a:rPr>
              <a:t>Discussion</a:t>
            </a:r>
          </a:p>
          <a:p>
            <a:r>
              <a:rPr sz="1000" b="1">
                <a:solidFill>
                  <a:srgbClr val="202020"/>
                </a:solidFill>
              </a:rPr>
              <a:t>    5.1  </a:t>
            </a:r>
            <a:r>
              <a:rPr sz="1000" b="1" i="1">
                <a:solidFill>
                  <a:srgbClr val="202020"/>
                </a:solidFill>
              </a:rPr>
              <a:t>Multimodal Fusion vs Single-Modality</a:t>
            </a:r>
          </a:p>
          <a:p>
            <a:r>
              <a:rPr sz="850">
                <a:solidFill>
                  <a:srgbClr val="666666"/>
                </a:solidFill>
              </a:rPr>
              <a:t>        •  Menjawab RQ1 (fusi image+landmark vs single)</a:t>
            </a:r>
          </a:p>
          <a:p>
            <a:r>
              <a:rPr sz="1000" b="1">
                <a:solidFill>
                  <a:srgbClr val="202020"/>
                </a:solidFill>
              </a:rPr>
              <a:t>    5.2  </a:t>
            </a:r>
            <a:r>
              <a:rPr sz="1000" b="1" i="1">
                <a:solidFill>
                  <a:srgbClr val="202020"/>
                </a:solidFill>
              </a:rPr>
              <a:t>Fusion Strategy Comparison: Intermediate vs Late</a:t>
            </a:r>
          </a:p>
          <a:p>
            <a:r>
              <a:rPr sz="850">
                <a:solidFill>
                  <a:srgbClr val="666666"/>
                </a:solidFill>
              </a:rPr>
              <a:t>        •  Menjawab RQ2 (strategi fusion terbaik)</a:t>
            </a:r>
          </a:p>
          <a:p>
            <a:r>
              <a:rPr sz="1000" b="1">
                <a:solidFill>
                  <a:srgbClr val="202020"/>
                </a:solidFill>
              </a:rPr>
              <a:t>    5.3  </a:t>
            </a:r>
            <a:r>
              <a:rPr sz="1000" b="1" i="1">
                <a:solidFill>
                  <a:srgbClr val="202020"/>
                </a:solidFill>
              </a:rPr>
              <a:t>Transfer Learning Effectiveness</a:t>
            </a:r>
          </a:p>
          <a:p>
            <a:r>
              <a:rPr sz="850">
                <a:solidFill>
                  <a:srgbClr val="666666"/>
                </a:solidFill>
              </a:rPr>
              <a:t>        •  Menjawab RQ3 (gain TL pada data natural)</a:t>
            </a:r>
          </a:p>
          <a:p>
            <a:r>
              <a:rPr sz="1000" b="1">
                <a:solidFill>
                  <a:srgbClr val="202020"/>
                </a:solidFill>
              </a:rPr>
              <a:t>    5.4  </a:t>
            </a:r>
            <a:r>
              <a:rPr sz="1000" b="1" i="1">
                <a:solidFill>
                  <a:srgbClr val="202020"/>
                </a:solidFill>
              </a:rPr>
              <a:t>Limitations</a:t>
            </a:r>
          </a:p>
          <a:p>
            <a:r>
              <a:rPr sz="850">
                <a:solidFill>
                  <a:srgbClr val="666666"/>
                </a:solidFill>
              </a:rPr>
              <a:t>        •  Minority class langka, 37 subjek, label noise</a:t>
            </a:r>
          </a:p>
          <a:p>
            <a:r>
              <a:rPr sz="1000" b="1">
                <a:solidFill>
                  <a:srgbClr val="202020"/>
                </a:solidFill>
              </a:rPr>
              <a:t>    5.5  </a:t>
            </a:r>
            <a:r>
              <a:rPr sz="1000" b="1" i="1">
                <a:solidFill>
                  <a:srgbClr val="202020"/>
                </a:solidFill>
              </a:rPr>
              <a:t>Implications for Learning Analytics</a:t>
            </a:r>
          </a:p>
          <a:p>
            <a:r>
              <a:rPr sz="400"/>
              <a:t/>
            </a:r>
          </a:p>
          <a:p>
            <a:r>
              <a:rPr sz="1150" b="1">
                <a:solidFill>
                  <a:srgbClr val="1A73E8"/>
                </a:solidFill>
              </a:rPr>
              <a:t>6.  </a:t>
            </a:r>
            <a:r>
              <a:rPr sz="1150" b="1">
                <a:solidFill>
                  <a:srgbClr val="1A73E8"/>
                </a:solidFill>
              </a:rPr>
              <a:t>Conclusion</a:t>
            </a:r>
          </a:p>
          <a:p>
            <a:r>
              <a:rPr sz="850">
                <a:solidFill>
                  <a:srgbClr val="666666"/>
                </a:solidFill>
              </a:rPr>
              <a:t>        •  Ringkasan 3 kontribusi &amp; best result</a:t>
            </a:r>
          </a:p>
          <a:p>
            <a:r>
              <a:rPr sz="850">
                <a:solidFill>
                  <a:srgbClr val="666666"/>
                </a:solidFill>
              </a:rPr>
              <a:t>        •  Future work: lebih banyak user, anotasi manual, real-time</a:t>
            </a:r>
          </a:p>
          <a:p>
            <a:r>
              <a:rPr sz="400"/>
              <a:t/>
            </a:r>
          </a:p>
          <a:p>
            <a:r>
              <a:rPr sz="1150" b="1">
                <a:solidFill>
                  <a:srgbClr val="1A73E8"/>
                </a:solidFill>
              </a:rPr>
              <a:t>  </a:t>
            </a:r>
            <a:r>
              <a:rPr sz="1150" b="1">
                <a:solidFill>
                  <a:srgbClr val="1A73E8"/>
                </a:solidFill>
              </a:rPr>
              <a:t>References</a:t>
            </a:r>
          </a:p>
          <a:p>
            <a:r>
              <a:rPr sz="850">
                <a:solidFill>
                  <a:srgbClr val="666666"/>
                </a:solidFill>
              </a:rPr>
              <a:t>        •  20-25 sitasi (SOTA FER + affective computing + multimodal DL)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Latar Belakang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00584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Masalah: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Emosi mahasiswa saat sesi pemrograman memengaruhi learning outcome (frustrasi, kebingungan, fokus).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Deteksi otomatis diperlukan untuk learning analytics, tetapi pengenalan emosi wajah (FER) berbasis satu modalitas rentan error pada kondisi natural.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920240"/>
            <a:ext cx="8595360" cy="1280160"/>
          </a:xfrm>
          <a:prstGeom prst="rect">
            <a:avLst/>
          </a:prstGeom>
          <a:solidFill>
            <a:srgbClr val="FFF0CC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020"/>
                </a:solidFill>
              </a:rPr>
              <a:t>Gap Penelitian: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FER yang ada mayoritas dievaluasi pada dataset lab (CK+, JAFFE, KDEF) dengan ekspresi dibuat-buat (posed).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Belum banyak riset FER multimodal (citra wajah + facial landmark) pada konteks pembelajaran pemrograman (natural expression).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Perbandingan sistematis strategi fusion × transfer learning pada data natural masih terbatas.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383280"/>
            <a:ext cx="8595360" cy="1417320"/>
          </a:xfrm>
          <a:prstGeom prst="rect">
            <a:avLst/>
          </a:prstGeom>
          <a:solidFill>
            <a:srgbClr val="E6F4EA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9D58"/>
                </a:solidFill>
              </a:rPr>
              <a:t>Kontribusi Paper: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1. Dataset multimodal baru: 7.091 sampel dari 37 mahasiswa selama sesi pemrograman natural.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2. Studi komparatif sistematis 5 arsitektur (CNN, FCNN, Early Fusion, Intermediate Fusion, Late Fusion) dengan/tanpa transfer learning — mencakup seluruh spektrum fusion point (input → feature → decision).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3. Evaluasi menyeluruh 60 konfigurasi dengan 3 metrik F1 (Macro, Micro, Weighted) untuk data imbalanced.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Rumusan Masalah &amp; Tujuan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2423160"/>
          </a:xfrm>
          <a:prstGeom prst="rect">
            <a:avLst/>
          </a:prstGeom>
          <a:solidFill>
            <a:srgbClr val="FCE4E4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3C3C"/>
                </a:solidFill>
              </a:rPr>
              <a:t>Rumusan Masalah (Research Questions)</a:t>
            </a:r>
          </a:p>
          <a:p>
            <a:pPr algn="l"/>
            <a:r>
              <a:rPr sz="300" b="0" i="0"/>
              <a:t/>
            </a:r>
          </a:p>
          <a:p>
            <a:r>
              <a:rPr sz="1000" b="1">
                <a:solidFill>
                  <a:srgbClr val="D93C3C"/>
                </a:solidFill>
              </a:rPr>
              <a:t>RQ1: </a:t>
            </a:r>
            <a:r>
              <a:rPr sz="1000">
                <a:solidFill>
                  <a:srgbClr val="202020"/>
                </a:solidFill>
              </a:rPr>
              <a:t>Apakah fusi multimodal antara citra wajah dan facial landmark memberikan kinerja yang lebih baik dibandingkan pendekatan single-modality untuk pengenalan emosi pada konteks pembelajaran pemrograman?</a:t>
            </a:r>
          </a:p>
          <a:p>
            <a:pPr algn="l"/>
            <a:r>
              <a:rPr sz="300" b="0" i="0"/>
              <a:t/>
            </a:r>
          </a:p>
          <a:p>
            <a:r>
              <a:rPr sz="1000" b="1">
                <a:solidFill>
                  <a:srgbClr val="D93C3C"/>
                </a:solidFill>
              </a:rPr>
              <a:t>RQ2: </a:t>
            </a:r>
            <a:r>
              <a:rPr sz="1000">
                <a:solidFill>
                  <a:srgbClr val="202020"/>
                </a:solidFill>
              </a:rPr>
              <a:t>Strategi fusion manakah — Intermediate Fusion atau Late Fusion — yang lebih efektif dalam menangani data ekspresi wajah yang natural dan imbalanced?</a:t>
            </a:r>
          </a:p>
          <a:p>
            <a:pPr algn="l"/>
            <a:r>
              <a:rPr sz="300" b="0" i="0"/>
              <a:t/>
            </a:r>
          </a:p>
          <a:p>
            <a:r>
              <a:rPr sz="1000" b="1">
                <a:solidFill>
                  <a:srgbClr val="D93C3C"/>
                </a:solidFill>
              </a:rPr>
              <a:t>RQ3: </a:t>
            </a:r>
            <a:r>
              <a:rPr sz="1000">
                <a:solidFill>
                  <a:srgbClr val="202020"/>
                </a:solidFill>
              </a:rPr>
              <a:t>Bagaimana pengaruh transfer learning (ResNet18 pretrained ImageNet) terhadap kinerja model pengenalan emosi wajah multimodal pada dataset kecil dengan ekspresi natural?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291840"/>
            <a:ext cx="8595360" cy="1508760"/>
          </a:xfrm>
          <a:prstGeom prst="rect">
            <a:avLst/>
          </a:prstGeom>
          <a:solidFill>
            <a:srgbClr val="E6F4EA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9D58"/>
                </a:solidFill>
              </a:rPr>
              <a:t>Tujuan Penelitian</a:t>
            </a:r>
          </a:p>
          <a:p>
            <a:pPr algn="l"/>
            <a:r>
              <a:rPr sz="200" b="0" i="0"/>
              <a:t/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1. Mengembangkan pipeline FER multimodal (citra + landmark) untuk konteks pembelajaran pemrograman.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2. Menentukan arsitektur fusion dan strategi transfer learning yang optimal melalui studi 48 konfigurasi eksperimen.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3. Menyajikan analisis per-kelas emosi untuk memahami perilaku model pada data minoritas dalam konteks natural.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11880"/>
            <a:ext cx="8595360" cy="114300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Target Publikasi: JITeCS (Journal of Information Technology and Computer Science)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• Terindeks SINTA 2 • Accredited oleh Kemenristekdikti • Peer-reviewed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• Scope: IT, data science, machine learning, applied computing — relevan dengan topik FER untuk education tech.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• Format: 8-12 halaman IEEE, 20-30 referensi.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283464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3E8"/>
                </a:solidFill>
              </a:rPr>
              <a:t>Kategori Literatur yang akan Direview</a:t>
            </a:r>
          </a:p>
          <a:p>
            <a:pPr algn="l"/>
            <a:r>
              <a:rPr sz="300" b="0" i="0"/>
              <a:t/>
            </a:r>
          </a:p>
          <a:p>
            <a:pPr algn="l"/>
            <a:r>
              <a:rPr sz="1100" b="1" i="0">
                <a:solidFill>
                  <a:srgbClr val="202020"/>
                </a:solidFill>
              </a:rPr>
              <a:t>1. Deep Learning untuk Facial Expression Recognition</a:t>
            </a:r>
          </a:p>
          <a:p>
            <a:pPr algn="l"/>
            <a:r>
              <a:rPr sz="1000" b="0" i="0">
                <a:solidFill>
                  <a:srgbClr val="666666"/>
                </a:solidFill>
              </a:rPr>
              <a:t>   CNN, ResNet, EfficientNet, Vision Transformer pada FER klasik.</a:t>
            </a:r>
          </a:p>
          <a:p>
            <a:pPr algn="l"/>
            <a:r>
              <a:rPr sz="200" b="0" i="0"/>
              <a:t/>
            </a:r>
          </a:p>
          <a:p>
            <a:pPr algn="l"/>
            <a:r>
              <a:rPr sz="1100" b="1" i="0">
                <a:solidFill>
                  <a:srgbClr val="202020"/>
                </a:solidFill>
              </a:rPr>
              <a:t>2. Multimodal Fusion untuk FER</a:t>
            </a:r>
          </a:p>
          <a:p>
            <a:pPr algn="l"/>
            <a:r>
              <a:rPr sz="1000" b="0" i="0">
                <a:solidFill>
                  <a:srgbClr val="666666"/>
                </a:solidFill>
              </a:rPr>
              <a:t>   Strategi early / intermediate / late fusion pada kombinasi citra wajah + landmark / audio / fisiologis.</a:t>
            </a:r>
          </a:p>
          <a:p>
            <a:pPr algn="l"/>
            <a:r>
              <a:rPr sz="200" b="0" i="0"/>
              <a:t/>
            </a:r>
          </a:p>
          <a:p>
            <a:pPr algn="l"/>
            <a:r>
              <a:rPr sz="1100" b="1" i="0">
                <a:solidFill>
                  <a:srgbClr val="202020"/>
                </a:solidFill>
              </a:rPr>
              <a:t>3. Transfer Learning pada FER</a:t>
            </a:r>
          </a:p>
          <a:p>
            <a:pPr algn="l"/>
            <a:r>
              <a:rPr sz="1000" b="0" i="0">
                <a:solidFill>
                  <a:srgbClr val="666666"/>
                </a:solidFill>
              </a:rPr>
              <a:t>   ImageNet pretrained backbone, domain adaptation, fine-tuning strategy untuk dataset kecil.</a:t>
            </a:r>
          </a:p>
          <a:p>
            <a:pPr algn="l"/>
            <a:r>
              <a:rPr sz="200" b="0" i="0"/>
              <a:t/>
            </a:r>
          </a:p>
          <a:p>
            <a:pPr algn="l"/>
            <a:r>
              <a:rPr sz="1100" b="1" i="0">
                <a:solidFill>
                  <a:srgbClr val="202020"/>
                </a:solidFill>
              </a:rPr>
              <a:t>4. Affective Computing dalam Konteks Pendidikan</a:t>
            </a:r>
          </a:p>
          <a:p>
            <a:pPr algn="l"/>
            <a:r>
              <a:rPr sz="1000" b="0" i="0">
                <a:solidFill>
                  <a:srgbClr val="666666"/>
                </a:solidFill>
              </a:rPr>
              <a:t>   Emotion recognition untuk learning analytics, MOOC engagement, adaptive tutoring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3794760"/>
            <a:ext cx="8595360" cy="1005840"/>
          </a:xfrm>
          <a:prstGeom prst="rect">
            <a:avLst/>
          </a:prstGeom>
          <a:solidFill>
            <a:srgbClr val="FFF0CC"/>
          </a:solidFill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</a:rPr>
              <a:t>Catatan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• Pemilihan paper spesifik (20-25 sitasi) dilakukan saat drafting — fokus pada relevansi metodologis.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• Posisi paper ini akan dirumuskan setelah review selesai (konsultasi dengan pembimbing).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Proposed Method — Dataset (Section 3.1)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206240" cy="182880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Karakteristik</a:t>
            </a:r>
          </a:p>
          <a:p>
            <a:pPr algn="l"/>
            <a:r>
              <a:rPr sz="300" b="0" i="0"/>
              <a:t/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37 mahasiswa (2 batch data collection)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7.091 frame wajah (front-view)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Durasi: sesi pemrograman 30-60 menit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7 kelas emosi (FER standar)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Anotasi: Face API (confidence score)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Split: user-wise 80/10/10 (tidak ada leakage)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777240"/>
            <a:ext cx="4297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202020"/>
                </a:solidFill>
              </a:rPr>
              <a:t>Distribusi Kelas Emosi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0" y="1051560"/>
          <a:ext cx="4297680" cy="1737360"/>
        </p:xfrm>
        <a:graphic>
          <a:graphicData uri="http://schemas.openxmlformats.org/drawingml/2006/table">
            <a:tbl>
              <a:tblPr firstRow="1" bandRow="1"/>
              <a:tblGrid>
                <a:gridCol w="1828800"/>
                <a:gridCol w="1371600"/>
                <a:gridCol w="1097280"/>
              </a:tblGrid>
              <a:tr h="21717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Emosi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Jumlah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02020"/>
                          </a:solidFill>
                        </a:rPr>
                        <a:t>Neutral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5.519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77.8%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02020"/>
                          </a:solidFill>
                        </a:rPr>
                        <a:t>Happy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02020"/>
                          </a:solidFill>
                        </a:rPr>
                        <a:t>Sad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361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02020"/>
                          </a:solidFill>
                        </a:rPr>
                        <a:t>Surprised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02020"/>
                          </a:solidFill>
                        </a:rPr>
                        <a:t>Angry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32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0.5%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02020"/>
                          </a:solidFill>
                        </a:rPr>
                        <a:t>Disgusted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02020"/>
                          </a:solidFill>
                        </a:rPr>
                        <a:t>Fearful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0.1%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2743200"/>
            <a:ext cx="8595360" cy="2103120"/>
          </a:xfrm>
          <a:prstGeom prst="rect">
            <a:avLst/>
          </a:prstGeom>
          <a:solidFill>
            <a:srgbClr val="FFF0CC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020"/>
                </a:solidFill>
              </a:rPr>
              <a:t>Preprocessing Pipeline</a:t>
            </a:r>
          </a:p>
          <a:p>
            <a:pPr algn="l"/>
            <a:r>
              <a:rPr sz="300" b="0" i="0"/>
              <a:t/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1. Face detection → crop wajah → resize 224×224 RGB (untuk CNN branch).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2. Facial landmark extraction via MediaPipe (478 titik → subset 68 klasik = 136 koordinat).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3. Normalisasi: piksel [0,1], landmark normalized ke frame (agar invariant terhadap resolusi).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4. Remap 4-class opsional: neutral / happy / sad / negative (gabung angry+fearful+disgusted+surprised).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5. Split user-wise: 29 user train / 3 user val / 5 user test → mencegah identity-leakage.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Proposed Method — Arsitektur Model (Section 3.2)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58" cy="1828800"/>
        </p:xfrm>
        <a:graphic>
          <a:graphicData uri="http://schemas.openxmlformats.org/drawingml/2006/table">
            <a:tbl>
              <a:tblPr firstRow="1" bandRow="1"/>
              <a:tblGrid>
                <a:gridCol w="1599136"/>
                <a:gridCol w="2198813"/>
                <a:gridCol w="1799028"/>
                <a:gridCol w="2998381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Fusion Point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Keterangan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02020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Citra 224×224×3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Single modal: visual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02020"/>
                          </a:solidFill>
                        </a:rPr>
                        <a:t>FCNN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Landmark 136-dim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Single modal: geometric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02020"/>
                          </a:solidFill>
                        </a:rPr>
                        <a:t>Early Fusion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Citra + heatmap (224×224×4)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Input level (0%)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Landmark Gaussian heatmap sbg channel ke-4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02020"/>
                          </a:solidFill>
                        </a:rPr>
                        <a:t>Intermediate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Citra + Landmark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Feature level (50%)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CNN+FCNN concat di hidden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202020"/>
                          </a:solidFill>
                        </a:rPr>
                        <a:t>Late Fusion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Citra + Landmark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Decision level (95%)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02020"/>
                          </a:solidFill>
                        </a:rPr>
                        <a:t>Softmax averaging 2 model terpisah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2788920"/>
            <a:ext cx="8595360" cy="100584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Transfer Learning Backbone</a:t>
            </a:r>
          </a:p>
          <a:p>
            <a:pPr algn="l"/>
            <a:r>
              <a:rPr sz="200" b="0" i="0"/>
              <a:t/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• ResNet18 pretrained ImageNet (1000-class) → fine-tune untuk FER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• Early Fusion TL: first Conv2d dimodifikasi dari 3→4 channel; weight RGB di-copy, weight heatmap diinisialisasi dari mean(RGB)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86200"/>
            <a:ext cx="8595360" cy="1005840"/>
          </a:xfrm>
          <a:prstGeom prst="rect">
            <a:avLst/>
          </a:prstGeom>
          <a:solidFill>
            <a:srgbClr val="FFF0CC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020"/>
                </a:solidFill>
              </a:rPr>
              <a:t>Training Setup</a:t>
            </a:r>
          </a:p>
          <a:p>
            <a:pPr algn="l"/>
            <a:r>
              <a:rPr sz="200" b="0" i="0"/>
              <a:t/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Adam optimizer • ReduceLROnPlateau scheduler (factor=0.5, patience=8)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Early stopping by Macro F1 (patience=15) • Max 50 epoch • Batch size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Proposed Method — Matriks Eksperimen (Section 3.3-3.6)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206240" cy="228600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Dimensi Eksperimen</a:t>
            </a:r>
          </a:p>
          <a:p>
            <a:pPr algn="l"/>
            <a:r>
              <a:rPr sz="300" b="0" i="0"/>
              <a:t/>
            </a:r>
          </a:p>
          <a:p>
            <a:pPr algn="l"/>
            <a:r>
              <a:rPr sz="1000" b="1" i="0">
                <a:solidFill>
                  <a:srgbClr val="202020"/>
                </a:solidFill>
              </a:rPr>
              <a:t>5 arsitektur × 2 backbone × 3 skenario × 2 kelas</a:t>
            </a:r>
          </a:p>
          <a:p>
            <a:pPr algn="l"/>
            <a:r>
              <a:rPr sz="1000" b="1" i="0">
                <a:solidFill>
                  <a:srgbClr val="0F9D58"/>
                </a:solidFill>
              </a:rPr>
              <a:t>= 60 total konfigurasi</a:t>
            </a:r>
          </a:p>
          <a:p>
            <a:pPr algn="l"/>
            <a:r>
              <a:rPr sz="400" b="0" i="0"/>
              <a:t/>
            </a:r>
          </a:p>
          <a:p>
            <a:pPr algn="l"/>
            <a:r>
              <a:rPr sz="1000" b="1" i="0">
                <a:solidFill>
                  <a:srgbClr val="202020"/>
                </a:solidFill>
              </a:rPr>
              <a:t>Arsitektur: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  CNN, FCNN, Early, Intermediate, Late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Backbone: from-scratch, ResNet18 TL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Skenario: B1, B2, B3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Kelas: 7-class, 4-class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777240"/>
            <a:ext cx="4206240" cy="2286000"/>
          </a:xfrm>
          <a:prstGeom prst="rect">
            <a:avLst/>
          </a:prstGeom>
          <a:solidFill>
            <a:srgbClr val="FFF0CC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020"/>
                </a:solidFill>
              </a:rPr>
              <a:t>Tiga Skenario untuk Imbalance</a:t>
            </a:r>
          </a:p>
          <a:p>
            <a:pPr algn="l"/>
            <a:r>
              <a:rPr sz="300" b="0" i="0"/>
              <a:t/>
            </a:r>
          </a:p>
          <a:p>
            <a:pPr algn="l"/>
            <a:r>
              <a:rPr sz="1000" b="1" i="0">
                <a:solidFill>
                  <a:srgbClr val="202020"/>
                </a:solidFill>
              </a:rPr>
              <a:t>B1 — Baseline: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   Standard cross-entropy, tanpa intervention.</a:t>
            </a:r>
          </a:p>
          <a:p>
            <a:pPr algn="l"/>
            <a:r>
              <a:rPr sz="200" b="0" i="0"/>
              <a:t/>
            </a:r>
          </a:p>
          <a:p>
            <a:pPr algn="l"/>
            <a:r>
              <a:rPr sz="1000" b="1" i="0">
                <a:solidFill>
                  <a:srgbClr val="202020"/>
                </a:solidFill>
              </a:rPr>
              <a:t>B2 — Class Weights: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   Weighted CE loss: weight ∝ 1/freq class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   (beri bobot lebih ke kelas minoritas).</a:t>
            </a:r>
          </a:p>
          <a:p>
            <a:pPr algn="l"/>
            <a:r>
              <a:rPr sz="200" b="0" i="0"/>
              <a:t/>
            </a:r>
          </a:p>
          <a:p>
            <a:pPr algn="l"/>
            <a:r>
              <a:rPr sz="1000" b="1" i="0">
                <a:solidFill>
                  <a:srgbClr val="202020"/>
                </a:solidFill>
              </a:rPr>
              <a:t>B3 — Data Augmentation: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   Rotation, flip, brightness untuk kelas minoritas sampai seimbang.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00400"/>
            <a:ext cx="8595360" cy="1600200"/>
          </a:xfrm>
          <a:prstGeom prst="rect">
            <a:avLst/>
          </a:prstGeom>
          <a:solidFill>
            <a:srgbClr val="E6F4EA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9D58"/>
                </a:solidFill>
              </a:rPr>
              <a:t>Metrik Evaluasi (3 Jenis F1)</a:t>
            </a:r>
          </a:p>
          <a:p>
            <a:pPr algn="l"/>
            <a:r>
              <a:rPr sz="300" b="0" i="0"/>
              <a:t/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Macro F1 — rata-rata F1 per-kelas (treats all classes equal) → metrik utama untuk imbalanced data.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Micro F1 — = accuracy (global precision/recall).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Weighted F1 — rata-rata F1 dibobot jumlah sampel → didominasi kelas mayoritas.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Hasil Utama — Top 10 Konfigurasi (4-Class)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58" cy="3017520"/>
        </p:xfrm>
        <a:graphic>
          <a:graphicData uri="http://schemas.openxmlformats.org/drawingml/2006/table">
            <a:tbl>
              <a:tblPr firstRow="1" bandRow="1"/>
              <a:tblGrid>
                <a:gridCol w="613954"/>
                <a:gridCol w="2251165"/>
                <a:gridCol w="1637211"/>
                <a:gridCol w="1227908"/>
                <a:gridCol w="1432560"/>
                <a:gridCol w="1432560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Backbone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Skenario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Macro F1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Intermediate Fusion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TL (ResNet18)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B1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0.412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0.740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Late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Scratch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Late Fusion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TL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B3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0.372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0.702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FCNN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Late Fusion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TL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B1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0.309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0.695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B2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Intermediate Fusion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Scratch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B2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0.286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0.671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CNN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TL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B3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0.268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0.658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Intermediate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Scratch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3931920"/>
            <a:ext cx="8595360" cy="822960"/>
          </a:xfrm>
          <a:prstGeom prst="rect">
            <a:avLst/>
          </a:prstGeom>
          <a:solidFill>
            <a:srgbClr val="E6F4EA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9D58"/>
                </a:solidFill>
              </a:rPr>
              <a:t>Temuan Utama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Intermediate Fusion + Transfer Learning (ResNet18) unggul — joint feature learning dari citra &amp; landmark lebih efektif daripada late fusion pada natural expression data yang imbalanced.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Analisis per-Kelas (Best Model: Intermediate TL 4c B1)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77240"/>
          <a:ext cx="8595357" cy="1463040"/>
        </p:xfrm>
        <a:graphic>
          <a:graphicData uri="http://schemas.openxmlformats.org/drawingml/2006/table">
            <a:tbl>
              <a:tblPr firstRow="1" bandRow="1"/>
              <a:tblGrid>
                <a:gridCol w="1199352"/>
                <a:gridCol w="1199352"/>
                <a:gridCol w="1099406"/>
                <a:gridCol w="1099406"/>
                <a:gridCol w="999460"/>
                <a:gridCol w="2998381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Kelas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Support Test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Catatan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Neutral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816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0.90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0.97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0.94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Dominan — mudah</a:t>
                      </a:r>
                    </a:p>
                  </a:txBody>
                  <a:tcPr>
                    <a:solidFill>
                      <a:srgbClr val="E6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Happy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Cukup reliable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Sad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0.43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0.25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0.32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Menengah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02020"/>
                          </a:solidFill>
                        </a:rPr>
                        <a:t>Negative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0.20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2020"/>
                          </a:solidFill>
                        </a:rPr>
                        <a:t>Minoritas — sulit (combined class)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2423160"/>
            <a:ext cx="8595360" cy="2377440"/>
          </a:xfrm>
          <a:prstGeom prst="rect">
            <a:avLst/>
          </a:prstGeom>
          <a:solidFill>
            <a:srgbClr val="FFF0CC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020"/>
                </a:solidFill>
              </a:rPr>
              <a:t>Interpretasi</a:t>
            </a:r>
          </a:p>
          <a:p>
            <a:pPr algn="l"/>
            <a:r>
              <a:rPr sz="300" b="0" i="0"/>
              <a:t/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Kelas minoritas (negative) menjadi bottleneck: hanya 16 sampel test → 1 kesalahan = 6% drop F1.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Happy (F1 0.59) cukup baik meski hanya 9% dari total → menunjukkan model bisa pelajari ekspresi jelas.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Sad (F1 0.32) menengah — ekspresi sedih sering ambigu dengan neutral di konteks pemrograman natural.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Macro F1 0.412 mencerminkan kesulitan kelas minoritas, bukan kegagalan model secara keseluruhan.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Confusion matrix menunjukkan mayoritas kesalahan adalah "other class → neutral" (over-prediction mayoritas).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Diskusi — Menjawab Rumusan 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280160"/>
          </a:xfrm>
          <a:prstGeom prst="rect">
            <a:avLst/>
          </a:prstGeom>
          <a:solidFill>
            <a:srgbClr val="E8F0FE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3E8"/>
                </a:solidFill>
              </a:rPr>
              <a:t>5.1  RQ1: Seberapa efektif fusi multimodal vs single-modality?</a:t>
            </a:r>
          </a:p>
          <a:p>
            <a:pPr algn="l"/>
            <a:r>
              <a:rPr sz="200" b="0" i="0"/>
              <a:t/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• Jawaban: Multimodal (Intermediate TL) 0.412 &gt; CNN saja (0.274) &gt; FCNN saja (0.361).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• Fusi citra + landmark memberikan gain signifikan karena kedua modality saling melengkapi — texture dari citra, geometric dari landmark.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148840"/>
            <a:ext cx="8595360" cy="1280160"/>
          </a:xfrm>
          <a:prstGeom prst="rect">
            <a:avLst/>
          </a:prstGeom>
          <a:solidFill>
            <a:srgbClr val="E6F4EA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9D58"/>
                </a:solidFill>
              </a:rPr>
              <a:t>5.2  RQ2: Strategi fusion mana paling baik untuk data natural imbalanced? (Intermediate vs Late)</a:t>
            </a:r>
          </a:p>
          <a:p>
            <a:pPr algn="l"/>
            <a:r>
              <a:rPr sz="200" b="0" i="0"/>
              <a:t/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• Jawaban: Intermediate Fusion (0.412) &gt; Late Fusion (0.394 best scratch / 0.372 TL).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• Joint feature learning (Intermediate) lebih baik karena CNN &amp; FCNN dioptimalkan bersama → interaksi cross-modal dipelajari end-to-end.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520440"/>
            <a:ext cx="8595360" cy="1280160"/>
          </a:xfrm>
          <a:prstGeom prst="rect">
            <a:avLst/>
          </a:prstGeom>
          <a:solidFill>
            <a:srgbClr val="FFF0CC"/>
          </a:solidFill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02020"/>
                </a:solidFill>
              </a:rPr>
              <a:t>5.3  RQ3: Apakah transfer learning (ResNet18 ImageNet) memberi gain pada dataset natural programming?</a:t>
            </a:r>
          </a:p>
          <a:p>
            <a:pPr algn="l"/>
            <a:r>
              <a:rPr sz="200" b="0" i="0"/>
              <a:t/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• Jawaban: Ya — TL memberi gain konsisten (+0.17 Macro F1 Intermediate TL vs scratch di 4-class B1).</a:t>
            </a:r>
          </a:p>
          <a:p>
            <a:pPr algn="l"/>
            <a:r>
              <a:rPr sz="950" b="0" i="0">
                <a:solidFill>
                  <a:srgbClr val="202020"/>
                </a:solidFill>
              </a:rPr>
              <a:t>• Dataset kecil (7.091 sampel) rentan overfitting — TL menyediakan feature representation yang matang dari ImageNet sebagai starting point.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8595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202020"/>
                </a:solidFill>
              </a:rPr>
              <a:t>Kesimpulan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8595360" cy="1920240"/>
          </a:xfrm>
          <a:prstGeom prst="rect">
            <a:avLst/>
          </a:prstGeom>
          <a:solidFill>
            <a:srgbClr val="E6F4EA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9D58"/>
                </a:solidFill>
              </a:rPr>
              <a:t>Kesimpulan</a:t>
            </a:r>
          </a:p>
          <a:p>
            <a:pPr algn="l"/>
            <a:r>
              <a:rPr sz="300" b="0" i="0"/>
              <a:t/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1. Dataset baru FER untuk konteks pembelajaran pemrograman (7.091 sampel, 37 user, anotasi otomatis) berhasil dibangun.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2. Dari 48 konfigurasi, Intermediate Fusion + Transfer Learning (ResNet18) 4-class B1 optimal: Macro F1 = 0.412.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3. Multimodal fusion (image + landmark) mengungguli single-modal; joint feature learning lebih efektif dari late averaging.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4. Transfer learning memberi gain ~5% F1 pada dataset natural — penting untuk data kecil.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88920"/>
            <a:ext cx="8595360" cy="1965960"/>
          </a:xfrm>
          <a:prstGeom prst="rect">
            <a:avLst/>
          </a:prstGeom>
          <a:solidFill>
            <a:srgbClr val="FFF0CC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02020"/>
                </a:solidFill>
              </a:rPr>
              <a:t>Future Work</a:t>
            </a:r>
          </a:p>
          <a:p>
            <a:pPr algn="l"/>
            <a:r>
              <a:rPr sz="300" b="0" i="0"/>
              <a:t/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Perluasan dataset: tambah user &amp; sesi → minimal 100 subjek untuk generalisasi statistik.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Anotasi manual human-labeled untuk validasi Face API + koreksi label noise.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Eksplorasi arsitektur modern: Vision Transformer (ViT) + landmark graph neural network.</a:t>
            </a:r>
          </a:p>
          <a:p>
            <a:pPr algn="l"/>
            <a:r>
              <a:rPr sz="1000" b="0" i="0">
                <a:solidFill>
                  <a:srgbClr val="202020"/>
                </a:solidFill>
              </a:rPr>
              <a:t>• Deployment real-time untuk integrasi ke learning management system (LMS) — adaptive feedback berbasis emosi.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