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98" d="100"/>
          <a:sy n="98" d="100"/>
        </p:scale>
        <p:origin x="946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F9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1" i="0" dirty="0">
                <a:solidFill>
                  <a:srgbClr val="1A73E8"/>
                </a:solidFill>
              </a:rPr>
              <a:t>Multimodal Fusion of Facial Image and Landmark Features</a:t>
            </a:r>
          </a:p>
          <a:p>
            <a:pPr algn="ctr"/>
            <a:r>
              <a:rPr sz="2200" b="1" i="0" dirty="0">
                <a:solidFill>
                  <a:srgbClr val="1A73E8"/>
                </a:solidFill>
              </a:rPr>
              <a:t>with Transfer Learning for Emotion Recognition</a:t>
            </a:r>
          </a:p>
          <a:p>
            <a:pPr algn="ctr"/>
            <a:r>
              <a:rPr sz="2200" b="1" i="0" dirty="0">
                <a:solidFill>
                  <a:srgbClr val="1A73E8"/>
                </a:solidFill>
              </a:rPr>
              <a:t>in Programming Learning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 i="1">
                <a:solidFill>
                  <a:srgbClr val="202020"/>
                </a:solidFill>
              </a:rPr>
              <a:t>Proposal Publikasi Paper — JITeCS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80758" y="3474720"/>
            <a:ext cx="1582484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 i="0" dirty="0">
                <a:solidFill>
                  <a:srgbClr val="202020"/>
                </a:solidFill>
              </a:rPr>
              <a:t>Taufik Hidayat</a:t>
            </a:r>
          </a:p>
          <a:p>
            <a:pPr algn="ctr"/>
            <a:r>
              <a:rPr sz="1100" b="0" i="0" dirty="0">
                <a:solidFill>
                  <a:srgbClr val="666666"/>
                </a:solidFill>
              </a:rPr>
              <a:t>Magister Ilmu Komputer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09728"/>
            <a:ext cx="85953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 i="0">
                <a:solidFill>
                  <a:srgbClr val="202020"/>
                </a:solidFill>
              </a:rPr>
              <a:t>Daftar Isi Paper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685800"/>
            <a:ext cx="8595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1A73E8"/>
                </a:solidFill>
              </a:rPr>
              <a:t>BAB  </a:t>
            </a:r>
            <a:r>
              <a:rPr sz="900">
                <a:solidFill>
                  <a:srgbClr val="666666"/>
                </a:solidFill>
              </a:rPr>
              <a:t>= judul bab   |   </a:t>
            </a:r>
            <a:r>
              <a:rPr sz="900" b="1" i="1">
                <a:solidFill>
                  <a:srgbClr val="202020"/>
                </a:solidFill>
              </a:rPr>
              <a:t>Sub bab  </a:t>
            </a:r>
            <a:r>
              <a:rPr sz="900">
                <a:solidFill>
                  <a:srgbClr val="666666"/>
                </a:solidFill>
              </a:rPr>
              <a:t>= judul sub bab   |   •  </a:t>
            </a:r>
            <a:r>
              <a:rPr sz="900" i="1">
                <a:solidFill>
                  <a:srgbClr val="666666"/>
                </a:solidFill>
              </a:rPr>
              <a:t>isi poin yang dibahas dalam sub bab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051560"/>
            <a:ext cx="42976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A73E8"/>
                </a:solidFill>
              </a:rPr>
              <a:t>Abstract  </a:t>
            </a:r>
          </a:p>
          <a:p>
            <a:r>
              <a:rPr sz="850">
                <a:solidFill>
                  <a:srgbClr val="666666"/>
                </a:solidFill>
              </a:rPr>
              <a:t>        •  Problem: FER di konteks programming natural</a:t>
            </a:r>
          </a:p>
          <a:p>
            <a:r>
              <a:rPr sz="850">
                <a:solidFill>
                  <a:srgbClr val="666666"/>
                </a:solidFill>
              </a:rPr>
              <a:t>        •  Method: 4 arsitektur × fusion × transfer learning</a:t>
            </a:r>
          </a:p>
          <a:p>
            <a:r>
              <a:rPr sz="850">
                <a:solidFill>
                  <a:srgbClr val="666666"/>
                </a:solidFill>
              </a:rPr>
              <a:t>        •  Data: 7.091 samples dari 37 mahasiswa</a:t>
            </a:r>
          </a:p>
          <a:p>
            <a:r>
              <a:rPr sz="850">
                <a:solidFill>
                  <a:srgbClr val="666666"/>
                </a:solidFill>
              </a:rPr>
              <a:t>        •  Best: Intermediate Fusion TL 4c B1 = F1 0.412</a:t>
            </a:r>
          </a:p>
          <a:p>
            <a:r>
              <a:rPr sz="850">
                <a:solidFill>
                  <a:srgbClr val="666666"/>
                </a:solidFill>
              </a:rPr>
              <a:t>        •  Insight: Intermediate + TL unggul di data natural</a:t>
            </a:r>
          </a:p>
          <a:p>
            <a:endParaRPr sz="850">
              <a:solidFill>
                <a:srgbClr val="666666"/>
              </a:solidFill>
            </a:endParaRPr>
          </a:p>
          <a:p>
            <a:r>
              <a:rPr sz="1150" b="1">
                <a:solidFill>
                  <a:srgbClr val="1A73E8"/>
                </a:solidFill>
              </a:rPr>
              <a:t>1.  Introduction</a:t>
            </a:r>
          </a:p>
          <a:p>
            <a:r>
              <a:rPr sz="850">
                <a:solidFill>
                  <a:srgbClr val="666666"/>
                </a:solidFill>
              </a:rPr>
              <a:t>        •  Motivasi: emosi mahasiswa → learning outcome programming</a:t>
            </a:r>
          </a:p>
          <a:p>
            <a:r>
              <a:rPr sz="850">
                <a:solidFill>
                  <a:srgbClr val="666666"/>
                </a:solidFill>
              </a:rPr>
              <a:t>        •  Gap: FER existing fokus data lab (posed), bukan natural</a:t>
            </a:r>
          </a:p>
          <a:p>
            <a:r>
              <a:rPr sz="850">
                <a:solidFill>
                  <a:srgbClr val="666666"/>
                </a:solidFill>
              </a:rPr>
              <a:t>        •  Rumusan masalah &amp; tujuan penelitian</a:t>
            </a:r>
          </a:p>
          <a:p>
            <a:r>
              <a:rPr sz="850">
                <a:solidFill>
                  <a:srgbClr val="666666"/>
                </a:solidFill>
              </a:rPr>
              <a:t>        •  Kontribusi: dataset baru + studi sistematis fusion × TL</a:t>
            </a:r>
          </a:p>
          <a:p>
            <a:r>
              <a:rPr sz="850">
                <a:solidFill>
                  <a:srgbClr val="666666"/>
                </a:solidFill>
              </a:rPr>
              <a:t>        •  Struktur paper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63440" y="1051560"/>
            <a:ext cx="42062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A73E8"/>
                </a:solidFill>
              </a:rPr>
              <a:t>2.  Related Work</a:t>
            </a:r>
          </a:p>
          <a:p>
            <a:r>
              <a:rPr sz="1000" b="1">
                <a:solidFill>
                  <a:srgbClr val="202020"/>
                </a:solidFill>
              </a:rPr>
              <a:t>    2.1  </a:t>
            </a:r>
            <a:r>
              <a:rPr sz="1000" b="1" i="1">
                <a:solidFill>
                  <a:srgbClr val="202020"/>
                </a:solidFill>
              </a:rPr>
              <a:t>Deep Learning for FER</a:t>
            </a:r>
          </a:p>
          <a:p>
            <a:r>
              <a:rPr sz="1000" b="1">
                <a:solidFill>
                  <a:srgbClr val="202020"/>
                </a:solidFill>
              </a:rPr>
              <a:t>    2.2  </a:t>
            </a:r>
            <a:r>
              <a:rPr sz="1000" b="1" i="1">
                <a:solidFill>
                  <a:srgbClr val="202020"/>
                </a:solidFill>
              </a:rPr>
              <a:t>Multimodal Fusion of Image and Landmark Features</a:t>
            </a:r>
          </a:p>
          <a:p>
            <a:r>
              <a:rPr sz="1000" b="1">
                <a:solidFill>
                  <a:srgbClr val="202020"/>
                </a:solidFill>
              </a:rPr>
              <a:t>    2.3  </a:t>
            </a:r>
            <a:r>
              <a:rPr sz="1000" b="1" i="1">
                <a:solidFill>
                  <a:srgbClr val="202020"/>
                </a:solidFill>
              </a:rPr>
              <a:t>Transfer Learning for FER</a:t>
            </a:r>
          </a:p>
          <a:p>
            <a:r>
              <a:rPr sz="1000" b="1">
                <a:solidFill>
                  <a:srgbClr val="202020"/>
                </a:solidFill>
              </a:rPr>
              <a:t>    2.4  </a:t>
            </a:r>
            <a:r>
              <a:rPr sz="1000" b="1" i="1">
                <a:solidFill>
                  <a:srgbClr val="202020"/>
                </a:solidFill>
              </a:rPr>
              <a:t>Affective Computing in Education</a:t>
            </a:r>
          </a:p>
          <a:p>
            <a:endParaRPr sz="1000" b="1" i="1">
              <a:solidFill>
                <a:srgbClr val="202020"/>
              </a:solidFill>
            </a:endParaRPr>
          </a:p>
          <a:p>
            <a:r>
              <a:rPr sz="1150" b="1">
                <a:solidFill>
                  <a:srgbClr val="1A73E8"/>
                </a:solidFill>
              </a:rPr>
              <a:t>3.  Proposed Method</a:t>
            </a:r>
          </a:p>
          <a:p>
            <a:r>
              <a:rPr sz="1000" b="1">
                <a:solidFill>
                  <a:srgbClr val="202020"/>
                </a:solidFill>
              </a:rPr>
              <a:t>    3.1  </a:t>
            </a:r>
            <a:r>
              <a:rPr sz="1000" b="1" i="1">
                <a:solidFill>
                  <a:srgbClr val="202020"/>
                </a:solidFill>
              </a:rPr>
              <a:t>Dataset</a:t>
            </a:r>
          </a:p>
          <a:p>
            <a:r>
              <a:rPr sz="850">
                <a:solidFill>
                  <a:srgbClr val="666666"/>
                </a:solidFill>
              </a:rPr>
              <a:t>        •  Akuisisi 37 user, 2 batch, sesi programming</a:t>
            </a:r>
          </a:p>
          <a:p>
            <a:r>
              <a:rPr sz="850">
                <a:solidFill>
                  <a:srgbClr val="666666"/>
                </a:solidFill>
              </a:rPr>
              <a:t>        •  Anotasi Face API + confidence score</a:t>
            </a:r>
          </a:p>
          <a:p>
            <a:r>
              <a:rPr sz="850">
                <a:solidFill>
                  <a:srgbClr val="666666"/>
                </a:solidFill>
              </a:rPr>
              <a:t>        •  Statistik &amp; distribusi (imbalanced)</a:t>
            </a:r>
          </a:p>
          <a:p>
            <a:r>
              <a:rPr sz="850">
                <a:solidFill>
                  <a:srgbClr val="666666"/>
                </a:solidFill>
              </a:rPr>
              <a:t>        •  Preprocessing (resize, MediaPipe landmark)</a:t>
            </a:r>
          </a:p>
          <a:p>
            <a:r>
              <a:rPr sz="850">
                <a:solidFill>
                  <a:srgbClr val="666666"/>
                </a:solidFill>
              </a:rPr>
              <a:t>        •  Split strategi user-wise 80/10/10</a:t>
            </a:r>
          </a:p>
          <a:p>
            <a:r>
              <a:rPr sz="1000" b="1">
                <a:solidFill>
                  <a:srgbClr val="202020"/>
                </a:solidFill>
              </a:rPr>
              <a:t>    3.2  </a:t>
            </a:r>
            <a:r>
              <a:rPr sz="1000" b="1" i="1">
                <a:solidFill>
                  <a:srgbClr val="202020"/>
                </a:solidFill>
              </a:rPr>
              <a:t>Multimodal Architecture</a:t>
            </a:r>
          </a:p>
          <a:p>
            <a:r>
              <a:rPr sz="850">
                <a:solidFill>
                  <a:srgbClr val="666666"/>
                </a:solidFill>
              </a:rPr>
              <a:t>        •  CNN branch (vanilla + ResNet18 TL)</a:t>
            </a:r>
          </a:p>
          <a:p>
            <a:r>
              <a:rPr sz="850">
                <a:solidFill>
                  <a:srgbClr val="666666"/>
                </a:solidFill>
              </a:rPr>
              <a:t>        •  FCNN branch (68 landmark, 136-dim)</a:t>
            </a:r>
          </a:p>
          <a:p>
            <a:r>
              <a:rPr sz="850">
                <a:solidFill>
                  <a:srgbClr val="666666"/>
                </a:solidFill>
              </a:rPr>
              <a:t>        •  Fusion: Intermediate, Late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09728"/>
            <a:ext cx="85953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 i="0">
                <a:solidFill>
                  <a:srgbClr val="202020"/>
                </a:solidFill>
              </a:rPr>
              <a:t>Daftar Isi Paper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777240"/>
            <a:ext cx="42976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A73E8"/>
                </a:solidFill>
              </a:rPr>
              <a:t>3.  Proposed Method (lanjutan)</a:t>
            </a:r>
          </a:p>
          <a:p>
            <a:r>
              <a:rPr sz="1000" b="1">
                <a:solidFill>
                  <a:srgbClr val="202020"/>
                </a:solidFill>
              </a:rPr>
              <a:t>    3.3  </a:t>
            </a:r>
            <a:r>
              <a:rPr sz="1000" b="1" i="1">
                <a:solidFill>
                  <a:srgbClr val="202020"/>
                </a:solidFill>
              </a:rPr>
              <a:t>Training Setup</a:t>
            </a:r>
          </a:p>
          <a:p>
            <a:r>
              <a:rPr sz="850">
                <a:solidFill>
                  <a:srgbClr val="666666"/>
                </a:solidFill>
              </a:rPr>
              <a:t>        •  Adam optimizer, ReduceLROnPlateau scheduler</a:t>
            </a:r>
          </a:p>
          <a:p>
            <a:r>
              <a:rPr sz="850">
                <a:solidFill>
                  <a:srgbClr val="666666"/>
                </a:solidFill>
              </a:rPr>
              <a:t>        •  Early stopping by macro F1 (patience=15)</a:t>
            </a:r>
          </a:p>
          <a:p>
            <a:r>
              <a:rPr sz="1000" b="1">
                <a:solidFill>
                  <a:srgbClr val="202020"/>
                </a:solidFill>
              </a:rPr>
              <a:t>    3.4  </a:t>
            </a:r>
            <a:r>
              <a:rPr sz="1000" b="1" i="1">
                <a:solidFill>
                  <a:srgbClr val="202020"/>
                </a:solidFill>
              </a:rPr>
              <a:t>Experimental Design</a:t>
            </a:r>
          </a:p>
          <a:p>
            <a:r>
              <a:rPr sz="850">
                <a:solidFill>
                  <a:srgbClr val="666666"/>
                </a:solidFill>
              </a:rPr>
              <a:t>        •  Scenarios: B1 Baseline, B2 Class Weights, B3 Augmentation</a:t>
            </a:r>
          </a:p>
          <a:p>
            <a:r>
              <a:rPr sz="850">
                <a:solidFill>
                  <a:srgbClr val="666666"/>
                </a:solidFill>
              </a:rPr>
              <a:t>        •  Class config: 7-class vs 4-class (minoritas → negative)</a:t>
            </a:r>
          </a:p>
          <a:p>
            <a:r>
              <a:rPr sz="850">
                <a:solidFill>
                  <a:srgbClr val="666666"/>
                </a:solidFill>
              </a:rPr>
              <a:t>        •  Evaluation metrics: Macro F1 (utama), Micro F1, Weighted F1</a:t>
            </a:r>
          </a:p>
          <a:p>
            <a:endParaRPr sz="850">
              <a:solidFill>
                <a:srgbClr val="666666"/>
              </a:solidFill>
            </a:endParaRPr>
          </a:p>
          <a:p>
            <a:r>
              <a:rPr sz="1150" b="1">
                <a:solidFill>
                  <a:srgbClr val="1A73E8"/>
                </a:solidFill>
              </a:rPr>
              <a:t>4.  Experimental Results</a:t>
            </a:r>
          </a:p>
          <a:p>
            <a:r>
              <a:rPr sz="1000" b="1">
                <a:solidFill>
                  <a:srgbClr val="202020"/>
                </a:solidFill>
              </a:rPr>
              <a:t>    4.1  </a:t>
            </a:r>
            <a:r>
              <a:rPr sz="1000" b="1" i="1">
                <a:solidFill>
                  <a:srgbClr val="202020"/>
                </a:solidFill>
              </a:rPr>
              <a:t>Overall Performance</a:t>
            </a:r>
          </a:p>
          <a:p>
            <a:r>
              <a:rPr sz="1000" b="1">
                <a:solidFill>
                  <a:srgbClr val="202020"/>
                </a:solidFill>
              </a:rPr>
              <a:t>    4.2  </a:t>
            </a:r>
            <a:r>
              <a:rPr sz="1000" b="1" i="1">
                <a:solidFill>
                  <a:srgbClr val="202020"/>
                </a:solidFill>
              </a:rPr>
              <a:t>Effect of Transfer Learning</a:t>
            </a:r>
          </a:p>
          <a:p>
            <a:r>
              <a:rPr sz="1000" b="1">
                <a:solidFill>
                  <a:srgbClr val="202020"/>
                </a:solidFill>
              </a:rPr>
              <a:t>    4.3  </a:t>
            </a:r>
            <a:r>
              <a:rPr sz="1000" b="1" i="1">
                <a:solidFill>
                  <a:srgbClr val="202020"/>
                </a:solidFill>
              </a:rPr>
              <a:t>Effect of Fusion Strategy</a:t>
            </a:r>
          </a:p>
          <a:p>
            <a:r>
              <a:rPr sz="1000" b="1">
                <a:solidFill>
                  <a:srgbClr val="202020"/>
                </a:solidFill>
              </a:rPr>
              <a:t>    4.4  </a:t>
            </a:r>
            <a:r>
              <a:rPr sz="1000" b="1" i="1">
                <a:solidFill>
                  <a:srgbClr val="202020"/>
                </a:solidFill>
              </a:rPr>
              <a:t>Effect of Class Granularity</a:t>
            </a:r>
          </a:p>
          <a:p>
            <a:r>
              <a:rPr sz="1000" b="1">
                <a:solidFill>
                  <a:srgbClr val="202020"/>
                </a:solidFill>
              </a:rPr>
              <a:t>    4.5  </a:t>
            </a:r>
            <a:r>
              <a:rPr sz="1000" b="1" i="1">
                <a:solidFill>
                  <a:srgbClr val="202020"/>
                </a:solidFill>
              </a:rPr>
              <a:t>Per-Class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63440" y="777240"/>
            <a:ext cx="4206240" cy="25930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 dirty="0">
                <a:solidFill>
                  <a:srgbClr val="1A73E8"/>
                </a:solidFill>
              </a:rPr>
              <a:t>5.  Discussion</a:t>
            </a:r>
          </a:p>
          <a:p>
            <a:r>
              <a:rPr sz="1000" b="1" dirty="0">
                <a:solidFill>
                  <a:srgbClr val="202020"/>
                </a:solidFill>
              </a:rPr>
              <a:t>    5.1  </a:t>
            </a:r>
            <a:r>
              <a:rPr sz="1000" b="1" i="1" dirty="0">
                <a:solidFill>
                  <a:srgbClr val="202020"/>
                </a:solidFill>
              </a:rPr>
              <a:t>Multimodal Fusion vs Single-Modality</a:t>
            </a:r>
          </a:p>
          <a:p>
            <a:r>
              <a:rPr sz="850" dirty="0">
                <a:solidFill>
                  <a:srgbClr val="666666"/>
                </a:solidFill>
              </a:rPr>
              <a:t>        •  </a:t>
            </a:r>
            <a:r>
              <a:rPr sz="850" dirty="0" err="1">
                <a:solidFill>
                  <a:srgbClr val="666666"/>
                </a:solidFill>
              </a:rPr>
              <a:t>Menjawab</a:t>
            </a:r>
            <a:r>
              <a:rPr sz="850" dirty="0">
                <a:solidFill>
                  <a:srgbClr val="666666"/>
                </a:solidFill>
              </a:rPr>
              <a:t> RQ1 (</a:t>
            </a:r>
            <a:r>
              <a:rPr sz="850" dirty="0" err="1">
                <a:solidFill>
                  <a:srgbClr val="666666"/>
                </a:solidFill>
              </a:rPr>
              <a:t>fusi</a:t>
            </a:r>
            <a:r>
              <a:rPr sz="850" dirty="0">
                <a:solidFill>
                  <a:srgbClr val="666666"/>
                </a:solidFill>
              </a:rPr>
              <a:t> </a:t>
            </a:r>
            <a:r>
              <a:rPr sz="850" dirty="0" err="1">
                <a:solidFill>
                  <a:srgbClr val="666666"/>
                </a:solidFill>
              </a:rPr>
              <a:t>image+landmark</a:t>
            </a:r>
            <a:r>
              <a:rPr sz="850" dirty="0">
                <a:solidFill>
                  <a:srgbClr val="666666"/>
                </a:solidFill>
              </a:rPr>
              <a:t> vs single)</a:t>
            </a:r>
          </a:p>
          <a:p>
            <a:r>
              <a:rPr sz="1000" b="1" dirty="0">
                <a:solidFill>
                  <a:srgbClr val="202020"/>
                </a:solidFill>
              </a:rPr>
              <a:t>    5.2  </a:t>
            </a:r>
            <a:r>
              <a:rPr sz="1000" b="1" i="1" dirty="0">
                <a:solidFill>
                  <a:srgbClr val="202020"/>
                </a:solidFill>
              </a:rPr>
              <a:t>Fusion Strategy Comparison: Intermediate vs Late</a:t>
            </a:r>
          </a:p>
          <a:p>
            <a:r>
              <a:rPr sz="850" dirty="0">
                <a:solidFill>
                  <a:srgbClr val="666666"/>
                </a:solidFill>
              </a:rPr>
              <a:t>        •  </a:t>
            </a:r>
            <a:r>
              <a:rPr sz="850" dirty="0" err="1">
                <a:solidFill>
                  <a:srgbClr val="666666"/>
                </a:solidFill>
              </a:rPr>
              <a:t>Menjawab</a:t>
            </a:r>
            <a:r>
              <a:rPr sz="850" dirty="0">
                <a:solidFill>
                  <a:srgbClr val="666666"/>
                </a:solidFill>
              </a:rPr>
              <a:t> RQ2 (strategi fusion </a:t>
            </a:r>
            <a:r>
              <a:rPr sz="850" dirty="0" err="1">
                <a:solidFill>
                  <a:srgbClr val="666666"/>
                </a:solidFill>
              </a:rPr>
              <a:t>terbaik</a:t>
            </a:r>
            <a:r>
              <a:rPr sz="850" dirty="0">
                <a:solidFill>
                  <a:srgbClr val="666666"/>
                </a:solidFill>
              </a:rPr>
              <a:t>)</a:t>
            </a:r>
          </a:p>
          <a:p>
            <a:r>
              <a:rPr sz="1000" b="1" dirty="0">
                <a:solidFill>
                  <a:srgbClr val="202020"/>
                </a:solidFill>
              </a:rPr>
              <a:t>    5.3  </a:t>
            </a:r>
            <a:r>
              <a:rPr sz="1000" b="1" i="1" dirty="0">
                <a:solidFill>
                  <a:srgbClr val="202020"/>
                </a:solidFill>
              </a:rPr>
              <a:t>Transfer Learning Effectiveness</a:t>
            </a:r>
          </a:p>
          <a:p>
            <a:r>
              <a:rPr sz="850" dirty="0">
                <a:solidFill>
                  <a:srgbClr val="666666"/>
                </a:solidFill>
              </a:rPr>
              <a:t>        •  </a:t>
            </a:r>
            <a:r>
              <a:rPr sz="850" dirty="0" err="1">
                <a:solidFill>
                  <a:srgbClr val="666666"/>
                </a:solidFill>
              </a:rPr>
              <a:t>Menjawab</a:t>
            </a:r>
            <a:r>
              <a:rPr sz="850" dirty="0">
                <a:solidFill>
                  <a:srgbClr val="666666"/>
                </a:solidFill>
              </a:rPr>
              <a:t> RQ3 (gain TL pada data natural)</a:t>
            </a:r>
          </a:p>
          <a:p>
            <a:r>
              <a:rPr sz="1000" b="1" dirty="0">
                <a:solidFill>
                  <a:srgbClr val="202020"/>
                </a:solidFill>
              </a:rPr>
              <a:t>    5.4  </a:t>
            </a:r>
            <a:r>
              <a:rPr sz="1000" b="1" i="1" dirty="0">
                <a:solidFill>
                  <a:srgbClr val="202020"/>
                </a:solidFill>
              </a:rPr>
              <a:t>Limitations</a:t>
            </a:r>
          </a:p>
          <a:p>
            <a:r>
              <a:rPr sz="850" dirty="0">
                <a:solidFill>
                  <a:srgbClr val="666666"/>
                </a:solidFill>
              </a:rPr>
              <a:t>        •  Minority class </a:t>
            </a:r>
            <a:r>
              <a:rPr sz="850" dirty="0" err="1">
                <a:solidFill>
                  <a:srgbClr val="666666"/>
                </a:solidFill>
              </a:rPr>
              <a:t>langka</a:t>
            </a:r>
            <a:r>
              <a:rPr sz="850" dirty="0">
                <a:solidFill>
                  <a:srgbClr val="666666"/>
                </a:solidFill>
              </a:rPr>
              <a:t>, 37 </a:t>
            </a:r>
            <a:r>
              <a:rPr sz="850" dirty="0" err="1">
                <a:solidFill>
                  <a:srgbClr val="666666"/>
                </a:solidFill>
              </a:rPr>
              <a:t>subjek</a:t>
            </a:r>
            <a:r>
              <a:rPr sz="850" dirty="0">
                <a:solidFill>
                  <a:srgbClr val="666666"/>
                </a:solidFill>
              </a:rPr>
              <a:t>, label noise</a:t>
            </a:r>
          </a:p>
          <a:p>
            <a:r>
              <a:rPr sz="1000" b="1" dirty="0">
                <a:solidFill>
                  <a:srgbClr val="202020"/>
                </a:solidFill>
              </a:rPr>
              <a:t>    5.5  </a:t>
            </a:r>
            <a:r>
              <a:rPr sz="1000" b="1" i="1" dirty="0">
                <a:solidFill>
                  <a:srgbClr val="202020"/>
                </a:solidFill>
              </a:rPr>
              <a:t>Implications for Learning Analytics</a:t>
            </a:r>
          </a:p>
          <a:p>
            <a:endParaRPr sz="1000" b="1" i="1" dirty="0">
              <a:solidFill>
                <a:srgbClr val="202020"/>
              </a:solidFill>
            </a:endParaRPr>
          </a:p>
          <a:p>
            <a:r>
              <a:rPr sz="1150" b="1" dirty="0">
                <a:solidFill>
                  <a:srgbClr val="1A73E8"/>
                </a:solidFill>
              </a:rPr>
              <a:t>6.  Conclusion</a:t>
            </a:r>
          </a:p>
          <a:p>
            <a:r>
              <a:rPr sz="850" dirty="0">
                <a:solidFill>
                  <a:srgbClr val="666666"/>
                </a:solidFill>
              </a:rPr>
              <a:t>        •  </a:t>
            </a:r>
            <a:r>
              <a:rPr sz="850" dirty="0" err="1">
                <a:solidFill>
                  <a:srgbClr val="666666"/>
                </a:solidFill>
              </a:rPr>
              <a:t>Ringkasan</a:t>
            </a:r>
            <a:r>
              <a:rPr sz="850" dirty="0">
                <a:solidFill>
                  <a:srgbClr val="666666"/>
                </a:solidFill>
              </a:rPr>
              <a:t> 3 </a:t>
            </a:r>
            <a:r>
              <a:rPr sz="850" dirty="0" err="1">
                <a:solidFill>
                  <a:srgbClr val="666666"/>
                </a:solidFill>
              </a:rPr>
              <a:t>kontribusi</a:t>
            </a:r>
            <a:r>
              <a:rPr sz="850" dirty="0">
                <a:solidFill>
                  <a:srgbClr val="666666"/>
                </a:solidFill>
              </a:rPr>
              <a:t> &amp; best result</a:t>
            </a:r>
          </a:p>
          <a:p>
            <a:r>
              <a:rPr sz="850" dirty="0">
                <a:solidFill>
                  <a:srgbClr val="666666"/>
                </a:solidFill>
              </a:rPr>
              <a:t>        •  Future work: </a:t>
            </a:r>
            <a:r>
              <a:rPr sz="850" dirty="0" err="1">
                <a:solidFill>
                  <a:srgbClr val="666666"/>
                </a:solidFill>
              </a:rPr>
              <a:t>lebih</a:t>
            </a:r>
            <a:r>
              <a:rPr sz="850" dirty="0">
                <a:solidFill>
                  <a:srgbClr val="666666"/>
                </a:solidFill>
              </a:rPr>
              <a:t> </a:t>
            </a:r>
            <a:r>
              <a:rPr sz="850" dirty="0" err="1">
                <a:solidFill>
                  <a:srgbClr val="666666"/>
                </a:solidFill>
              </a:rPr>
              <a:t>banyak</a:t>
            </a:r>
            <a:r>
              <a:rPr sz="850" dirty="0">
                <a:solidFill>
                  <a:srgbClr val="666666"/>
                </a:solidFill>
              </a:rPr>
              <a:t> user, </a:t>
            </a:r>
            <a:r>
              <a:rPr sz="850" dirty="0" err="1">
                <a:solidFill>
                  <a:srgbClr val="666666"/>
                </a:solidFill>
              </a:rPr>
              <a:t>anotasi</a:t>
            </a:r>
            <a:r>
              <a:rPr sz="850" dirty="0">
                <a:solidFill>
                  <a:srgbClr val="666666"/>
                </a:solidFill>
              </a:rPr>
              <a:t> manual, real-time</a:t>
            </a:r>
          </a:p>
          <a:p>
            <a:endParaRPr sz="850" dirty="0">
              <a:solidFill>
                <a:srgbClr val="666666"/>
              </a:solidFill>
            </a:endParaRPr>
          </a:p>
          <a:p>
            <a:r>
              <a:rPr sz="1150" b="1" dirty="0">
                <a:solidFill>
                  <a:srgbClr val="1A73E8"/>
                </a:solidFill>
              </a:rPr>
              <a:t>  References</a:t>
            </a:r>
          </a:p>
          <a:p>
            <a:r>
              <a:rPr sz="850" dirty="0">
                <a:solidFill>
                  <a:srgbClr val="666666"/>
                </a:solidFill>
              </a:rPr>
              <a:t> 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09728"/>
            <a:ext cx="85953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 i="0">
                <a:solidFill>
                  <a:srgbClr val="202020"/>
                </a:solidFill>
              </a:rPr>
              <a:t>Latar Belakang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777240"/>
            <a:ext cx="8595360" cy="1005840"/>
          </a:xfrm>
          <a:prstGeom prst="rect">
            <a:avLst/>
          </a:prstGeom>
          <a:solidFill>
            <a:srgbClr val="E8F0FE"/>
          </a:solidFill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73E8"/>
                </a:solidFill>
              </a:rPr>
              <a:t>Masalah:</a:t>
            </a:r>
          </a:p>
          <a:p>
            <a:pPr algn="l"/>
            <a:r>
              <a:rPr sz="1000" b="0" i="0">
                <a:solidFill>
                  <a:srgbClr val="202020"/>
                </a:solidFill>
              </a:rPr>
              <a:t>• Emosi mahasiswa saat sesi pemrograman memengaruhi learning outcome (frustrasi, kebingungan, fokus).</a:t>
            </a:r>
          </a:p>
          <a:p>
            <a:pPr algn="l"/>
            <a:r>
              <a:rPr sz="1000" b="0" i="0">
                <a:solidFill>
                  <a:srgbClr val="202020"/>
                </a:solidFill>
              </a:rPr>
              <a:t>• Deteksi otomatis diperlukan untuk learning analytics, tetapi pengenalan emosi wajah (FER) berbasis satu modalitas rentan error pada kondisi natural.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920240"/>
            <a:ext cx="8595360" cy="1280160"/>
          </a:xfrm>
          <a:prstGeom prst="rect">
            <a:avLst/>
          </a:prstGeom>
          <a:solidFill>
            <a:srgbClr val="FFF0CC"/>
          </a:solidFill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02020"/>
                </a:solidFill>
              </a:rPr>
              <a:t>Gap Penelitian:</a:t>
            </a:r>
          </a:p>
          <a:p>
            <a:pPr algn="l"/>
            <a:r>
              <a:rPr sz="1000" b="0" i="0">
                <a:solidFill>
                  <a:srgbClr val="202020"/>
                </a:solidFill>
              </a:rPr>
              <a:t>• FER yang ada mayoritas dievaluasi pada dataset lab (CK+, JAFFE, KDEF) dengan ekspresi dibuat-buat (posed).</a:t>
            </a:r>
          </a:p>
          <a:p>
            <a:pPr algn="l"/>
            <a:r>
              <a:rPr sz="1000" b="0" i="0">
                <a:solidFill>
                  <a:srgbClr val="202020"/>
                </a:solidFill>
              </a:rPr>
              <a:t>• Belum banyak riset FER multimodal (citra wajah + facial landmark) pada konteks pembelajaran pemrograman (natural expression).</a:t>
            </a:r>
          </a:p>
          <a:p>
            <a:pPr algn="l"/>
            <a:r>
              <a:rPr sz="1000" b="0" i="0">
                <a:solidFill>
                  <a:srgbClr val="202020"/>
                </a:solidFill>
              </a:rPr>
              <a:t>• Perbandingan sistematis strategi fusion × transfer learning pada data natural masih terbatas.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3383280"/>
            <a:ext cx="8595360" cy="1417320"/>
          </a:xfrm>
          <a:prstGeom prst="rect">
            <a:avLst/>
          </a:prstGeom>
          <a:solidFill>
            <a:srgbClr val="E6F4EA"/>
          </a:solidFill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F9D58"/>
                </a:solidFill>
              </a:rPr>
              <a:t>Kontribusi Paper:</a:t>
            </a:r>
          </a:p>
          <a:p>
            <a:pPr algn="l"/>
            <a:r>
              <a:rPr sz="1000" b="0" i="0">
                <a:solidFill>
                  <a:srgbClr val="202020"/>
                </a:solidFill>
              </a:rPr>
              <a:t>1. Dataset multimodal baru: 7.091 sampel dari 37 mahasiswa selama sesi pemrograman natural.</a:t>
            </a:r>
          </a:p>
          <a:p>
            <a:pPr algn="l"/>
            <a:r>
              <a:rPr sz="1000" b="0" i="0">
                <a:solidFill>
                  <a:srgbClr val="202020"/>
                </a:solidFill>
              </a:rPr>
              <a:t>2. Studi komparatif sistematis 4 arsitektur (CNN, FCNN, Intermediate Fusion, Late Fusion) dengan/tanpa transfer learning.</a:t>
            </a:r>
          </a:p>
          <a:p>
            <a:pPr algn="l"/>
            <a:r>
              <a:rPr sz="1000" b="0" i="0">
                <a:solidFill>
                  <a:srgbClr val="202020"/>
                </a:solidFill>
              </a:rPr>
              <a:t>3. Evaluasi menyeluruh 48 konfigurasi dengan 3 metrik F1 (Macro, Micro, Weighted) untuk data imbalanced.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09728"/>
            <a:ext cx="85953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 i="0">
                <a:solidFill>
                  <a:srgbClr val="202020"/>
                </a:solidFill>
              </a:rPr>
              <a:t>Rumusan Masalah &amp; Tujuan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777240"/>
            <a:ext cx="8595360" cy="2423160"/>
          </a:xfrm>
          <a:prstGeom prst="rect">
            <a:avLst/>
          </a:prstGeom>
          <a:solidFill>
            <a:srgbClr val="FCE4E4"/>
          </a:solidFill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93C3C"/>
                </a:solidFill>
              </a:rPr>
              <a:t>Rumusan Masalah (Research Questions)</a:t>
            </a:r>
          </a:p>
          <a:p>
            <a:pPr algn="l"/>
            <a:endParaRPr sz="1200" b="1" i="0">
              <a:solidFill>
                <a:srgbClr val="D93C3C"/>
              </a:solidFill>
            </a:endParaRPr>
          </a:p>
          <a:p>
            <a:r>
              <a:rPr sz="1000" b="1">
                <a:solidFill>
                  <a:srgbClr val="D93C3C"/>
                </a:solidFill>
              </a:rPr>
              <a:t>RQ1: </a:t>
            </a:r>
            <a:r>
              <a:rPr sz="1000">
                <a:solidFill>
                  <a:srgbClr val="202020"/>
                </a:solidFill>
              </a:rPr>
              <a:t>Apakah fusi multimodal antara citra wajah dan facial landmark memberikan kinerja yang lebih baik dibandingkan pendekatan single-modality untuk pengenalan emosi pada konteks pembelajaran pemrograman?</a:t>
            </a:r>
          </a:p>
          <a:p>
            <a:pPr algn="l"/>
            <a:endParaRPr sz="1000">
              <a:solidFill>
                <a:srgbClr val="202020"/>
              </a:solidFill>
            </a:endParaRPr>
          </a:p>
          <a:p>
            <a:r>
              <a:rPr sz="1000" b="1">
                <a:solidFill>
                  <a:srgbClr val="D93C3C"/>
                </a:solidFill>
              </a:rPr>
              <a:t>RQ2: </a:t>
            </a:r>
            <a:r>
              <a:rPr sz="1000">
                <a:solidFill>
                  <a:srgbClr val="202020"/>
                </a:solidFill>
              </a:rPr>
              <a:t>Strategi fusion manakah — Intermediate Fusion atau Late Fusion — yang lebih efektif dalam menangani data ekspresi wajah yang natural dan imbalanced?</a:t>
            </a:r>
          </a:p>
          <a:p>
            <a:pPr algn="l"/>
            <a:endParaRPr sz="1000">
              <a:solidFill>
                <a:srgbClr val="202020"/>
              </a:solidFill>
            </a:endParaRPr>
          </a:p>
          <a:p>
            <a:r>
              <a:rPr sz="1000" b="1">
                <a:solidFill>
                  <a:srgbClr val="D93C3C"/>
                </a:solidFill>
              </a:rPr>
              <a:t>RQ3: </a:t>
            </a:r>
            <a:r>
              <a:rPr sz="1000">
                <a:solidFill>
                  <a:srgbClr val="202020"/>
                </a:solidFill>
              </a:rPr>
              <a:t>Bagaimana pengaruh transfer learning (ResNet18 pretrained ImageNet) terhadap kinerja model pengenalan emosi wajah multimodal pada dataset kecil dengan ekspresi natural?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3291840"/>
            <a:ext cx="8595360" cy="1508760"/>
          </a:xfrm>
          <a:prstGeom prst="rect">
            <a:avLst/>
          </a:prstGeom>
          <a:solidFill>
            <a:srgbClr val="E6F4EA"/>
          </a:solidFill>
        </p:spPr>
        <p:txBody>
          <a:bodyPr wrap="square">
            <a:spAutoFit/>
          </a:bodyPr>
          <a:lstStyle/>
          <a:p>
            <a:pPr algn="l"/>
            <a:r>
              <a:rPr sz="1200" b="1" i="0" dirty="0">
                <a:solidFill>
                  <a:srgbClr val="0F9D58"/>
                </a:solidFill>
              </a:rPr>
              <a:t>Tujuan </a:t>
            </a:r>
            <a:r>
              <a:rPr sz="1200" b="1" i="0" dirty="0" err="1">
                <a:solidFill>
                  <a:srgbClr val="0F9D58"/>
                </a:solidFill>
              </a:rPr>
              <a:t>Penelitian</a:t>
            </a:r>
            <a:endParaRPr sz="1200" b="1" i="0" dirty="0">
              <a:solidFill>
                <a:srgbClr val="0F9D58"/>
              </a:solidFill>
            </a:endParaRPr>
          </a:p>
          <a:p>
            <a:pPr algn="l"/>
            <a:endParaRPr sz="1200" b="1" i="0" dirty="0">
              <a:solidFill>
                <a:srgbClr val="0F9D58"/>
              </a:solidFill>
            </a:endParaRPr>
          </a:p>
          <a:p>
            <a:pPr algn="l"/>
            <a:r>
              <a:rPr sz="1000" b="0" i="0" dirty="0">
                <a:solidFill>
                  <a:srgbClr val="202020"/>
                </a:solidFill>
              </a:rPr>
              <a:t>1. </a:t>
            </a:r>
            <a:r>
              <a:rPr sz="1000" b="0" i="0" dirty="0" err="1">
                <a:solidFill>
                  <a:srgbClr val="202020"/>
                </a:solidFill>
              </a:rPr>
              <a:t>Mengembangkan</a:t>
            </a:r>
            <a:r>
              <a:rPr sz="1000" b="0" i="0" dirty="0">
                <a:solidFill>
                  <a:srgbClr val="202020"/>
                </a:solidFill>
              </a:rPr>
              <a:t> pipeline FER multimodal (</a:t>
            </a:r>
            <a:r>
              <a:rPr sz="1000" b="0" i="0" dirty="0" err="1">
                <a:solidFill>
                  <a:srgbClr val="202020"/>
                </a:solidFill>
              </a:rPr>
              <a:t>citra</a:t>
            </a:r>
            <a:r>
              <a:rPr sz="1000" b="0" i="0" dirty="0">
                <a:solidFill>
                  <a:srgbClr val="202020"/>
                </a:solidFill>
              </a:rPr>
              <a:t> + landmark) </a:t>
            </a:r>
            <a:r>
              <a:rPr sz="1000" b="0" i="0" dirty="0" err="1">
                <a:solidFill>
                  <a:srgbClr val="202020"/>
                </a:solidFill>
              </a:rPr>
              <a:t>untuk</a:t>
            </a:r>
            <a:r>
              <a:rPr sz="1000" b="0" i="0" dirty="0">
                <a:solidFill>
                  <a:srgbClr val="202020"/>
                </a:solidFill>
              </a:rPr>
              <a:t> </a:t>
            </a:r>
            <a:r>
              <a:rPr sz="1000" b="0" i="0" dirty="0" err="1">
                <a:solidFill>
                  <a:srgbClr val="202020"/>
                </a:solidFill>
              </a:rPr>
              <a:t>konteks</a:t>
            </a:r>
            <a:r>
              <a:rPr sz="1000" b="0" i="0" dirty="0">
                <a:solidFill>
                  <a:srgbClr val="202020"/>
                </a:solidFill>
              </a:rPr>
              <a:t> </a:t>
            </a:r>
            <a:r>
              <a:rPr sz="1000" b="0" i="0" dirty="0" err="1">
                <a:solidFill>
                  <a:srgbClr val="202020"/>
                </a:solidFill>
              </a:rPr>
              <a:t>pembelajaran</a:t>
            </a:r>
            <a:r>
              <a:rPr sz="1000" b="0" i="0" dirty="0">
                <a:solidFill>
                  <a:srgbClr val="202020"/>
                </a:solidFill>
              </a:rPr>
              <a:t> </a:t>
            </a:r>
            <a:r>
              <a:rPr sz="1000" b="0" i="0" dirty="0" err="1">
                <a:solidFill>
                  <a:srgbClr val="202020"/>
                </a:solidFill>
              </a:rPr>
              <a:t>pemrograman</a:t>
            </a:r>
            <a:r>
              <a:rPr sz="1000" b="0" i="0" dirty="0">
                <a:solidFill>
                  <a:srgbClr val="202020"/>
                </a:solidFill>
              </a:rPr>
              <a:t>.</a:t>
            </a:r>
          </a:p>
          <a:p>
            <a:pPr algn="l"/>
            <a:r>
              <a:rPr sz="1000" b="0" i="0" dirty="0">
                <a:solidFill>
                  <a:srgbClr val="202020"/>
                </a:solidFill>
              </a:rPr>
              <a:t>2. </a:t>
            </a:r>
            <a:r>
              <a:rPr sz="1000" b="0" i="0" dirty="0" err="1">
                <a:solidFill>
                  <a:srgbClr val="202020"/>
                </a:solidFill>
              </a:rPr>
              <a:t>Menentukan</a:t>
            </a:r>
            <a:r>
              <a:rPr sz="1000" b="0" i="0" dirty="0">
                <a:solidFill>
                  <a:srgbClr val="202020"/>
                </a:solidFill>
              </a:rPr>
              <a:t> </a:t>
            </a:r>
            <a:r>
              <a:rPr sz="1000" b="0" i="0" dirty="0" err="1">
                <a:solidFill>
                  <a:srgbClr val="202020"/>
                </a:solidFill>
              </a:rPr>
              <a:t>arsitektur</a:t>
            </a:r>
            <a:r>
              <a:rPr sz="1000" b="0" i="0" dirty="0">
                <a:solidFill>
                  <a:srgbClr val="202020"/>
                </a:solidFill>
              </a:rPr>
              <a:t> fusion dan strategi transfer learning yang optimal </a:t>
            </a:r>
            <a:r>
              <a:rPr sz="1000" b="0" i="0" dirty="0" err="1">
                <a:solidFill>
                  <a:srgbClr val="202020"/>
                </a:solidFill>
              </a:rPr>
              <a:t>melalui</a:t>
            </a:r>
            <a:r>
              <a:rPr sz="1000" b="0" i="0" dirty="0">
                <a:solidFill>
                  <a:srgbClr val="202020"/>
                </a:solidFill>
              </a:rPr>
              <a:t> </a:t>
            </a:r>
            <a:r>
              <a:rPr sz="1000" b="0" i="0" dirty="0" err="1">
                <a:solidFill>
                  <a:srgbClr val="202020"/>
                </a:solidFill>
              </a:rPr>
              <a:t>studi</a:t>
            </a:r>
            <a:r>
              <a:rPr sz="1000" b="0" i="0" dirty="0">
                <a:solidFill>
                  <a:srgbClr val="202020"/>
                </a:solidFill>
              </a:rPr>
              <a:t> 48 </a:t>
            </a:r>
            <a:r>
              <a:rPr sz="1000" b="0" i="0" dirty="0" err="1">
                <a:solidFill>
                  <a:srgbClr val="202020"/>
                </a:solidFill>
              </a:rPr>
              <a:t>konfigurasi</a:t>
            </a:r>
            <a:r>
              <a:rPr sz="1000" b="0" i="0" dirty="0">
                <a:solidFill>
                  <a:srgbClr val="202020"/>
                </a:solidFill>
              </a:rPr>
              <a:t> </a:t>
            </a:r>
            <a:r>
              <a:rPr sz="1000" b="0" i="0" dirty="0" err="1">
                <a:solidFill>
                  <a:srgbClr val="202020"/>
                </a:solidFill>
              </a:rPr>
              <a:t>eksperimen</a:t>
            </a:r>
            <a:r>
              <a:rPr sz="1000" b="0" i="0" dirty="0">
                <a:solidFill>
                  <a:srgbClr val="202020"/>
                </a:solidFill>
              </a:rPr>
              <a:t>.</a:t>
            </a:r>
          </a:p>
          <a:p>
            <a:pPr algn="l"/>
            <a:r>
              <a:rPr sz="1000" b="0" i="0" dirty="0">
                <a:solidFill>
                  <a:srgbClr val="202020"/>
                </a:solidFill>
              </a:rPr>
              <a:t>3. </a:t>
            </a:r>
            <a:r>
              <a:rPr sz="1000" b="0" i="0" dirty="0" err="1">
                <a:solidFill>
                  <a:srgbClr val="202020"/>
                </a:solidFill>
              </a:rPr>
              <a:t>Menyajikan</a:t>
            </a:r>
            <a:r>
              <a:rPr sz="1000" b="0" i="0" dirty="0">
                <a:solidFill>
                  <a:srgbClr val="202020"/>
                </a:solidFill>
              </a:rPr>
              <a:t> </a:t>
            </a:r>
            <a:r>
              <a:rPr sz="1000" b="0" i="0" dirty="0" err="1">
                <a:solidFill>
                  <a:srgbClr val="202020"/>
                </a:solidFill>
              </a:rPr>
              <a:t>analisis</a:t>
            </a:r>
            <a:r>
              <a:rPr sz="1000" b="0" i="0" dirty="0">
                <a:solidFill>
                  <a:srgbClr val="202020"/>
                </a:solidFill>
              </a:rPr>
              <a:t> per-</a:t>
            </a:r>
            <a:r>
              <a:rPr sz="1000" b="0" i="0" dirty="0" err="1">
                <a:solidFill>
                  <a:srgbClr val="202020"/>
                </a:solidFill>
              </a:rPr>
              <a:t>kelas</a:t>
            </a:r>
            <a:r>
              <a:rPr sz="1000" b="0" i="0" dirty="0">
                <a:solidFill>
                  <a:srgbClr val="202020"/>
                </a:solidFill>
              </a:rPr>
              <a:t> </a:t>
            </a:r>
            <a:r>
              <a:rPr sz="1000" b="0" i="0" dirty="0" err="1">
                <a:solidFill>
                  <a:srgbClr val="202020"/>
                </a:solidFill>
              </a:rPr>
              <a:t>emosi</a:t>
            </a:r>
            <a:r>
              <a:rPr sz="1000" b="0" i="0" dirty="0">
                <a:solidFill>
                  <a:srgbClr val="202020"/>
                </a:solidFill>
              </a:rPr>
              <a:t> </a:t>
            </a:r>
            <a:r>
              <a:rPr sz="1000" b="0" i="0" dirty="0" err="1">
                <a:solidFill>
                  <a:srgbClr val="202020"/>
                </a:solidFill>
              </a:rPr>
              <a:t>untuk</a:t>
            </a:r>
            <a:r>
              <a:rPr sz="1000" b="0" i="0" dirty="0">
                <a:solidFill>
                  <a:srgbClr val="202020"/>
                </a:solidFill>
              </a:rPr>
              <a:t> </a:t>
            </a:r>
            <a:r>
              <a:rPr sz="1000" b="0" i="0" dirty="0" err="1">
                <a:solidFill>
                  <a:srgbClr val="202020"/>
                </a:solidFill>
              </a:rPr>
              <a:t>memahami</a:t>
            </a:r>
            <a:r>
              <a:rPr sz="1000" b="0" i="0" dirty="0">
                <a:solidFill>
                  <a:srgbClr val="202020"/>
                </a:solidFill>
              </a:rPr>
              <a:t> </a:t>
            </a:r>
            <a:r>
              <a:rPr sz="1000" b="0" i="0" dirty="0" err="1">
                <a:solidFill>
                  <a:srgbClr val="202020"/>
                </a:solidFill>
              </a:rPr>
              <a:t>perilaku</a:t>
            </a:r>
            <a:r>
              <a:rPr sz="1000" b="0" i="0" dirty="0">
                <a:solidFill>
                  <a:srgbClr val="202020"/>
                </a:solidFill>
              </a:rPr>
              <a:t> model pada data </a:t>
            </a:r>
            <a:r>
              <a:rPr sz="1000" b="0" i="0" dirty="0" err="1">
                <a:solidFill>
                  <a:srgbClr val="202020"/>
                </a:solidFill>
              </a:rPr>
              <a:t>minoritas</a:t>
            </a:r>
            <a:r>
              <a:rPr sz="1000" b="0" i="0" dirty="0">
                <a:solidFill>
                  <a:srgbClr val="202020"/>
                </a:solidFill>
              </a:rPr>
              <a:t> </a:t>
            </a:r>
            <a:r>
              <a:rPr sz="1000" b="0" i="0" dirty="0" err="1">
                <a:solidFill>
                  <a:srgbClr val="202020"/>
                </a:solidFill>
              </a:rPr>
              <a:t>dalam</a:t>
            </a:r>
            <a:r>
              <a:rPr sz="1000" b="0" i="0" dirty="0">
                <a:solidFill>
                  <a:srgbClr val="202020"/>
                </a:solidFill>
              </a:rPr>
              <a:t> </a:t>
            </a:r>
            <a:r>
              <a:rPr sz="1000" b="0" i="0" dirty="0" err="1">
                <a:solidFill>
                  <a:srgbClr val="202020"/>
                </a:solidFill>
              </a:rPr>
              <a:t>konteks</a:t>
            </a:r>
            <a:r>
              <a:rPr sz="1000" b="0" i="0" dirty="0">
                <a:solidFill>
                  <a:srgbClr val="202020"/>
                </a:solidFill>
              </a:rPr>
              <a:t> natural.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09728"/>
            <a:ext cx="85953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 i="0">
                <a:solidFill>
                  <a:srgbClr val="202020"/>
                </a:solidFill>
              </a:rPr>
              <a:t>Related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777240"/>
            <a:ext cx="8595360" cy="2834640"/>
          </a:xfrm>
          <a:prstGeom prst="rect">
            <a:avLst/>
          </a:prstGeom>
          <a:solidFill>
            <a:srgbClr val="E8F0FE"/>
          </a:solidFill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73E8"/>
                </a:solidFill>
              </a:rPr>
              <a:t>Kategori Literatur yang akan Direview</a:t>
            </a:r>
          </a:p>
          <a:p>
            <a:pPr algn="l"/>
            <a:endParaRPr sz="1200" b="1" i="0">
              <a:solidFill>
                <a:srgbClr val="1A73E8"/>
              </a:solidFill>
            </a:endParaRPr>
          </a:p>
          <a:p>
            <a:pPr algn="l"/>
            <a:r>
              <a:rPr sz="1100" b="1" i="0">
                <a:solidFill>
                  <a:srgbClr val="202020"/>
                </a:solidFill>
              </a:rPr>
              <a:t>1. Deep Learning untuk Facial Expression Recognition</a:t>
            </a:r>
          </a:p>
          <a:p>
            <a:pPr algn="l"/>
            <a:r>
              <a:rPr sz="1000" b="0" i="0">
                <a:solidFill>
                  <a:srgbClr val="666666"/>
                </a:solidFill>
              </a:rPr>
              <a:t>   CNN, ResNet, EfficientNet, Vision Transformer pada FER klasik.</a:t>
            </a:r>
          </a:p>
          <a:p>
            <a:pPr algn="l"/>
            <a:endParaRPr sz="1000" b="0" i="0">
              <a:solidFill>
                <a:srgbClr val="666666"/>
              </a:solidFill>
            </a:endParaRPr>
          </a:p>
          <a:p>
            <a:pPr algn="l"/>
            <a:r>
              <a:rPr sz="1100" b="1" i="0">
                <a:solidFill>
                  <a:srgbClr val="202020"/>
                </a:solidFill>
              </a:rPr>
              <a:t>2. Multimodal Fusion untuk FER</a:t>
            </a:r>
          </a:p>
          <a:p>
            <a:pPr algn="l"/>
            <a:r>
              <a:rPr sz="1000" b="0" i="0">
                <a:solidFill>
                  <a:srgbClr val="666666"/>
                </a:solidFill>
              </a:rPr>
              <a:t>   Strategi early / intermediate / late fusion pada kombinasi citra wajah + landmark / audio / fisiologis.</a:t>
            </a:r>
          </a:p>
          <a:p>
            <a:pPr algn="l"/>
            <a:endParaRPr sz="1000" b="0" i="0">
              <a:solidFill>
                <a:srgbClr val="666666"/>
              </a:solidFill>
            </a:endParaRPr>
          </a:p>
          <a:p>
            <a:pPr algn="l"/>
            <a:r>
              <a:rPr sz="1100" b="1" i="0">
                <a:solidFill>
                  <a:srgbClr val="202020"/>
                </a:solidFill>
              </a:rPr>
              <a:t>3. Transfer Learning pada FER</a:t>
            </a:r>
          </a:p>
          <a:p>
            <a:pPr algn="l"/>
            <a:r>
              <a:rPr sz="1000" b="0" i="0">
                <a:solidFill>
                  <a:srgbClr val="666666"/>
                </a:solidFill>
              </a:rPr>
              <a:t>   ImageNet pretrained backbone, domain adaptation, fine-tuning strategy untuk dataset kecil.</a:t>
            </a:r>
          </a:p>
          <a:p>
            <a:pPr algn="l"/>
            <a:endParaRPr sz="1000" b="0" i="0">
              <a:solidFill>
                <a:srgbClr val="666666"/>
              </a:solidFill>
            </a:endParaRPr>
          </a:p>
          <a:p>
            <a:pPr algn="l"/>
            <a:r>
              <a:rPr sz="1100" b="1" i="0">
                <a:solidFill>
                  <a:srgbClr val="202020"/>
                </a:solidFill>
              </a:rPr>
              <a:t>4. Affective Computing dalam Konteks Pendidikan</a:t>
            </a:r>
          </a:p>
          <a:p>
            <a:pPr algn="l"/>
            <a:r>
              <a:rPr sz="1000" b="0" i="0">
                <a:solidFill>
                  <a:srgbClr val="666666"/>
                </a:solidFill>
              </a:rPr>
              <a:t>   Emotion recognition untuk learning analytics, MOOC engagement, adaptive tutoring system.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09728"/>
            <a:ext cx="85953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 i="0">
                <a:solidFill>
                  <a:srgbClr val="202020"/>
                </a:solidFill>
              </a:rPr>
              <a:t>Proposed Method — Dataset (Section 3.1)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777240"/>
            <a:ext cx="4206240" cy="1828800"/>
          </a:xfrm>
          <a:prstGeom prst="rect">
            <a:avLst/>
          </a:prstGeom>
          <a:solidFill>
            <a:srgbClr val="E8F0FE"/>
          </a:solidFill>
        </p:spPr>
        <p:txBody>
          <a:bodyPr wrap="square">
            <a:spAutoFit/>
          </a:bodyPr>
          <a:lstStyle/>
          <a:p>
            <a:pPr algn="l"/>
            <a:r>
              <a:rPr sz="1100" b="1" i="0" dirty="0" err="1">
                <a:solidFill>
                  <a:srgbClr val="1A73E8"/>
                </a:solidFill>
              </a:rPr>
              <a:t>Karakteristik</a:t>
            </a:r>
            <a:endParaRPr sz="1100" b="1" i="0" dirty="0">
              <a:solidFill>
                <a:srgbClr val="1A73E8"/>
              </a:solidFill>
            </a:endParaRPr>
          </a:p>
          <a:p>
            <a:pPr algn="l"/>
            <a:endParaRPr sz="1100" b="1" i="0" dirty="0">
              <a:solidFill>
                <a:srgbClr val="1A73E8"/>
              </a:solidFill>
            </a:endParaRPr>
          </a:p>
          <a:p>
            <a:pPr algn="l"/>
            <a:r>
              <a:rPr sz="1000" b="0" i="0" dirty="0">
                <a:solidFill>
                  <a:srgbClr val="202020"/>
                </a:solidFill>
              </a:rPr>
              <a:t>• 37 </a:t>
            </a:r>
            <a:r>
              <a:rPr sz="1000" b="0" i="0" dirty="0" err="1">
                <a:solidFill>
                  <a:srgbClr val="202020"/>
                </a:solidFill>
              </a:rPr>
              <a:t>mahasiswa</a:t>
            </a:r>
            <a:r>
              <a:rPr sz="1000" b="0" i="0" dirty="0">
                <a:solidFill>
                  <a:srgbClr val="202020"/>
                </a:solidFill>
              </a:rPr>
              <a:t> (2 batch data collection)</a:t>
            </a:r>
          </a:p>
          <a:p>
            <a:pPr algn="l"/>
            <a:r>
              <a:rPr sz="1000" b="0" i="0" dirty="0">
                <a:solidFill>
                  <a:srgbClr val="202020"/>
                </a:solidFill>
              </a:rPr>
              <a:t>• 7.091 frame </a:t>
            </a:r>
            <a:r>
              <a:rPr sz="1000" b="0" i="0" dirty="0" err="1">
                <a:solidFill>
                  <a:srgbClr val="202020"/>
                </a:solidFill>
              </a:rPr>
              <a:t>wajah</a:t>
            </a:r>
            <a:r>
              <a:rPr sz="1000" b="0" i="0" dirty="0">
                <a:solidFill>
                  <a:srgbClr val="202020"/>
                </a:solidFill>
              </a:rPr>
              <a:t> (front-view)</a:t>
            </a:r>
          </a:p>
          <a:p>
            <a:pPr algn="l"/>
            <a:r>
              <a:rPr sz="1000" b="0" i="0" dirty="0">
                <a:solidFill>
                  <a:srgbClr val="202020"/>
                </a:solidFill>
              </a:rPr>
              <a:t>• </a:t>
            </a:r>
            <a:r>
              <a:rPr sz="1000" b="0" i="0" dirty="0" err="1">
                <a:solidFill>
                  <a:srgbClr val="202020"/>
                </a:solidFill>
              </a:rPr>
              <a:t>Durasi</a:t>
            </a:r>
            <a:r>
              <a:rPr sz="1000" b="0" i="0" dirty="0">
                <a:solidFill>
                  <a:srgbClr val="202020"/>
                </a:solidFill>
              </a:rPr>
              <a:t>: </a:t>
            </a:r>
            <a:r>
              <a:rPr sz="1000" b="0" i="0" dirty="0" err="1">
                <a:solidFill>
                  <a:srgbClr val="202020"/>
                </a:solidFill>
              </a:rPr>
              <a:t>sesi</a:t>
            </a:r>
            <a:r>
              <a:rPr sz="1000" b="0" i="0" dirty="0">
                <a:solidFill>
                  <a:srgbClr val="202020"/>
                </a:solidFill>
              </a:rPr>
              <a:t> </a:t>
            </a:r>
            <a:r>
              <a:rPr sz="1000" b="0" i="0" dirty="0" err="1">
                <a:solidFill>
                  <a:srgbClr val="202020"/>
                </a:solidFill>
              </a:rPr>
              <a:t>pemrograman</a:t>
            </a:r>
            <a:r>
              <a:rPr sz="1000" b="0" i="0" dirty="0">
                <a:solidFill>
                  <a:srgbClr val="202020"/>
                </a:solidFill>
              </a:rPr>
              <a:t> 30-60 </a:t>
            </a:r>
            <a:r>
              <a:rPr sz="1000" b="0" i="0" dirty="0" err="1">
                <a:solidFill>
                  <a:srgbClr val="202020"/>
                </a:solidFill>
              </a:rPr>
              <a:t>menit</a:t>
            </a:r>
            <a:endParaRPr sz="1000" b="0" i="0" dirty="0">
              <a:solidFill>
                <a:srgbClr val="202020"/>
              </a:solidFill>
            </a:endParaRPr>
          </a:p>
          <a:p>
            <a:pPr algn="l"/>
            <a:r>
              <a:rPr sz="1000" b="0" i="0" dirty="0">
                <a:solidFill>
                  <a:srgbClr val="202020"/>
                </a:solidFill>
              </a:rPr>
              <a:t>• 7 </a:t>
            </a:r>
            <a:r>
              <a:rPr sz="1000" b="0" i="0" dirty="0" err="1">
                <a:solidFill>
                  <a:srgbClr val="202020"/>
                </a:solidFill>
              </a:rPr>
              <a:t>kelas</a:t>
            </a:r>
            <a:r>
              <a:rPr sz="1000" b="0" i="0" dirty="0">
                <a:solidFill>
                  <a:srgbClr val="202020"/>
                </a:solidFill>
              </a:rPr>
              <a:t> </a:t>
            </a:r>
            <a:r>
              <a:rPr sz="1000" b="0" i="0" dirty="0" err="1">
                <a:solidFill>
                  <a:srgbClr val="202020"/>
                </a:solidFill>
              </a:rPr>
              <a:t>emosi</a:t>
            </a:r>
            <a:r>
              <a:rPr sz="1000" b="0" i="0" dirty="0">
                <a:solidFill>
                  <a:srgbClr val="202020"/>
                </a:solidFill>
              </a:rPr>
              <a:t> (FER </a:t>
            </a:r>
            <a:r>
              <a:rPr sz="1000" b="0" i="0" dirty="0" err="1">
                <a:solidFill>
                  <a:srgbClr val="202020"/>
                </a:solidFill>
              </a:rPr>
              <a:t>standar</a:t>
            </a:r>
            <a:r>
              <a:rPr sz="1000" b="0" i="0" dirty="0">
                <a:solidFill>
                  <a:srgbClr val="202020"/>
                </a:solidFill>
              </a:rPr>
              <a:t>)</a:t>
            </a:r>
          </a:p>
          <a:p>
            <a:pPr algn="l"/>
            <a:r>
              <a:rPr sz="1000" b="0" i="0" dirty="0">
                <a:solidFill>
                  <a:srgbClr val="202020"/>
                </a:solidFill>
              </a:rPr>
              <a:t>• </a:t>
            </a:r>
            <a:r>
              <a:rPr sz="1000" b="0" i="0" dirty="0" err="1">
                <a:solidFill>
                  <a:srgbClr val="202020"/>
                </a:solidFill>
              </a:rPr>
              <a:t>Anotasi</a:t>
            </a:r>
            <a:r>
              <a:rPr sz="1000" b="0" i="0" dirty="0">
                <a:solidFill>
                  <a:srgbClr val="202020"/>
                </a:solidFill>
              </a:rPr>
              <a:t>: Face API (confidence score)</a:t>
            </a:r>
          </a:p>
          <a:p>
            <a:pPr algn="l"/>
            <a:r>
              <a:rPr sz="1000" b="0" i="0" dirty="0">
                <a:solidFill>
                  <a:srgbClr val="202020"/>
                </a:solidFill>
              </a:rPr>
              <a:t>• Split: user-wise 80/10/10 (</a:t>
            </a:r>
            <a:r>
              <a:rPr sz="1000" b="0" i="0" dirty="0" err="1">
                <a:solidFill>
                  <a:srgbClr val="202020"/>
                </a:solidFill>
              </a:rPr>
              <a:t>tidak</a:t>
            </a:r>
            <a:r>
              <a:rPr sz="1000" b="0" i="0" dirty="0">
                <a:solidFill>
                  <a:srgbClr val="202020"/>
                </a:solidFill>
              </a:rPr>
              <a:t> </a:t>
            </a:r>
            <a:r>
              <a:rPr sz="1000" b="0" i="0" dirty="0" err="1">
                <a:solidFill>
                  <a:srgbClr val="202020"/>
                </a:solidFill>
              </a:rPr>
              <a:t>ada</a:t>
            </a:r>
            <a:r>
              <a:rPr sz="1000" b="0" i="0" dirty="0">
                <a:solidFill>
                  <a:srgbClr val="202020"/>
                </a:solidFill>
              </a:rPr>
              <a:t> leakage)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777240"/>
            <a:ext cx="4297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202020"/>
                </a:solidFill>
              </a:rPr>
              <a:t>Distribusi Kelas Emosi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0" y="1051560"/>
          <a:ext cx="4297680" cy="1748790"/>
        </p:xfrm>
        <a:graphic>
          <a:graphicData uri="http://schemas.openxmlformats.org/drawingml/2006/table">
            <a:tbl>
              <a:tblPr firstRow="1" bandRow="1"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1717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Emosi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Jumlah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%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7170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202020"/>
                          </a:solidFill>
                        </a:rPr>
                        <a:t>Neutral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5.519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77.8%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7170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202020"/>
                          </a:solidFill>
                        </a:rPr>
                        <a:t>Happy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651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9.2%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170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202020"/>
                          </a:solidFill>
                        </a:rPr>
                        <a:t>Sad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361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5.1%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7170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202020"/>
                          </a:solidFill>
                        </a:rPr>
                        <a:t>Surprised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0.5%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7170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202020"/>
                          </a:solidFill>
                        </a:rPr>
                        <a:t>Angry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32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0.5%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7170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202020"/>
                          </a:solidFill>
                        </a:rPr>
                        <a:t>Disgusted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0.2%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7170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202020"/>
                          </a:solidFill>
                        </a:rPr>
                        <a:t>Fearful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0.1%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274320" y="3015452"/>
            <a:ext cx="8595360" cy="1200329"/>
          </a:xfrm>
          <a:prstGeom prst="rect">
            <a:avLst/>
          </a:prstGeom>
          <a:solidFill>
            <a:srgbClr val="FFF0CC"/>
          </a:solidFill>
        </p:spPr>
        <p:txBody>
          <a:bodyPr wrap="square">
            <a:spAutoFit/>
          </a:bodyPr>
          <a:lstStyle/>
          <a:p>
            <a:pPr algn="l"/>
            <a:r>
              <a:rPr sz="1100" b="1" i="0" dirty="0">
                <a:solidFill>
                  <a:srgbClr val="202020"/>
                </a:solidFill>
              </a:rPr>
              <a:t>Preprocessing Pipeline</a:t>
            </a:r>
          </a:p>
          <a:p>
            <a:pPr algn="l"/>
            <a:endParaRPr sz="1100" b="1" i="0" dirty="0">
              <a:solidFill>
                <a:srgbClr val="202020"/>
              </a:solidFill>
            </a:endParaRPr>
          </a:p>
          <a:p>
            <a:pPr algn="l"/>
            <a:r>
              <a:rPr sz="1000" b="0" i="0" dirty="0">
                <a:solidFill>
                  <a:srgbClr val="202020"/>
                </a:solidFill>
              </a:rPr>
              <a:t>1. Face detection → crop </a:t>
            </a:r>
            <a:r>
              <a:rPr sz="1000" b="0" i="0" dirty="0" err="1">
                <a:solidFill>
                  <a:srgbClr val="202020"/>
                </a:solidFill>
              </a:rPr>
              <a:t>wajah</a:t>
            </a:r>
            <a:r>
              <a:rPr sz="1000" b="0" i="0" dirty="0">
                <a:solidFill>
                  <a:srgbClr val="202020"/>
                </a:solidFill>
              </a:rPr>
              <a:t> → resize 224×224 RGB (</a:t>
            </a:r>
            <a:r>
              <a:rPr sz="1000" b="0" i="0" dirty="0" err="1">
                <a:solidFill>
                  <a:srgbClr val="202020"/>
                </a:solidFill>
              </a:rPr>
              <a:t>untuk</a:t>
            </a:r>
            <a:r>
              <a:rPr sz="1000" b="0" i="0" dirty="0">
                <a:solidFill>
                  <a:srgbClr val="202020"/>
                </a:solidFill>
              </a:rPr>
              <a:t> CNN branch).</a:t>
            </a:r>
          </a:p>
          <a:p>
            <a:pPr algn="l"/>
            <a:r>
              <a:rPr sz="1000" b="0" i="0" dirty="0">
                <a:solidFill>
                  <a:srgbClr val="202020"/>
                </a:solidFill>
              </a:rPr>
              <a:t>2. Facial landmark extraction via </a:t>
            </a:r>
            <a:r>
              <a:rPr sz="1000" b="0" i="0" dirty="0" err="1">
                <a:solidFill>
                  <a:srgbClr val="202020"/>
                </a:solidFill>
              </a:rPr>
              <a:t>MediaPipe</a:t>
            </a:r>
            <a:r>
              <a:rPr sz="1000" b="0" i="0" dirty="0">
                <a:solidFill>
                  <a:srgbClr val="202020"/>
                </a:solidFill>
              </a:rPr>
              <a:t> (478 </a:t>
            </a:r>
            <a:r>
              <a:rPr sz="1000" b="0" i="0" dirty="0" err="1">
                <a:solidFill>
                  <a:srgbClr val="202020"/>
                </a:solidFill>
              </a:rPr>
              <a:t>titik</a:t>
            </a:r>
            <a:r>
              <a:rPr sz="1000" b="0" i="0" dirty="0">
                <a:solidFill>
                  <a:srgbClr val="202020"/>
                </a:solidFill>
              </a:rPr>
              <a:t> → subset 68 </a:t>
            </a:r>
            <a:r>
              <a:rPr sz="1000" b="0" i="0" dirty="0" err="1">
                <a:solidFill>
                  <a:srgbClr val="202020"/>
                </a:solidFill>
              </a:rPr>
              <a:t>klasik</a:t>
            </a:r>
            <a:r>
              <a:rPr sz="1000" b="0" i="0" dirty="0">
                <a:solidFill>
                  <a:srgbClr val="202020"/>
                </a:solidFill>
              </a:rPr>
              <a:t> = 136 </a:t>
            </a:r>
            <a:r>
              <a:rPr sz="1000" b="0" i="0" dirty="0" err="1">
                <a:solidFill>
                  <a:srgbClr val="202020"/>
                </a:solidFill>
              </a:rPr>
              <a:t>koordinat</a:t>
            </a:r>
            <a:r>
              <a:rPr sz="1000" b="0" i="0" dirty="0">
                <a:solidFill>
                  <a:srgbClr val="202020"/>
                </a:solidFill>
              </a:rPr>
              <a:t>).</a:t>
            </a:r>
          </a:p>
          <a:p>
            <a:pPr algn="l"/>
            <a:r>
              <a:rPr sz="1000" b="0" i="0" dirty="0">
                <a:solidFill>
                  <a:srgbClr val="202020"/>
                </a:solidFill>
              </a:rPr>
              <a:t>3. </a:t>
            </a:r>
            <a:r>
              <a:rPr sz="1000" b="0" i="0" dirty="0" err="1">
                <a:solidFill>
                  <a:srgbClr val="202020"/>
                </a:solidFill>
              </a:rPr>
              <a:t>Normalisasi</a:t>
            </a:r>
            <a:r>
              <a:rPr sz="1000" b="0" i="0" dirty="0">
                <a:solidFill>
                  <a:srgbClr val="202020"/>
                </a:solidFill>
              </a:rPr>
              <a:t>: </a:t>
            </a:r>
            <a:r>
              <a:rPr sz="1000" b="0" i="0" dirty="0" err="1">
                <a:solidFill>
                  <a:srgbClr val="202020"/>
                </a:solidFill>
              </a:rPr>
              <a:t>piksel</a:t>
            </a:r>
            <a:r>
              <a:rPr sz="1000" b="0" i="0" dirty="0">
                <a:solidFill>
                  <a:srgbClr val="202020"/>
                </a:solidFill>
              </a:rPr>
              <a:t> [0,1], landmark normalized </a:t>
            </a:r>
            <a:r>
              <a:rPr sz="1000" b="0" i="0" dirty="0" err="1">
                <a:solidFill>
                  <a:srgbClr val="202020"/>
                </a:solidFill>
              </a:rPr>
              <a:t>ke</a:t>
            </a:r>
            <a:r>
              <a:rPr sz="1000" b="0" i="0" dirty="0">
                <a:solidFill>
                  <a:srgbClr val="202020"/>
                </a:solidFill>
              </a:rPr>
              <a:t> frame (agar invariant </a:t>
            </a:r>
            <a:r>
              <a:rPr sz="1000" b="0" i="0" dirty="0" err="1">
                <a:solidFill>
                  <a:srgbClr val="202020"/>
                </a:solidFill>
              </a:rPr>
              <a:t>terhadap</a:t>
            </a:r>
            <a:r>
              <a:rPr sz="1000" b="0" i="0" dirty="0">
                <a:solidFill>
                  <a:srgbClr val="202020"/>
                </a:solidFill>
              </a:rPr>
              <a:t> </a:t>
            </a:r>
            <a:r>
              <a:rPr sz="1000" b="0" i="0" dirty="0" err="1">
                <a:solidFill>
                  <a:srgbClr val="202020"/>
                </a:solidFill>
              </a:rPr>
              <a:t>resolusi</a:t>
            </a:r>
            <a:r>
              <a:rPr sz="1000" b="0" i="0" dirty="0">
                <a:solidFill>
                  <a:srgbClr val="202020"/>
                </a:solidFill>
              </a:rPr>
              <a:t>).</a:t>
            </a:r>
          </a:p>
          <a:p>
            <a:pPr algn="l"/>
            <a:r>
              <a:rPr sz="1000" b="0" i="0" dirty="0">
                <a:solidFill>
                  <a:srgbClr val="202020"/>
                </a:solidFill>
              </a:rPr>
              <a:t>4. Remap 4-class </a:t>
            </a:r>
            <a:r>
              <a:rPr sz="1000" b="0" i="0" dirty="0" err="1">
                <a:solidFill>
                  <a:srgbClr val="202020"/>
                </a:solidFill>
              </a:rPr>
              <a:t>opsional</a:t>
            </a:r>
            <a:r>
              <a:rPr sz="1000" b="0" i="0" dirty="0">
                <a:solidFill>
                  <a:srgbClr val="202020"/>
                </a:solidFill>
              </a:rPr>
              <a:t>: neutral / happy / sad / negative (</a:t>
            </a:r>
            <a:r>
              <a:rPr sz="1000" b="0" i="0" dirty="0" err="1">
                <a:solidFill>
                  <a:srgbClr val="202020"/>
                </a:solidFill>
              </a:rPr>
              <a:t>gabung</a:t>
            </a:r>
            <a:r>
              <a:rPr sz="1000" b="0" i="0" dirty="0">
                <a:solidFill>
                  <a:srgbClr val="202020"/>
                </a:solidFill>
              </a:rPr>
              <a:t> </a:t>
            </a:r>
            <a:r>
              <a:rPr sz="1000" b="0" i="0" dirty="0" err="1">
                <a:solidFill>
                  <a:srgbClr val="202020"/>
                </a:solidFill>
              </a:rPr>
              <a:t>angry+fearful+disgusted+surprised</a:t>
            </a:r>
            <a:r>
              <a:rPr sz="1000" b="0" i="0" dirty="0">
                <a:solidFill>
                  <a:srgbClr val="202020"/>
                </a:solidFill>
              </a:rPr>
              <a:t>).</a:t>
            </a:r>
          </a:p>
          <a:p>
            <a:pPr algn="l"/>
            <a:r>
              <a:rPr sz="1000" b="0" i="0" dirty="0">
                <a:solidFill>
                  <a:srgbClr val="202020"/>
                </a:solidFill>
              </a:rPr>
              <a:t>5. Split user-wise: 29 user train / 3 user </a:t>
            </a:r>
            <a:r>
              <a:rPr sz="1000" b="0" i="0" dirty="0" err="1">
                <a:solidFill>
                  <a:srgbClr val="202020"/>
                </a:solidFill>
              </a:rPr>
              <a:t>val</a:t>
            </a:r>
            <a:r>
              <a:rPr sz="1000" b="0" i="0" dirty="0">
                <a:solidFill>
                  <a:srgbClr val="202020"/>
                </a:solidFill>
              </a:rPr>
              <a:t> / 5 user test → </a:t>
            </a:r>
            <a:r>
              <a:rPr sz="1000" b="0" i="0" dirty="0" err="1">
                <a:solidFill>
                  <a:srgbClr val="202020"/>
                </a:solidFill>
              </a:rPr>
              <a:t>mencegah</a:t>
            </a:r>
            <a:r>
              <a:rPr sz="1000" b="0" i="0" dirty="0">
                <a:solidFill>
                  <a:srgbClr val="202020"/>
                </a:solidFill>
              </a:rPr>
              <a:t> identity-leakage.</a:t>
            </a:r>
            <a:endParaRPr lang="en-US" sz="1000" b="0" i="0" dirty="0">
              <a:solidFill>
                <a:srgbClr val="202020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09728"/>
            <a:ext cx="85953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 i="0">
                <a:solidFill>
                  <a:srgbClr val="202020"/>
                </a:solidFill>
              </a:rPr>
              <a:t>Proposed Method — Arsitektur Model (Section 3.2)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77240"/>
          <a:ext cx="8595360" cy="1703832"/>
        </p:xfrm>
        <a:graphic>
          <a:graphicData uri="http://schemas.openxmlformats.org/drawingml/2006/table">
            <a:tbl>
              <a:tblPr firstRow="1" bandRow="1"/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38328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Input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Backbone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Fusion Point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Keterangan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02020"/>
                          </a:solidFill>
                        </a:rPr>
                        <a:t>CNN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02020"/>
                          </a:solidFill>
                        </a:rPr>
                        <a:t>Citra wajah 224×224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02020"/>
                          </a:solidFill>
                        </a:rPr>
                        <a:t>Custom Conv (scratch) / ResNet18 (TL)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02020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02020"/>
                          </a:solidFill>
                        </a:rPr>
                        <a:t>Single modal: visual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02020"/>
                          </a:solidFill>
                        </a:rPr>
                        <a:t>FCNN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02020"/>
                          </a:solidFill>
                        </a:rPr>
                        <a:t>Landmark 136-dim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02020"/>
                          </a:solidFill>
                        </a:rPr>
                        <a:t>4 FC layers (64-128-64-32)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02020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02020"/>
                          </a:solidFill>
                        </a:rPr>
                        <a:t>Single modal: geometric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02020"/>
                          </a:solidFill>
                        </a:rPr>
                        <a:t>Intermediate Fusion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02020"/>
                          </a:solidFill>
                        </a:rPr>
                        <a:t>Citra + Landmark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02020"/>
                          </a:solidFill>
                        </a:rPr>
                        <a:t>CNN + FCNN (feat concat di hidden)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02020"/>
                          </a:solidFill>
                        </a:rPr>
                        <a:t>After feat extraction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02020"/>
                          </a:solidFill>
                        </a:rPr>
                        <a:t>Joint optimization end-to-end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02020"/>
                          </a:solidFill>
                        </a:rPr>
                        <a:t>Late Fusion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02020"/>
                          </a:solidFill>
                        </a:rPr>
                        <a:t>Citra + Landmark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02020"/>
                          </a:solidFill>
                        </a:rPr>
                        <a:t>CNN + FCNN (softmax averaging)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02020"/>
                          </a:solidFill>
                        </a:rPr>
                        <a:t>After softmax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02020"/>
                          </a:solidFill>
                        </a:rPr>
                        <a:t>Independent training, weighted avg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274320" y="2651760"/>
            <a:ext cx="8595360" cy="1097280"/>
          </a:xfrm>
          <a:prstGeom prst="rect">
            <a:avLst/>
          </a:prstGeom>
          <a:solidFill>
            <a:srgbClr val="E8F0FE"/>
          </a:solidFill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73E8"/>
                </a:solidFill>
              </a:rPr>
              <a:t>Transfer Learning Backbone</a:t>
            </a:r>
          </a:p>
          <a:p>
            <a:pPr algn="l"/>
            <a:endParaRPr sz="1100" b="1" i="0">
              <a:solidFill>
                <a:srgbClr val="1A73E8"/>
              </a:solidFill>
            </a:endParaRPr>
          </a:p>
          <a:p>
            <a:pPr algn="l"/>
            <a:r>
              <a:rPr sz="1000" b="0" i="0">
                <a:solidFill>
                  <a:srgbClr val="202020"/>
                </a:solidFill>
              </a:rPr>
              <a:t>• ResNet18 pretrained di ImageNet (1000-class) → fine-tune final FC layer ke 7/4 kelas emosi.</a:t>
            </a:r>
          </a:p>
          <a:p>
            <a:pPr algn="l"/>
            <a:r>
              <a:rPr sz="1000" b="0" i="0">
                <a:solidFill>
                  <a:srgbClr val="202020"/>
                </a:solidFill>
              </a:rPr>
              <a:t>• Learning rate lebih kecil (5e-5 vs 1e-4 scratch) untuk preserve pretrained features.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3886200"/>
            <a:ext cx="8595360" cy="1005840"/>
          </a:xfrm>
          <a:prstGeom prst="rect">
            <a:avLst/>
          </a:prstGeom>
          <a:solidFill>
            <a:srgbClr val="FFF0CC"/>
          </a:solidFill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02020"/>
                </a:solidFill>
              </a:rPr>
              <a:t>Training Setup</a:t>
            </a:r>
          </a:p>
          <a:p>
            <a:pPr algn="l"/>
            <a:endParaRPr sz="1100" b="1" i="0">
              <a:solidFill>
                <a:srgbClr val="202020"/>
              </a:solidFill>
            </a:endParaRPr>
          </a:p>
          <a:p>
            <a:pPr algn="l"/>
            <a:r>
              <a:rPr sz="1000" b="0" i="0">
                <a:solidFill>
                  <a:srgbClr val="202020"/>
                </a:solidFill>
              </a:rPr>
              <a:t>• Adam optimizer • ReduceLROnPlateau scheduler (factor=0.5, patience=8)</a:t>
            </a:r>
          </a:p>
          <a:p>
            <a:pPr algn="l"/>
            <a:r>
              <a:rPr sz="1000" b="0" i="0">
                <a:solidFill>
                  <a:srgbClr val="202020"/>
                </a:solidFill>
              </a:rPr>
              <a:t>• Early stopping by Macro F1 (patience=15) • Max 50 epoch • Batch size 32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09728"/>
            <a:ext cx="85953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 i="0">
                <a:solidFill>
                  <a:srgbClr val="202020"/>
                </a:solidFill>
              </a:rPr>
              <a:t>Proposed Method — Matriks Eksperimen (Section 3.3-3.6)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777240"/>
            <a:ext cx="4206240" cy="2286000"/>
          </a:xfrm>
          <a:prstGeom prst="rect">
            <a:avLst/>
          </a:prstGeom>
          <a:solidFill>
            <a:srgbClr val="E8F0FE"/>
          </a:solidFill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73E8"/>
                </a:solidFill>
              </a:rPr>
              <a:t>Dimensi Eksperimen</a:t>
            </a:r>
          </a:p>
          <a:p>
            <a:pPr algn="l"/>
            <a:endParaRPr sz="1100" b="1" i="0">
              <a:solidFill>
                <a:srgbClr val="1A73E8"/>
              </a:solidFill>
            </a:endParaRPr>
          </a:p>
          <a:p>
            <a:pPr algn="l"/>
            <a:r>
              <a:rPr sz="1000" b="1" i="0">
                <a:solidFill>
                  <a:srgbClr val="202020"/>
                </a:solidFill>
              </a:rPr>
              <a:t>4 arsitektur × 2 backbone × 3 skenario × 2 kelas</a:t>
            </a:r>
          </a:p>
          <a:p>
            <a:pPr algn="l"/>
            <a:r>
              <a:rPr sz="1000" b="1" i="0">
                <a:solidFill>
                  <a:srgbClr val="0F9D58"/>
                </a:solidFill>
              </a:rPr>
              <a:t>= 48 total konfigurasi</a:t>
            </a:r>
          </a:p>
          <a:p>
            <a:pPr algn="l"/>
            <a:endParaRPr sz="1000" b="1" i="0">
              <a:solidFill>
                <a:srgbClr val="0F9D58"/>
              </a:solidFill>
            </a:endParaRPr>
          </a:p>
          <a:p>
            <a:pPr algn="l"/>
            <a:r>
              <a:rPr sz="1000" b="0" i="0">
                <a:solidFill>
                  <a:srgbClr val="202020"/>
                </a:solidFill>
              </a:rPr>
              <a:t>Arsitektur: CNN, FCNN, Intermediate, Late</a:t>
            </a:r>
          </a:p>
          <a:p>
            <a:pPr algn="l"/>
            <a:r>
              <a:rPr sz="1000" b="0" i="0">
                <a:solidFill>
                  <a:srgbClr val="202020"/>
                </a:solidFill>
              </a:rPr>
              <a:t>Backbone: from-scratch, ResNet18 TL</a:t>
            </a:r>
          </a:p>
          <a:p>
            <a:pPr algn="l"/>
            <a:r>
              <a:rPr sz="1000" b="0" i="0">
                <a:solidFill>
                  <a:srgbClr val="202020"/>
                </a:solidFill>
              </a:rPr>
              <a:t>Skenario: B1, B2, B3</a:t>
            </a:r>
          </a:p>
          <a:p>
            <a:pPr algn="l"/>
            <a:r>
              <a:rPr sz="1000" b="0" i="0">
                <a:solidFill>
                  <a:srgbClr val="202020"/>
                </a:solidFill>
              </a:rPr>
              <a:t>Kelas: 7-class, 4-class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63440" y="777240"/>
            <a:ext cx="4206240" cy="2286000"/>
          </a:xfrm>
          <a:prstGeom prst="rect">
            <a:avLst/>
          </a:prstGeom>
          <a:solidFill>
            <a:srgbClr val="FFF0CC"/>
          </a:solidFill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02020"/>
                </a:solidFill>
              </a:rPr>
              <a:t>Tiga Skenario untuk Imbalance</a:t>
            </a:r>
          </a:p>
          <a:p>
            <a:pPr algn="l"/>
            <a:endParaRPr sz="1100" b="1" i="0">
              <a:solidFill>
                <a:srgbClr val="202020"/>
              </a:solidFill>
            </a:endParaRPr>
          </a:p>
          <a:p>
            <a:pPr algn="l"/>
            <a:r>
              <a:rPr sz="1000" b="1" i="0">
                <a:solidFill>
                  <a:srgbClr val="202020"/>
                </a:solidFill>
              </a:rPr>
              <a:t>B1 — Baseline:</a:t>
            </a:r>
          </a:p>
          <a:p>
            <a:pPr algn="l"/>
            <a:r>
              <a:rPr sz="950" b="0" i="0">
                <a:solidFill>
                  <a:srgbClr val="202020"/>
                </a:solidFill>
              </a:rPr>
              <a:t>   Standard cross-entropy, tanpa intervention.</a:t>
            </a:r>
          </a:p>
          <a:p>
            <a:pPr algn="l"/>
            <a:endParaRPr sz="950" b="0" i="0">
              <a:solidFill>
                <a:srgbClr val="202020"/>
              </a:solidFill>
            </a:endParaRPr>
          </a:p>
          <a:p>
            <a:pPr algn="l"/>
            <a:r>
              <a:rPr sz="1000" b="1" i="0">
                <a:solidFill>
                  <a:srgbClr val="202020"/>
                </a:solidFill>
              </a:rPr>
              <a:t>B2 — Class Weights:</a:t>
            </a:r>
          </a:p>
          <a:p>
            <a:pPr algn="l"/>
            <a:r>
              <a:rPr sz="950" b="0" i="0">
                <a:solidFill>
                  <a:srgbClr val="202020"/>
                </a:solidFill>
              </a:rPr>
              <a:t>   Weighted CE loss: weight ∝ 1/freq class</a:t>
            </a:r>
          </a:p>
          <a:p>
            <a:pPr algn="l"/>
            <a:r>
              <a:rPr sz="950" b="0" i="0">
                <a:solidFill>
                  <a:srgbClr val="202020"/>
                </a:solidFill>
              </a:rPr>
              <a:t>   (beri bobot lebih ke kelas minoritas).</a:t>
            </a:r>
          </a:p>
          <a:p>
            <a:pPr algn="l"/>
            <a:endParaRPr sz="950" b="0" i="0">
              <a:solidFill>
                <a:srgbClr val="202020"/>
              </a:solidFill>
            </a:endParaRPr>
          </a:p>
          <a:p>
            <a:pPr algn="l"/>
            <a:r>
              <a:rPr sz="1000" b="1" i="0">
                <a:solidFill>
                  <a:srgbClr val="202020"/>
                </a:solidFill>
              </a:rPr>
              <a:t>B3 — Data Augmentation:</a:t>
            </a:r>
          </a:p>
          <a:p>
            <a:pPr algn="l"/>
            <a:r>
              <a:rPr sz="950" b="0" i="0">
                <a:solidFill>
                  <a:srgbClr val="202020"/>
                </a:solidFill>
              </a:rPr>
              <a:t>   Rotation, flip, brightness untuk kelas minoritas sampai seimbang.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3200400"/>
            <a:ext cx="8595360" cy="1600200"/>
          </a:xfrm>
          <a:prstGeom prst="rect">
            <a:avLst/>
          </a:prstGeom>
          <a:solidFill>
            <a:srgbClr val="E6F4EA"/>
          </a:solidFill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F9D58"/>
                </a:solidFill>
              </a:rPr>
              <a:t>Metrik Evaluasi (3 Jenis F1)</a:t>
            </a:r>
          </a:p>
          <a:p>
            <a:pPr algn="l"/>
            <a:endParaRPr sz="1100" b="1" i="0">
              <a:solidFill>
                <a:srgbClr val="0F9D58"/>
              </a:solidFill>
            </a:endParaRPr>
          </a:p>
          <a:p>
            <a:pPr algn="l"/>
            <a:r>
              <a:rPr sz="1000" b="0" i="0">
                <a:solidFill>
                  <a:srgbClr val="202020"/>
                </a:solidFill>
              </a:rPr>
              <a:t>• Macro F1 — rata-rata F1 per-kelas (treats all classes equal) → metrik utama untuk imbalanced data.</a:t>
            </a:r>
          </a:p>
          <a:p>
            <a:pPr algn="l"/>
            <a:r>
              <a:rPr sz="1000" b="0" i="0">
                <a:solidFill>
                  <a:srgbClr val="202020"/>
                </a:solidFill>
              </a:rPr>
              <a:t>• Micro F1 — = accuracy (global precision/recall).</a:t>
            </a:r>
          </a:p>
          <a:p>
            <a:pPr algn="l"/>
            <a:r>
              <a:rPr sz="1000" b="0" i="0">
                <a:solidFill>
                  <a:srgbClr val="202020"/>
                </a:solidFill>
              </a:rPr>
              <a:t>• Weighted F1 — rata-rata F1 dibobot jumlah sampel → didominasi kelas mayoritas.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09728"/>
            <a:ext cx="85953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 i="0">
                <a:solidFill>
                  <a:srgbClr val="202020"/>
                </a:solidFill>
              </a:rPr>
              <a:t>Hasil Utama — Top 10 Konfigurasi (4-Class)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77240"/>
          <a:ext cx="8595358" cy="3017520"/>
        </p:xfrm>
        <a:graphic>
          <a:graphicData uri="http://schemas.openxmlformats.org/drawingml/2006/table">
            <a:tbl>
              <a:tblPr firstRow="1" bandRow="1"/>
              <a:tblGrid>
                <a:gridCol w="61395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511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3721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2790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325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325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Rank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Backbone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Skenario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Macro F1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Accuracy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02020"/>
                          </a:solidFill>
                        </a:rPr>
                        <a:t>Intermediate Fusion</a:t>
                      </a:r>
                    </a:p>
                  </a:txBody>
                  <a:tcPr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02020"/>
                          </a:solidFill>
                        </a:rPr>
                        <a:t>TL (ResNet18)</a:t>
                      </a:r>
                    </a:p>
                  </a:txBody>
                  <a:tcPr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02020"/>
                          </a:solidFill>
                        </a:rPr>
                        <a:t>B1</a:t>
                      </a:r>
                    </a:p>
                  </a:txBody>
                  <a:tcPr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02020"/>
                          </a:solidFill>
                        </a:rPr>
                        <a:t>0.412</a:t>
                      </a:r>
                    </a:p>
                  </a:txBody>
                  <a:tcPr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02020"/>
                          </a:solidFill>
                        </a:rPr>
                        <a:t>0.740</a:t>
                      </a:r>
                    </a:p>
                  </a:txBody>
                  <a:tcPr>
                    <a:solidFill>
                      <a:srgbClr val="E6F4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02020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02020"/>
                          </a:solidFill>
                        </a:rPr>
                        <a:t>Late Fusion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02020"/>
                          </a:solidFill>
                        </a:rPr>
                        <a:t>Scratch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02020"/>
                          </a:solidFill>
                        </a:rPr>
                        <a:t>B3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02020"/>
                          </a:solidFill>
                        </a:rPr>
                        <a:t>0.394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02020"/>
                          </a:solidFill>
                        </a:rPr>
                        <a:t>0.715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02020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02020"/>
                          </a:solidFill>
                        </a:rPr>
                        <a:t>Late Fusion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02020"/>
                          </a:solidFill>
                        </a:rPr>
                        <a:t>TL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02020"/>
                          </a:solidFill>
                        </a:rPr>
                        <a:t>B3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02020"/>
                          </a:solidFill>
                        </a:rPr>
                        <a:t>0.372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02020"/>
                          </a:solidFill>
                        </a:rPr>
                        <a:t>0.702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02020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02020"/>
                          </a:solidFill>
                        </a:rPr>
                        <a:t>FCNN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02020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02020"/>
                          </a:solidFill>
                        </a:rPr>
                        <a:t>B3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02020"/>
                          </a:solidFill>
                        </a:rPr>
                        <a:t>0.361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02020"/>
                          </a:solidFill>
                        </a:rPr>
                        <a:t>0.688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02020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02020"/>
                          </a:solidFill>
                        </a:rPr>
                        <a:t>Late Fusion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02020"/>
                          </a:solidFill>
                        </a:rPr>
                        <a:t>TL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02020"/>
                          </a:solidFill>
                        </a:rPr>
                        <a:t>B1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02020"/>
                          </a:solidFill>
                        </a:rPr>
                        <a:t>0.309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02020"/>
                          </a:solidFill>
                        </a:rPr>
                        <a:t>0.695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02020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02020"/>
                          </a:solidFill>
                        </a:rPr>
                        <a:t>CNN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02020"/>
                          </a:solidFill>
                        </a:rPr>
                        <a:t>TL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02020"/>
                          </a:solidFill>
                        </a:rPr>
                        <a:t>B2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02020"/>
                          </a:solidFill>
                        </a:rPr>
                        <a:t>0.297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02020"/>
                          </a:solidFill>
                        </a:rPr>
                        <a:t>0.680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02020"/>
                          </a:solidFill>
                        </a:rPr>
                        <a:t>7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02020"/>
                          </a:solidFill>
                        </a:rPr>
                        <a:t>Intermediate Fusion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02020"/>
                          </a:solidFill>
                        </a:rPr>
                        <a:t>Scratch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02020"/>
                          </a:solidFill>
                        </a:rPr>
                        <a:t>B2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02020"/>
                          </a:solidFill>
                        </a:rPr>
                        <a:t>0.286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02020"/>
                          </a:solidFill>
                        </a:rPr>
                        <a:t>0.671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02020"/>
                          </a:solidFill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02020"/>
                          </a:solidFill>
                        </a:rPr>
                        <a:t>CNN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02020"/>
                          </a:solidFill>
                        </a:rPr>
                        <a:t>TL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02020"/>
                          </a:solidFill>
                        </a:rPr>
                        <a:t>B1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02020"/>
                          </a:solidFill>
                        </a:rPr>
                        <a:t>0.274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02020"/>
                          </a:solidFill>
                        </a:rPr>
                        <a:t>0.664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02020"/>
                          </a:solidFill>
                        </a:rPr>
                        <a:t>9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02020"/>
                          </a:solidFill>
                        </a:rPr>
                        <a:t>CNN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02020"/>
                          </a:solidFill>
                        </a:rPr>
                        <a:t>TL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02020"/>
                          </a:solidFill>
                        </a:rPr>
                        <a:t>B3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02020"/>
                          </a:solidFill>
                        </a:rPr>
                        <a:t>0.268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02020"/>
                          </a:solidFill>
                        </a:rPr>
                        <a:t>0.658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02020"/>
                          </a:solidFill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02020"/>
                          </a:solidFill>
                        </a:rPr>
                        <a:t>Intermediate Fusion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02020"/>
                          </a:solidFill>
                        </a:rPr>
                        <a:t>Scratch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02020"/>
                          </a:solidFill>
                        </a:rPr>
                        <a:t>B1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02020"/>
                          </a:solidFill>
                        </a:rPr>
                        <a:t>0.243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02020"/>
                          </a:solidFill>
                        </a:rPr>
                        <a:t>0.629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274320" y="3931920"/>
            <a:ext cx="8595360" cy="822960"/>
          </a:xfrm>
          <a:prstGeom prst="rect">
            <a:avLst/>
          </a:prstGeom>
          <a:solidFill>
            <a:srgbClr val="E6F4EA"/>
          </a:solidFill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F9D58"/>
                </a:solidFill>
              </a:rPr>
              <a:t>Temuan Utama</a:t>
            </a:r>
          </a:p>
          <a:p>
            <a:pPr algn="l"/>
            <a:r>
              <a:rPr sz="1000" b="0" i="0">
                <a:solidFill>
                  <a:srgbClr val="202020"/>
                </a:solidFill>
              </a:rPr>
              <a:t>Intermediate Fusion + Transfer Learning (ResNet18) unggul — joint feature learning dari citra &amp; landmark lebih efektif daripada late fusion pada natural expression data yang imbalanced.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09728"/>
            <a:ext cx="85953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 i="0">
                <a:solidFill>
                  <a:srgbClr val="202020"/>
                </a:solidFill>
              </a:rPr>
              <a:t>Analisis per-Kelas (Best Model: Intermediate TL 4c B1)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77240"/>
          <a:ext cx="8595357" cy="1463040"/>
        </p:xfrm>
        <a:graphic>
          <a:graphicData uri="http://schemas.openxmlformats.org/drawingml/2006/table">
            <a:tbl>
              <a:tblPr firstRow="1" bandRow="1"/>
              <a:tblGrid>
                <a:gridCol w="11993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993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940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940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994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9838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Kelas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Support Test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Precision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Recall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F1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Catatan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02020"/>
                          </a:solidFill>
                        </a:rPr>
                        <a:t>Neutral</a:t>
                      </a:r>
                    </a:p>
                  </a:txBody>
                  <a:tcPr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02020"/>
                          </a:solidFill>
                        </a:rPr>
                        <a:t>816</a:t>
                      </a:r>
                    </a:p>
                  </a:txBody>
                  <a:tcPr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02020"/>
                          </a:solidFill>
                        </a:rPr>
                        <a:t>0.90</a:t>
                      </a:r>
                    </a:p>
                  </a:txBody>
                  <a:tcPr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02020"/>
                          </a:solidFill>
                        </a:rPr>
                        <a:t>0.97</a:t>
                      </a:r>
                    </a:p>
                  </a:txBody>
                  <a:tcPr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02020"/>
                          </a:solidFill>
                        </a:rPr>
                        <a:t>0.94</a:t>
                      </a:r>
                    </a:p>
                  </a:txBody>
                  <a:tcPr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02020"/>
                          </a:solidFill>
                        </a:rPr>
                        <a:t>Dominan — mudah</a:t>
                      </a:r>
                    </a:p>
                  </a:txBody>
                  <a:tcPr>
                    <a:solidFill>
                      <a:srgbClr val="E6F4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02020"/>
                          </a:solidFill>
                        </a:rPr>
                        <a:t>Happy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02020"/>
                          </a:solidFill>
                        </a:rPr>
                        <a:t>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02020"/>
                          </a:solidFill>
                        </a:rPr>
                        <a:t>0.68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02020"/>
                          </a:solidFill>
                        </a:rPr>
                        <a:t>0.53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02020"/>
                          </a:solidFill>
                        </a:rPr>
                        <a:t>0.59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02020"/>
                          </a:solidFill>
                        </a:rPr>
                        <a:t>Cukup reliable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02020"/>
                          </a:solidFill>
                        </a:rPr>
                        <a:t>Sad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02020"/>
                          </a:solidFill>
                        </a:rPr>
                        <a:t>40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02020"/>
                          </a:solidFill>
                        </a:rPr>
                        <a:t>0.43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02020"/>
                          </a:solidFill>
                        </a:rPr>
                        <a:t>0.25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02020"/>
                          </a:solidFill>
                        </a:rPr>
                        <a:t>0.32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02020"/>
                          </a:solidFill>
                        </a:rPr>
                        <a:t>Menengah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02020"/>
                          </a:solidFill>
                        </a:rPr>
                        <a:t>Negative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02020"/>
                          </a:solidFill>
                        </a:rPr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02020"/>
                          </a:solidFill>
                        </a:rPr>
                        <a:t>0.40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02020"/>
                          </a:solidFill>
                        </a:rPr>
                        <a:t>0.13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02020"/>
                          </a:solidFill>
                        </a:rPr>
                        <a:t>0.20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02020"/>
                          </a:solidFill>
                        </a:rPr>
                        <a:t>Minoritas — sulit (combined class)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274320" y="2423160"/>
            <a:ext cx="8595360" cy="2377440"/>
          </a:xfrm>
          <a:prstGeom prst="rect">
            <a:avLst/>
          </a:prstGeom>
          <a:solidFill>
            <a:srgbClr val="FFF0CC"/>
          </a:solidFill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02020"/>
                </a:solidFill>
              </a:rPr>
              <a:t>Interpretasi</a:t>
            </a:r>
          </a:p>
          <a:p>
            <a:pPr algn="l"/>
            <a:endParaRPr sz="1100" b="1" i="0">
              <a:solidFill>
                <a:srgbClr val="202020"/>
              </a:solidFill>
            </a:endParaRPr>
          </a:p>
          <a:p>
            <a:pPr algn="l"/>
            <a:r>
              <a:rPr sz="1000" b="0" i="0">
                <a:solidFill>
                  <a:srgbClr val="202020"/>
                </a:solidFill>
              </a:rPr>
              <a:t>• Kelas minoritas (negative) menjadi bottleneck: hanya 16 sampel test → 1 kesalahan = 6% drop F1.</a:t>
            </a:r>
          </a:p>
          <a:p>
            <a:pPr algn="l"/>
            <a:r>
              <a:rPr sz="1000" b="0" i="0">
                <a:solidFill>
                  <a:srgbClr val="202020"/>
                </a:solidFill>
              </a:rPr>
              <a:t>• Happy (F1 0.59) cukup baik meski hanya 9% dari total → menunjukkan model bisa pelajari ekspresi jelas.</a:t>
            </a:r>
          </a:p>
          <a:p>
            <a:pPr algn="l"/>
            <a:r>
              <a:rPr sz="1000" b="0" i="0">
                <a:solidFill>
                  <a:srgbClr val="202020"/>
                </a:solidFill>
              </a:rPr>
              <a:t>• Sad (F1 0.32) menengah — ekspresi sedih sering ambigu dengan neutral di konteks pemrograman natural.</a:t>
            </a:r>
          </a:p>
          <a:p>
            <a:pPr algn="l"/>
            <a:r>
              <a:rPr sz="1000" b="0" i="0">
                <a:solidFill>
                  <a:srgbClr val="202020"/>
                </a:solidFill>
              </a:rPr>
              <a:t>• Macro F1 0.412 mencerminkan kesulitan kelas minoritas, bukan kegagalan model secara keseluruhan.</a:t>
            </a:r>
          </a:p>
          <a:p>
            <a:pPr algn="l"/>
            <a:r>
              <a:rPr sz="1000" b="0" i="0">
                <a:solidFill>
                  <a:srgbClr val="202020"/>
                </a:solidFill>
              </a:rPr>
              <a:t>• Confusion matrix menunjukkan mayoritas kesalahan adalah "other class → neutral" (over-prediction mayoritas).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09728"/>
            <a:ext cx="85953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 i="0">
                <a:solidFill>
                  <a:srgbClr val="202020"/>
                </a:solidFill>
              </a:rPr>
              <a:t>Diskusi — Menjawab Rumusan Masalah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777240"/>
            <a:ext cx="8595360" cy="1280160"/>
          </a:xfrm>
          <a:prstGeom prst="rect">
            <a:avLst/>
          </a:prstGeom>
          <a:solidFill>
            <a:srgbClr val="E8F0FE"/>
          </a:solidFill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73E8"/>
                </a:solidFill>
              </a:rPr>
              <a:t>5.1  RQ1: Seberapa efektif fusi multimodal vs single-modality?</a:t>
            </a:r>
          </a:p>
          <a:p>
            <a:pPr algn="l"/>
            <a:endParaRPr sz="1100" b="1" i="0">
              <a:solidFill>
                <a:srgbClr val="1A73E8"/>
              </a:solidFill>
            </a:endParaRPr>
          </a:p>
          <a:p>
            <a:pPr algn="l"/>
            <a:r>
              <a:rPr sz="950" b="0" i="0">
                <a:solidFill>
                  <a:srgbClr val="202020"/>
                </a:solidFill>
              </a:rPr>
              <a:t>• Jawaban: Multimodal (Intermediate TL) 0.412 &gt; CNN saja (0.274) &gt; FCNN saja (0.361).</a:t>
            </a:r>
          </a:p>
          <a:p>
            <a:pPr algn="l"/>
            <a:r>
              <a:rPr sz="950" b="0" i="0">
                <a:solidFill>
                  <a:srgbClr val="202020"/>
                </a:solidFill>
              </a:rPr>
              <a:t>• Fusi citra + landmark memberikan gain signifikan karena kedua modality saling melengkapi — texture dari citra, geometric dari landmark.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2148840"/>
            <a:ext cx="8595360" cy="1280160"/>
          </a:xfrm>
          <a:prstGeom prst="rect">
            <a:avLst/>
          </a:prstGeom>
          <a:solidFill>
            <a:srgbClr val="E6F4EA"/>
          </a:solidFill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F9D58"/>
                </a:solidFill>
              </a:rPr>
              <a:t>5.2  RQ2: Strategi fusion mana paling baik untuk data natural imbalanced? (Intermediate vs Late)</a:t>
            </a:r>
          </a:p>
          <a:p>
            <a:pPr algn="l"/>
            <a:endParaRPr sz="1100" b="1" i="0">
              <a:solidFill>
                <a:srgbClr val="0F9D58"/>
              </a:solidFill>
            </a:endParaRPr>
          </a:p>
          <a:p>
            <a:pPr algn="l"/>
            <a:r>
              <a:rPr sz="950" b="0" i="0">
                <a:solidFill>
                  <a:srgbClr val="202020"/>
                </a:solidFill>
              </a:rPr>
              <a:t>• Jawaban: Intermediate Fusion (0.412) &gt; Late Fusion (0.394 best scratch / 0.372 TL).</a:t>
            </a:r>
          </a:p>
          <a:p>
            <a:pPr algn="l"/>
            <a:r>
              <a:rPr sz="950" b="0" i="0">
                <a:solidFill>
                  <a:srgbClr val="202020"/>
                </a:solidFill>
              </a:rPr>
              <a:t>• Joint feature learning (Intermediate) lebih baik karena CNN &amp; FCNN dioptimalkan bersama → interaksi cross-modal dipelajari end-to-end.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3520440"/>
            <a:ext cx="8595360" cy="1280160"/>
          </a:xfrm>
          <a:prstGeom prst="rect">
            <a:avLst/>
          </a:prstGeom>
          <a:solidFill>
            <a:srgbClr val="FFF0CC"/>
          </a:solidFill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02020"/>
                </a:solidFill>
              </a:rPr>
              <a:t>5.3  RQ3: Apakah transfer learning (ResNet18 ImageNet) memberi gain pada dataset natural programming?</a:t>
            </a:r>
          </a:p>
          <a:p>
            <a:pPr algn="l"/>
            <a:endParaRPr sz="1100" b="1" i="0">
              <a:solidFill>
                <a:srgbClr val="202020"/>
              </a:solidFill>
            </a:endParaRPr>
          </a:p>
          <a:p>
            <a:pPr algn="l"/>
            <a:r>
              <a:rPr sz="950" b="0" i="0">
                <a:solidFill>
                  <a:srgbClr val="202020"/>
                </a:solidFill>
              </a:rPr>
              <a:t>• Jawaban: Ya — TL memberi gain konsisten (+0.17 Macro F1 Intermediate TL vs scratch di 4-class B1).</a:t>
            </a:r>
          </a:p>
          <a:p>
            <a:pPr algn="l"/>
            <a:r>
              <a:rPr sz="950" b="0" i="0">
                <a:solidFill>
                  <a:srgbClr val="202020"/>
                </a:solidFill>
              </a:rPr>
              <a:t>• Dataset kecil (7.091 sampel) rentan overfitting — TL menyediakan feature representation yang matang dari ImageNet sebagai starting point.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09728"/>
            <a:ext cx="85953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 i="0">
                <a:solidFill>
                  <a:srgbClr val="202020"/>
                </a:solidFill>
              </a:rPr>
              <a:t>Kesimpulan &amp; Future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777240"/>
            <a:ext cx="8595360" cy="1920240"/>
          </a:xfrm>
          <a:prstGeom prst="rect">
            <a:avLst/>
          </a:prstGeom>
          <a:solidFill>
            <a:srgbClr val="E6F4EA"/>
          </a:solidFill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F9D58"/>
                </a:solidFill>
              </a:rPr>
              <a:t>Kesimpulan</a:t>
            </a:r>
          </a:p>
          <a:p>
            <a:pPr algn="l"/>
            <a:endParaRPr sz="1200" b="1" i="0">
              <a:solidFill>
                <a:srgbClr val="0F9D58"/>
              </a:solidFill>
            </a:endParaRPr>
          </a:p>
          <a:p>
            <a:pPr algn="l"/>
            <a:r>
              <a:rPr sz="1000" b="0" i="0">
                <a:solidFill>
                  <a:srgbClr val="202020"/>
                </a:solidFill>
              </a:rPr>
              <a:t>1. Dataset baru FER untuk konteks pembelajaran pemrograman (7.091 sampel, 37 user, anotasi otomatis) berhasil dibangun.</a:t>
            </a:r>
          </a:p>
          <a:p>
            <a:pPr algn="l"/>
            <a:r>
              <a:rPr sz="1000" b="0" i="0">
                <a:solidFill>
                  <a:srgbClr val="202020"/>
                </a:solidFill>
              </a:rPr>
              <a:t>2. Dari 48 konfigurasi, Intermediate Fusion + Transfer Learning (ResNet18) 4-class B1 optimal: Macro F1 = 0.412.</a:t>
            </a:r>
          </a:p>
          <a:p>
            <a:pPr algn="l"/>
            <a:r>
              <a:rPr sz="1000" b="0" i="0">
                <a:solidFill>
                  <a:srgbClr val="202020"/>
                </a:solidFill>
              </a:rPr>
              <a:t>3. Multimodal fusion (image + landmark) mengungguli single-modal; joint feature learning lebih efektif dari late averaging.</a:t>
            </a:r>
          </a:p>
          <a:p>
            <a:pPr algn="l"/>
            <a:r>
              <a:rPr sz="1000" b="0" i="0">
                <a:solidFill>
                  <a:srgbClr val="202020"/>
                </a:solidFill>
              </a:rPr>
              <a:t>4. Transfer learning memberi gain ~5% F1 pada dataset natural — penting untuk data kecil.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2788920"/>
            <a:ext cx="8595360" cy="1965960"/>
          </a:xfrm>
          <a:prstGeom prst="rect">
            <a:avLst/>
          </a:prstGeom>
          <a:solidFill>
            <a:srgbClr val="FFF0CC"/>
          </a:solidFill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02020"/>
                </a:solidFill>
              </a:rPr>
              <a:t>Future Work</a:t>
            </a:r>
          </a:p>
          <a:p>
            <a:pPr algn="l"/>
            <a:endParaRPr sz="1200" b="1" i="0">
              <a:solidFill>
                <a:srgbClr val="202020"/>
              </a:solidFill>
            </a:endParaRPr>
          </a:p>
          <a:p>
            <a:pPr algn="l"/>
            <a:r>
              <a:rPr sz="1000" b="0" i="0">
                <a:solidFill>
                  <a:srgbClr val="202020"/>
                </a:solidFill>
              </a:rPr>
              <a:t>• Perluasan dataset: tambah user &amp; sesi → minimal 100 subjek untuk generalisasi statistik.</a:t>
            </a:r>
          </a:p>
          <a:p>
            <a:pPr algn="l"/>
            <a:r>
              <a:rPr sz="1000" b="0" i="0">
                <a:solidFill>
                  <a:srgbClr val="202020"/>
                </a:solidFill>
              </a:rPr>
              <a:t>• Anotasi manual human-labeled untuk validasi Face API + koreksi label noise.</a:t>
            </a:r>
          </a:p>
          <a:p>
            <a:pPr algn="l"/>
            <a:r>
              <a:rPr sz="1000" b="0" i="0">
                <a:solidFill>
                  <a:srgbClr val="202020"/>
                </a:solidFill>
              </a:rPr>
              <a:t>• Eksplorasi arsitektur modern: Vision Transformer (ViT) + landmark graph neural network.</a:t>
            </a:r>
          </a:p>
          <a:p>
            <a:pPr algn="l"/>
            <a:r>
              <a:rPr sz="1000" b="0" i="0">
                <a:solidFill>
                  <a:srgbClr val="202020"/>
                </a:solidFill>
              </a:rPr>
              <a:t>• Deployment real-time untuk integrasi ke learning management system (LMS) — adaptive feedback berbasis emosi.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1989</Words>
  <Application>Microsoft Office PowerPoint</Application>
  <PresentationFormat>On-screen Show (16:9)</PresentationFormat>
  <Paragraphs>344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Grinviro Biotekno</cp:lastModifiedBy>
  <cp:revision>2</cp:revision>
  <dcterms:created xsi:type="dcterms:W3CDTF">2013-01-27T09:14:16Z</dcterms:created>
  <dcterms:modified xsi:type="dcterms:W3CDTF">2026-04-18T02:14:23Z</dcterms:modified>
  <cp:category/>
</cp:coreProperties>
</file>