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63" r:id="rId113"/>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07.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07.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06.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Performa CNN</a:t>
                      </a:r>
                    </a:p>
                  </a:txBody>
                  <a:tcPr>
                    <a:solidFill>
                      <a:srgbClr val="E8F0FE"/>
                    </a:solidFill>
                  </a:tcPr>
                </a:tc>
                <a:tc>
                  <a:txBody>
                    <a:bodyPr/>
                    <a:lstStyle/>
                    <a:p>
                      <a:pPr algn="ctr"/>
                      <a:r>
                        <a:rPr sz="900">
                          <a:solidFill>
                            <a:srgbClr val="202020"/>
                          </a:solidFill>
                        </a:rPr>
                        <a:t>From scratch: 0.134 (7c) / 0.296 (4c)
Transfer Learning: 0.177 (7c) / 0.407 (4c, +37%)</a:t>
                      </a:r>
                    </a:p>
                    <a:p>
                      <a:r>
                        <a:t>Transfer Learning: 0.177 (7c) / 0.407 (4c, +37%)</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Performa FCNN</a:t>
                      </a:r>
                    </a:p>
                  </a:txBody>
                  <a:tcPr>
                    <a:solidFill>
                      <a:srgbClr val="FFFFFF"/>
                    </a:solidFill>
                  </a:tcPr>
                </a:tc>
                <a:tc>
                  <a:txBody>
                    <a:bodyPr/>
                    <a:lstStyle/>
                    <a:p>
                      <a:pPr algn="ctr"/>
                      <a:r>
                        <a:rPr sz="900">
                          <a:solidFill>
                            <a:srgbClr val="202020"/>
                          </a:solidFill>
                        </a:rPr>
                        <a:t>0.234 (7-class) / 0.394 (4-class)
Landmark terbukti lebih robust</a:t>
                      </a:r>
                    </a:p>
                    <a:p>
                      <a:r>
                        <a:t>Landmark terbukti lebih robust</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Perbandingan Fusion</a:t>
                      </a:r>
                    </a:p>
                  </a:txBody>
                  <a:tcPr>
                    <a:solidFill>
                      <a:srgbClr val="E8F0FE"/>
                    </a:solidFill>
                  </a:tcPr>
                </a:tc>
                <a:tc>
                  <a:txBody>
                    <a:bodyPr/>
                    <a:lstStyle/>
                    <a:p>
                      <a:pPr algn="ctr"/>
                      <a:r>
                        <a:rPr sz="900">
                          <a:solidFill>
                            <a:srgbClr val="202020"/>
                          </a:solidFill>
                        </a:rPr>
                        <a:t>From scratch: FCNN &gt; Late Fusion &gt; Intermediate
TL: Late Fusion TL terbaik (0.442)</a:t>
                      </a:r>
                    </a:p>
                    <a:p>
                      <a:r>
                        <a:t>TL: Late Fusion TL terbaik (0.442)</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Transfer Learning sebagai kontribusi</a:t>
                      </a:r>
                    </a:p>
                  </a:txBody>
                  <a:tcPr>
                    <a:solidFill>
                      <a:srgbClr val="E8F0FE"/>
                    </a:solidFill>
                  </a:tcPr>
                </a:tc>
                <a:tc>
                  <a:txBody>
                    <a:bodyPr/>
                    <a:lstStyle/>
                    <a:p>
                      <a:pPr algn="ctr"/>
                      <a:r>
                        <a:rPr sz="900">
                          <a:solidFill>
                            <a:srgbClr val="202020"/>
                          </a:solidFill>
                        </a:rPr>
                        <a:t>TL meningkatkan F1: 0.394 → 0.442. Cukup signifikan sebagai kontribusi tesis?</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FCNN &gt; Fusion (from scratch)</a:t>
                      </a:r>
                    </a:p>
                  </a:txBody>
                  <a:tcPr>
                    <a:solidFill>
                      <a:srgbClr val="FFFFFF"/>
                    </a:solidFill>
                  </a:tcPr>
                </a:tc>
                <a:tc>
                  <a:txBody>
                    <a:bodyPr/>
                    <a:lstStyle/>
                    <a:p>
                      <a:pPr algn="ctr"/>
                      <a:r>
                        <a:rPr sz="900">
                          <a:solidFill>
                            <a:srgbClr val="202020"/>
                          </a:solidFill>
                        </a:rPr>
                        <a:t>Bertentangan hipotesis proposal — namun dengan TL, fusion akhirnya terbaik. Narasi tesis?</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Macro F1 0.442</a:t>
                      </a:r>
                    </a:p>
                  </a:txBody>
                  <a:tcPr>
                    <a:solidFill>
                      <a:srgbClr val="E8F0FE"/>
                    </a:solidFill>
                  </a:tcPr>
                </a:tc>
                <a:tc>
                  <a:txBody>
                    <a:bodyPr/>
                    <a:lstStyle/>
                    <a:p>
                      <a:pPr algn="ctr"/>
                      <a:r>
                        <a:rPr sz="900">
                          <a:solidFill>
                            <a:srgbClr val="202020"/>
                          </a:solidFill>
                        </a:rPr>
                        <a:t>Acceptable untuk tesis S2? Dataset naturalistik, nyata, sangat imbalanced</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Validasi ahli psikologi</a:t>
                      </a:r>
                    </a:p>
                  </a:txBody>
                  <a:tcPr>
                    <a:solidFill>
                      <a:srgbClr val="FFFFFF"/>
                    </a:solidFill>
                  </a:tcPr>
                </a:tc>
                <a:tc>
                  <a:txBody>
                    <a:bodyPr/>
                    <a:lstStyle/>
                    <a:p>
                      <a:pPr algn="ctr"/>
                      <a:r>
                        <a:rPr sz="900">
                          <a:solidFill>
                            <a:srgbClr val="202020"/>
                          </a:solidFill>
                        </a:rPr>
                        <a:t>Opsi A/B/C? 1 atau 2 ahli? Perlu honorarium?</a:t>
                      </a:r>
                    </a:p>
                  </a:txBody>
                  <a:tcPr>
                    <a:solidFill>
                      <a:srgbClr val="FFFFFF"/>
                    </a:solidFill>
                  </a:tcPr>
                </a:tc>
              </a:tr>
            </a:tbl>
          </a:graphicData>
        </a:graphic>
      </p:graphicFrame>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