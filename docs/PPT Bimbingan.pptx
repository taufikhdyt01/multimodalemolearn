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58" r:id="rId108"/>
    <p:sldId id="359" r:id="rId109"/>
    <p:sldId id="360" r:id="rId110"/>
    <p:sldId id="361" r:id="rId111"/>
    <p:sldId id="362" r:id="rId112"/>
    <p:sldId id="355" r:id="rId105"/>
    <p:sldId id="356" r:id="rId106"/>
    <p:sldId id="357" r:id="rId107"/>
    <p:sldId id="337" r:id="rId87"/>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106.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106.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05.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 Dataset JAFFE &amp; CK+</a:t>
            </a:r>
          </a:p>
        </p:txBody>
      </p:sp>
      <p:sp>
        <p:nvSpPr>
          <p:cNvPr id="3" name="TextBox 2"/>
          <p:cNvSpPr txBox="1"/>
          <p:nvPr/>
        </p:nvSpPr>
        <p:spPr>
          <a:xfrm>
            <a:off x="274320" y="731520"/>
            <a:ext cx="8595360" cy="731520"/>
          </a:xfrm>
          <a:prstGeom prst="rect">
            <a:avLst/>
          </a:prstGeom>
          <a:solidFill>
            <a:srgbClr val="FFF0CC"/>
          </a:solidFill>
        </p:spPr>
        <p:txBody>
          <a:bodyPr wrap="square">
            <a:spAutoFit/>
          </a:bodyPr>
          <a:lstStyle/>
          <a:p>
            <a:pPr algn="l"/>
            <a:r>
              <a:rPr sz="950" b="1" i="0">
                <a:solidFill>
                  <a:srgbClr val="202020"/>
                </a:solidFill>
              </a:rPr>
              <a:t>Tujuan: Menguji pipeline dan arsitektur yang sama pada dataset standar untuk</a:t>
            </a:r>
          </a:p>
          <a:p>
            <a:pPr algn="l"/>
            <a:r>
              <a:rPr sz="950" b="0" i="0">
                <a:solidFill>
                  <a:srgbClr val="202020"/>
                </a:solidFill>
              </a:rPr>
              <a:t>menunjukkan bahwa performa rendah di dataset sendiri disebabkan oleh</a:t>
            </a:r>
          </a:p>
          <a:p>
            <a:pPr algn="l"/>
            <a:r>
              <a:rPr sz="950" b="0" i="0">
                <a:solidFill>
                  <a:srgbClr val="202020"/>
                </a:solidFill>
              </a:rPr>
              <a:t>karakteristik data (natural expression, imbalanced), bukan kelemahan arsitektur.</a:t>
            </a:r>
          </a:p>
        </p:txBody>
      </p:sp>
      <p:graphicFrame>
        <p:nvGraphicFramePr>
          <p:cNvPr id="4" name="Table 3"/>
          <p:cNvGraphicFramePr>
            <a:graphicFrameLocks noGrp="1"/>
          </p:cNvGraphicFramePr>
          <p:nvPr/>
        </p:nvGraphicFramePr>
        <p:xfrm>
          <a:off x="274320" y="1600200"/>
          <a:ext cx="8595360" cy="1097280"/>
        </p:xfrm>
        <a:graphic>
          <a:graphicData uri="http://schemas.openxmlformats.org/drawingml/2006/table">
            <a:tbl>
              <a:tblPr firstRow="1" bandRow="1"/>
              <a:tblGrid>
                <a:gridCol w="1828800"/>
                <a:gridCol w="914400"/>
                <a:gridCol w="731520"/>
                <a:gridCol w="914400"/>
                <a:gridCol w="4206240"/>
              </a:tblGrid>
              <a:tr h="274320">
                <a:tc>
                  <a:txBody>
                    <a:bodyPr/>
                    <a:lstStyle/>
                    <a:p>
                      <a:pPr algn="ctr"/>
                      <a:r>
                        <a:rPr sz="1000" b="1">
                          <a:solidFill>
                            <a:srgbClr val="FFFFFF"/>
                          </a:solidFill>
                        </a:rPr>
                        <a:t>Dataset</a:t>
                      </a:r>
                    </a:p>
                  </a:txBody>
                  <a:tcPr>
                    <a:solidFill>
                      <a:srgbClr val="1A73E8"/>
                    </a:solidFill>
                  </a:tcPr>
                </a:tc>
                <a:tc>
                  <a:txBody>
                    <a:bodyPr/>
                    <a:lstStyle/>
                    <a:p>
                      <a:pPr algn="ctr"/>
                      <a:r>
                        <a:rPr sz="1000" b="1">
                          <a:solidFill>
                            <a:srgbClr val="FFFFFF"/>
                          </a:solidFill>
                        </a:rPr>
                        <a:t>Sampel</a:t>
                      </a:r>
                    </a:p>
                  </a:txBody>
                  <a:tcPr>
                    <a:solidFill>
                      <a:srgbClr val="1A73E8"/>
                    </a:solidFill>
                  </a:tcPr>
                </a:tc>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Subjek</a:t>
                      </a:r>
                    </a:p>
                  </a:txBody>
                  <a:tcPr>
                    <a:solidFill>
                      <a:srgbClr val="1A73E8"/>
                    </a:solidFill>
                  </a:tcPr>
                </a:tc>
                <a:tc>
                  <a:txBody>
                    <a:bodyPr/>
                    <a:lstStyle/>
                    <a:p>
                      <a:pPr algn="ctr"/>
                      <a:r>
                        <a:rPr sz="1000" b="1">
                          <a:solidFill>
                            <a:srgbClr val="FFFFFF"/>
                          </a:solidFill>
                        </a:rPr>
                        <a:t>Karakteristik</a:t>
                      </a:r>
                    </a:p>
                  </a:txBody>
                  <a:tcPr>
                    <a:solidFill>
                      <a:srgbClr val="1A73E8"/>
                    </a:solidFill>
                  </a:tcPr>
                </a:tc>
              </a:tr>
              <a:tr h="274320">
                <a:tc>
                  <a:txBody>
                    <a:bodyPr/>
                    <a:lstStyle/>
                    <a:p>
                      <a:pPr algn="l"/>
                      <a:r>
                        <a:rPr sz="1000" b="1">
                          <a:solidFill>
                            <a:srgbClr val="202020"/>
                          </a:solidFill>
                        </a:rPr>
                        <a:t>JAFFE</a:t>
                      </a:r>
                    </a:p>
                  </a:txBody>
                  <a:tcPr>
                    <a:solidFill>
                      <a:srgbClr val="E8F0FE"/>
                    </a:solidFill>
                  </a:tcPr>
                </a:tc>
                <a:tc>
                  <a:txBody>
                    <a:bodyPr/>
                    <a:lstStyle/>
                    <a:p>
                      <a:pPr algn="ctr"/>
                      <a:r>
                        <a:rPr sz="1000">
                          <a:solidFill>
                            <a:srgbClr val="202020"/>
                          </a:solidFill>
                        </a:rPr>
                        <a:t>213</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10</a:t>
                      </a:r>
                    </a:p>
                  </a:txBody>
                  <a:tcPr>
                    <a:solidFill>
                      <a:srgbClr val="E8F0FE"/>
                    </a:solidFill>
                  </a:tcPr>
                </a:tc>
                <a:tc>
                  <a:txBody>
                    <a:bodyPr/>
                    <a:lstStyle/>
                    <a:p>
                      <a:pPr algn="ctr"/>
                      <a:r>
                        <a:rPr sz="1000">
                          <a:solidFill>
                            <a:srgbClr val="202020"/>
                          </a:solidFill>
                        </a:rPr>
                        <a:t>Lab, wanita Jepang, seimbang</a:t>
                      </a:r>
                    </a:p>
                  </a:txBody>
                  <a:tcPr>
                    <a:solidFill>
                      <a:srgbClr val="E8F0FE"/>
                    </a:solidFill>
                  </a:tcPr>
                </a:tc>
              </a:tr>
              <a:tr h="274320">
                <a:tc>
                  <a:txBody>
                    <a:bodyPr/>
                    <a:lstStyle/>
                    <a:p>
                      <a:pPr algn="l"/>
                      <a:r>
                        <a:rPr sz="1000" b="1">
                          <a:solidFill>
                            <a:srgbClr val="202020"/>
                          </a:solidFill>
                        </a:rPr>
                        <a:t>CK+</a:t>
                      </a:r>
                    </a:p>
                  </a:txBody>
                  <a:tcPr>
                    <a:solidFill>
                      <a:srgbClr val="FFFFFF"/>
                    </a:solidFill>
                  </a:tcPr>
                </a:tc>
                <a:tc>
                  <a:txBody>
                    <a:bodyPr/>
                    <a:lstStyle/>
                    <a:p>
                      <a:pPr algn="ctr"/>
                      <a:r>
                        <a:rPr sz="1000">
                          <a:solidFill>
                            <a:srgbClr val="202020"/>
                          </a:solidFill>
                        </a:rPr>
                        <a:t>636</a:t>
                      </a:r>
                    </a:p>
                  </a:txBody>
                  <a:tcPr>
                    <a:solidFill>
                      <a:srgbClr val="FFFFFF"/>
                    </a:solidFill>
                  </a:tcPr>
                </a:tc>
                <a:tc>
                  <a:txBody>
                    <a:bodyPr/>
                    <a:lstStyle/>
                    <a:p>
                      <a:pPr algn="ctr"/>
                      <a:r>
                        <a:rPr sz="1000">
                          <a:solidFill>
                            <a:srgbClr val="202020"/>
                          </a:solidFill>
                        </a:rPr>
                        <a:t>7+contempt</a:t>
                      </a:r>
                    </a:p>
                  </a:txBody>
                  <a:tcPr>
                    <a:solidFill>
                      <a:srgbClr val="FFFFFF"/>
                    </a:solidFill>
                  </a:tcPr>
                </a:tc>
                <a:tc>
                  <a:txBody>
                    <a:bodyPr/>
                    <a:lstStyle/>
                    <a:p>
                      <a:pPr algn="ctr"/>
                      <a:r>
                        <a:rPr sz="1000">
                          <a:solidFill>
                            <a:srgbClr val="202020"/>
                          </a:solidFill>
                        </a:rPr>
                        <a:t>118</a:t>
                      </a:r>
                    </a:p>
                  </a:txBody>
                  <a:tcPr>
                    <a:solidFill>
                      <a:srgbClr val="FFFFFF"/>
                    </a:solidFill>
                  </a:tcPr>
                </a:tc>
                <a:tc>
                  <a:txBody>
                    <a:bodyPr/>
                    <a:lstStyle/>
                    <a:p>
                      <a:pPr algn="ctr"/>
                      <a:r>
                        <a:rPr sz="1000">
                          <a:solidFill>
                            <a:srgbClr val="202020"/>
                          </a:solidFill>
                        </a:rPr>
                        <a:t>Lab, ekspresi peak, semi-balanced</a:t>
                      </a:r>
                    </a:p>
                  </a:txBody>
                  <a:tcPr>
                    <a:solidFill>
                      <a:srgbClr val="FFFFFF"/>
                    </a:solidFill>
                  </a:tcPr>
                </a:tc>
              </a:tr>
              <a:tr h="274320">
                <a:tc>
                  <a:txBody>
                    <a:bodyPr/>
                    <a:lstStyle/>
                    <a:p>
                      <a:pPr algn="l"/>
                      <a:r>
                        <a:rPr sz="1000" b="1">
                          <a:solidFill>
                            <a:srgbClr val="202020"/>
                          </a:solidFill>
                        </a:rPr>
                        <a:t>Dataset sendiri</a:t>
                      </a:r>
                    </a:p>
                  </a:txBody>
                  <a:tcPr>
                    <a:solidFill>
                      <a:srgbClr val="E8F0FE"/>
                    </a:solidFill>
                  </a:tcPr>
                </a:tc>
                <a:tc>
                  <a:txBody>
                    <a:bodyPr/>
                    <a:lstStyle/>
                    <a:p>
                      <a:pPr algn="ctr"/>
                      <a:r>
                        <a:rPr sz="1000">
                          <a:solidFill>
                            <a:srgbClr val="202020"/>
                          </a:solidFill>
                        </a:rPr>
                        <a:t>7,091</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Natural (programming), imbalanced</a:t>
                      </a:r>
                    </a:p>
                  </a:txBody>
                  <a:tcPr>
                    <a:solidFill>
                      <a:srgbClr val="E8F0FE"/>
                    </a:solidFill>
                  </a:tcPr>
                </a:tc>
              </a:tr>
            </a:tbl>
          </a:graphicData>
        </a:graphic>
      </p:graphicFrame>
      <p:sp>
        <p:nvSpPr>
          <p:cNvPr id="5" name="TextBox 4"/>
          <p:cNvSpPr txBox="1"/>
          <p:nvPr/>
        </p:nvSpPr>
        <p:spPr>
          <a:xfrm>
            <a:off x="274320" y="2834640"/>
            <a:ext cx="8595360" cy="731520"/>
          </a:xfrm>
          <a:prstGeom prst="rect">
            <a:avLst/>
          </a:prstGeom>
          <a:solidFill>
            <a:srgbClr val="E8F0FE"/>
          </a:solidFill>
        </p:spPr>
        <p:txBody>
          <a:bodyPr wrap="square">
            <a:spAutoFit/>
          </a:bodyPr>
          <a:lstStyle/>
          <a:p>
            <a:pPr algn="l"/>
            <a:r>
              <a:rPr sz="1000" b="1">
                <a:solidFill>
                  <a:srgbClr val="202020"/>
                </a:solidFill>
              </a:rPr>
              <a:t>Evaluasi yang dilakukan:</a:t>
            </a:r>
          </a:p>
          <a:p>
            <a:pPr algn="l"/>
          </a:p>
          <a:p>
            <a:pPr algn="l"/>
          </a:p>
          <a:p>
            <a:pPr algn="l"/>
          </a:p>
          <a:p>
            <a:pPr algn="l"/>
            <a:r>
              <a:rPr sz="950">
                <a:solidFill>
                  <a:srgbClr val="202020"/>
                </a:solidFill>
              </a:rPr>
              <a:t>1. Single Split (80/10/10 subject-wise) -- semua model, B1 Baseline</a:t>
            </a:r>
          </a:p>
          <a:p>
            <a:pPr algn="l"/>
            <a:r>
              <a:rPr sz="950">
                <a:solidFill>
                  <a:srgbClr val="202020"/>
                </a:solidFill>
              </a:rPr>
              <a:t>2. JAFFE: LOSO (10 fold) -- 10 subjek = LOSO natural (1 fold = 1 subjek)</a:t>
            </a:r>
          </a:p>
          <a:p>
            <a:pPr algn="l"/>
            <a:r>
              <a:rPr sz="950">
                <a:solidFill>
                  <a:srgbClr val="202020"/>
                </a:solidFill>
              </a:rPr>
              <a:t>3. CK+: 10-Fold CV (subject-wise) -- 118 subjek dibagi 10 grup (LOSO 118 fold terlalu mahal)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7-Class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0.304</a:t>
                      </a:r>
                    </a:p>
                  </a:txBody>
                  <a:tcPr>
                    <a:solidFill>
                      <a:srgbClr val="E8F0FE"/>
                    </a:solidFill>
                  </a:tcPr>
                </a:tc>
                <a:tc>
                  <a:txBody>
                    <a:bodyPr/>
                    <a:lstStyle/>
                    <a:p>
                      <a:pPr algn="ctr"/>
                      <a:r>
                        <a:rPr sz="1000" b="0">
                          <a:solidFill>
                            <a:srgbClr val="202020"/>
                          </a:solidFill>
                        </a:rPr>
                        <a:t>0.461</a:t>
                      </a:r>
                    </a:p>
                  </a:txBody>
                  <a:tcPr>
                    <a:solidFill>
                      <a:srgbClr val="E8F0FE"/>
                    </a:solidFill>
                  </a:tcPr>
                </a:tc>
                <a:tc>
                  <a:txBody>
                    <a:bodyPr/>
                    <a:lstStyle/>
                    <a:p>
                      <a:pPr algn="ctr"/>
                      <a:r>
                        <a:rPr sz="1000" b="0">
                          <a:solidFill>
                            <a:srgbClr val="202020"/>
                          </a:solidFill>
                        </a:rPr>
                        <a:t>0.137</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0.209</a:t>
                      </a:r>
                    </a:p>
                  </a:txBody>
                  <a:tcPr>
                    <a:solidFill>
                      <a:srgbClr val="FFFFFF"/>
                    </a:solidFill>
                  </a:tcPr>
                </a:tc>
                <a:tc>
                  <a:txBody>
                    <a:bodyPr/>
                    <a:lstStyle/>
                    <a:p>
                      <a:pPr algn="ctr"/>
                      <a:r>
                        <a:rPr sz="1000" b="0">
                          <a:solidFill>
                            <a:srgbClr val="202020"/>
                          </a:solidFill>
                        </a:rPr>
                        <a:t>0.395</a:t>
                      </a:r>
                    </a:p>
                  </a:txBody>
                  <a:tcPr>
                    <a:solidFill>
                      <a:srgbClr val="FFFFFF"/>
                    </a:solidFill>
                  </a:tcPr>
                </a:tc>
                <a:tc>
                  <a:txBody>
                    <a:bodyPr/>
                    <a:lstStyle/>
                    <a:p>
                      <a:pPr algn="ctr"/>
                      <a:r>
                        <a:rPr sz="1000" b="0">
                          <a:solidFill>
                            <a:srgbClr val="202020"/>
                          </a:solidFill>
                        </a:rPr>
                        <a:t>0.158</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1">
                          <a:solidFill>
                            <a:srgbClr val="202020"/>
                          </a:solidFill>
                        </a:rPr>
                        <a:t>0.545</a:t>
                      </a:r>
                    </a:p>
                  </a:txBody>
                  <a:tcPr>
                    <a:solidFill>
                      <a:srgbClr val="C6EFCE"/>
                    </a:solidFill>
                  </a:tcPr>
                </a:tc>
                <a:tc>
                  <a:txBody>
                    <a:bodyPr/>
                    <a:lstStyle/>
                    <a:p>
                      <a:pPr algn="ctr"/>
                      <a:r>
                        <a:rPr sz="1000" b="0">
                          <a:solidFill>
                            <a:srgbClr val="202020"/>
                          </a:solidFill>
                        </a:rPr>
                        <a:t>0.498</a:t>
                      </a:r>
                    </a:p>
                  </a:txBody>
                  <a:tcPr>
                    <a:solidFill>
                      <a:srgbClr val="E8F0FE"/>
                    </a:solidFill>
                  </a:tcPr>
                </a:tc>
                <a:tc>
                  <a:txBody>
                    <a:bodyPr/>
                    <a:lstStyle/>
                    <a:p>
                      <a:pPr algn="ctr"/>
                      <a:r>
                        <a:rPr sz="1000" b="0">
                          <a:solidFill>
                            <a:srgbClr val="202020"/>
                          </a:solidFill>
                        </a:rPr>
                        <a:t>0.175</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0.037</a:t>
                      </a:r>
                    </a:p>
                  </a:txBody>
                  <a:tcPr>
                    <a:solidFill>
                      <a:srgbClr val="FFFFFF"/>
                    </a:solidFill>
                  </a:tcPr>
                </a:tc>
                <a:tc>
                  <a:txBody>
                    <a:bodyPr/>
                    <a:lstStyle/>
                    <a:p>
                      <a:pPr algn="ctr"/>
                      <a:r>
                        <a:rPr sz="1000" b="0">
                          <a:solidFill>
                            <a:srgbClr val="202020"/>
                          </a:solidFill>
                        </a:rPr>
                        <a:t>0.316</a:t>
                      </a:r>
                    </a:p>
                  </a:txBody>
                  <a:tcPr>
                    <a:solidFill>
                      <a:srgbClr val="FFFFFF"/>
                    </a:solidFill>
                  </a:tcPr>
                </a:tc>
                <a:tc>
                  <a:txBody>
                    <a:bodyPr/>
                    <a:lstStyle/>
                    <a:p>
                      <a:pPr algn="ctr"/>
                      <a:r>
                        <a:rPr sz="1000" b="0">
                          <a:solidFill>
                            <a:srgbClr val="202020"/>
                          </a:solidFill>
                        </a:rPr>
                        <a:t>0.137</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0.464</a:t>
                      </a:r>
                    </a:p>
                  </a:txBody>
                  <a:tcPr>
                    <a:solidFill>
                      <a:srgbClr val="E8F0FE"/>
                    </a:solidFill>
                  </a:tcPr>
                </a:tc>
                <a:tc>
                  <a:txBody>
                    <a:bodyPr/>
                    <a:lstStyle/>
                    <a:p>
                      <a:pPr algn="ctr"/>
                      <a:r>
                        <a:rPr sz="1000" b="1">
                          <a:solidFill>
                            <a:srgbClr val="202020"/>
                          </a:solidFill>
                        </a:rPr>
                        <a:t>0.913</a:t>
                      </a:r>
                    </a:p>
                  </a:txBody>
                  <a:tcPr>
                    <a:solidFill>
                      <a:srgbClr val="C6EFCE"/>
                    </a:solidFill>
                  </a:tcPr>
                </a:tc>
                <a:tc>
                  <a:txBody>
                    <a:bodyPr/>
                    <a:lstStyle/>
                    <a:p>
                      <a:pPr algn="ctr"/>
                      <a:r>
                        <a:rPr sz="1000" b="0">
                          <a:solidFill>
                            <a:srgbClr val="202020"/>
                          </a:solidFill>
                        </a:rPr>
                        <a:t>0.154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0.447</a:t>
                      </a:r>
                    </a:p>
                  </a:txBody>
                  <a:tcPr>
                    <a:solidFill>
                      <a:srgbClr val="FFFFFF"/>
                    </a:solidFill>
                  </a:tcPr>
                </a:tc>
                <a:tc>
                  <a:txBody>
                    <a:bodyPr/>
                    <a:lstStyle/>
                    <a:p>
                      <a:pPr algn="ctr"/>
                      <a:r>
                        <a:rPr sz="1000" b="0">
                          <a:solidFill>
                            <a:srgbClr val="202020"/>
                          </a:solidFill>
                        </a:rPr>
                        <a:t>0.833</a:t>
                      </a:r>
                    </a:p>
                  </a:txBody>
                  <a:tcPr>
                    <a:solidFill>
                      <a:srgbClr val="FFFFFF"/>
                    </a:solidFill>
                  </a:tcPr>
                </a:tc>
                <a:tc>
                  <a:txBody>
                    <a:bodyPr/>
                    <a:lstStyle/>
                    <a:p>
                      <a:pPr algn="ctr"/>
                      <a:r>
                        <a:rPr sz="1000" b="0">
                          <a:solidFill>
                            <a:srgbClr val="202020"/>
                          </a:solidFill>
                        </a:rPr>
                        <a:t>0.180</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(0.545) | CK+ = CNN TL (0.913) | Dataset sendiri = Intermediate TL (0.180)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4-Class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0.177</a:t>
                      </a:r>
                    </a:p>
                  </a:txBody>
                  <a:tcPr>
                    <a:solidFill>
                      <a:srgbClr val="E8F0FE"/>
                    </a:solidFill>
                  </a:tcPr>
                </a:tc>
                <a:tc>
                  <a:txBody>
                    <a:bodyPr/>
                    <a:lstStyle/>
                    <a:p>
                      <a:pPr algn="ctr"/>
                      <a:r>
                        <a:rPr sz="1000" b="0">
                          <a:solidFill>
                            <a:srgbClr val="202020"/>
                          </a:solidFill>
                        </a:rPr>
                        <a:t>0.645</a:t>
                      </a:r>
                    </a:p>
                  </a:txBody>
                  <a:tcPr>
                    <a:solidFill>
                      <a:srgbClr val="E8F0FE"/>
                    </a:solidFill>
                  </a:tcPr>
                </a:tc>
                <a:tc>
                  <a:txBody>
                    <a:bodyPr/>
                    <a:lstStyle/>
                    <a:p>
                      <a:pPr algn="ctr"/>
                      <a:r>
                        <a:rPr sz="1000" b="0">
                          <a:solidFill>
                            <a:srgbClr val="202020"/>
                          </a:solidFill>
                        </a:rPr>
                        <a:t>0.238</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1">
                          <a:solidFill>
                            <a:srgbClr val="202020"/>
                          </a:solidFill>
                        </a:rPr>
                        <a:t>0.438</a:t>
                      </a:r>
                    </a:p>
                  </a:txBody>
                  <a:tcPr>
                    <a:solidFill>
                      <a:srgbClr val="C6EFCE"/>
                    </a:solidFill>
                  </a:tcPr>
                </a:tc>
                <a:tc>
                  <a:txBody>
                    <a:bodyPr/>
                    <a:lstStyle/>
                    <a:p>
                      <a:pPr algn="ctr"/>
                      <a:r>
                        <a:rPr sz="1000" b="0">
                          <a:solidFill>
                            <a:srgbClr val="202020"/>
                          </a:solidFill>
                        </a:rPr>
                        <a:t>0.592</a:t>
                      </a:r>
                    </a:p>
                  </a:txBody>
                  <a:tcPr>
                    <a:solidFill>
                      <a:srgbClr val="FFFFFF"/>
                    </a:solidFill>
                  </a:tcPr>
                </a:tc>
                <a:tc>
                  <a:txBody>
                    <a:bodyPr/>
                    <a:lstStyle/>
                    <a:p>
                      <a:pPr algn="ctr"/>
                      <a:r>
                        <a:rPr sz="1000" b="0">
                          <a:solidFill>
                            <a:srgbClr val="202020"/>
                          </a:solidFill>
                        </a:rPr>
                        <a:t>0.361</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0.396</a:t>
                      </a:r>
                    </a:p>
                  </a:txBody>
                  <a:tcPr>
                    <a:solidFill>
                      <a:srgbClr val="E8F0FE"/>
                    </a:solidFill>
                  </a:tcPr>
                </a:tc>
                <a:tc>
                  <a:txBody>
                    <a:bodyPr/>
                    <a:lstStyle/>
                    <a:p>
                      <a:pPr algn="ctr"/>
                      <a:r>
                        <a:rPr sz="1000" b="0">
                          <a:solidFill>
                            <a:srgbClr val="202020"/>
                          </a:solidFill>
                        </a:rPr>
                        <a:t>0.592</a:t>
                      </a:r>
                    </a:p>
                  </a:txBody>
                  <a:tcPr>
                    <a:solidFill>
                      <a:srgbClr val="E8F0FE"/>
                    </a:solidFill>
                  </a:tcPr>
                </a:tc>
                <a:tc>
                  <a:txBody>
                    <a:bodyPr/>
                    <a:lstStyle/>
                    <a:p>
                      <a:pPr algn="ctr"/>
                      <a:r>
                        <a:rPr sz="1000" b="0">
                          <a:solidFill>
                            <a:srgbClr val="202020"/>
                          </a:solidFill>
                        </a:rPr>
                        <a:t>0.394</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0.177</a:t>
                      </a:r>
                    </a:p>
                  </a:txBody>
                  <a:tcPr>
                    <a:solidFill>
                      <a:srgbClr val="FFFFFF"/>
                    </a:solidFill>
                  </a:tcPr>
                </a:tc>
                <a:tc>
                  <a:txBody>
                    <a:bodyPr/>
                    <a:lstStyle/>
                    <a:p>
                      <a:pPr algn="ctr"/>
                      <a:r>
                        <a:rPr sz="1000" b="0">
                          <a:solidFill>
                            <a:srgbClr val="202020"/>
                          </a:solidFill>
                        </a:rPr>
                        <a:t>0.567</a:t>
                      </a:r>
                    </a:p>
                  </a:txBody>
                  <a:tcPr>
                    <a:solidFill>
                      <a:srgbClr val="FFFFFF"/>
                    </a:solidFill>
                  </a:tcPr>
                </a:tc>
                <a:tc>
                  <a:txBody>
                    <a:bodyPr/>
                    <a:lstStyle/>
                    <a:p>
                      <a:pPr algn="ctr"/>
                      <a:r>
                        <a:rPr sz="1000" b="0">
                          <a:solidFill>
                            <a:srgbClr val="202020"/>
                          </a:solidFill>
                        </a:rPr>
                        <a:t>0.243</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0.330</a:t>
                      </a:r>
                    </a:p>
                  </a:txBody>
                  <a:tcPr>
                    <a:solidFill>
                      <a:srgbClr val="E8F0FE"/>
                    </a:solidFill>
                  </a:tcPr>
                </a:tc>
                <a:tc>
                  <a:txBody>
                    <a:bodyPr/>
                    <a:lstStyle/>
                    <a:p>
                      <a:pPr algn="ctr"/>
                      <a:r>
                        <a:rPr sz="1000" b="0">
                          <a:solidFill>
                            <a:srgbClr val="202020"/>
                          </a:solidFill>
                        </a:rPr>
                        <a:t>0.675</a:t>
                      </a:r>
                    </a:p>
                  </a:txBody>
                  <a:tcPr>
                    <a:solidFill>
                      <a:srgbClr val="E8F0FE"/>
                    </a:solidFill>
                  </a:tcPr>
                </a:tc>
                <a:tc>
                  <a:txBody>
                    <a:bodyPr/>
                    <a:lstStyle/>
                    <a:p>
                      <a:pPr algn="ctr"/>
                      <a:r>
                        <a:rPr sz="1000" b="0">
                          <a:solidFill>
                            <a:srgbClr val="202020"/>
                          </a:solidFill>
                        </a:rPr>
                        <a:t>0.274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0.375</a:t>
                      </a:r>
                    </a:p>
                  </a:txBody>
                  <a:tcPr>
                    <a:solidFill>
                      <a:srgbClr val="FFFFFF"/>
                    </a:solidFill>
                  </a:tcPr>
                </a:tc>
                <a:tc>
                  <a:txBody>
                    <a:bodyPr/>
                    <a:lstStyle/>
                    <a:p>
                      <a:pPr algn="ctr"/>
                      <a:r>
                        <a:rPr sz="1000" b="1">
                          <a:solidFill>
                            <a:srgbClr val="202020"/>
                          </a:solidFill>
                        </a:rPr>
                        <a:t>0.837</a:t>
                      </a:r>
                    </a:p>
                  </a:txBody>
                  <a:tcPr>
                    <a:solidFill>
                      <a:srgbClr val="C6EFCE"/>
                    </a:solidFill>
                  </a:tcPr>
                </a:tc>
                <a:tc>
                  <a:txBody>
                    <a:bodyPr/>
                    <a:lstStyle/>
                    <a:p>
                      <a:pPr algn="ctr"/>
                      <a:r>
                        <a:rPr sz="1000" b="1">
                          <a:solidFill>
                            <a:srgbClr val="202020"/>
                          </a:solidFill>
                        </a:rPr>
                        <a:t>0.412</a:t>
                      </a:r>
                    </a:p>
                  </a:txBody>
                  <a:tcPr>
                    <a:solidFill>
                      <a:srgbClr val="C6EFCE"/>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FCNN (0.438) | CK+ = Intermediate TL (0.837) | Dataset sendiri = Intermediate TL (0.412)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7-Class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0.249 +/- 0.111</a:t>
                      </a:r>
                    </a:p>
                  </a:txBody>
                  <a:tcPr>
                    <a:solidFill>
                      <a:srgbClr val="E8F0FE"/>
                    </a:solidFill>
                  </a:tcPr>
                </a:tc>
                <a:tc>
                  <a:txBody>
                    <a:bodyPr/>
                    <a:lstStyle/>
                    <a:p>
                      <a:pPr algn="ctr"/>
                      <a:r>
                        <a:rPr sz="900" b="0">
                          <a:solidFill>
                            <a:srgbClr val="202020"/>
                          </a:solidFill>
                        </a:rPr>
                        <a:t>0.404 +/- 0.049</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0.304 +/- 0.157</a:t>
                      </a:r>
                    </a:p>
                  </a:txBody>
                  <a:tcPr>
                    <a:solidFill>
                      <a:srgbClr val="FFFFFF"/>
                    </a:solidFill>
                  </a:tcPr>
                </a:tc>
                <a:tc>
                  <a:txBody>
                    <a:bodyPr/>
                    <a:lstStyle/>
                    <a:p>
                      <a:pPr algn="ctr"/>
                      <a:r>
                        <a:rPr sz="900" b="0">
                          <a:solidFill>
                            <a:srgbClr val="202020"/>
                          </a:solidFill>
                        </a:rPr>
                        <a:t>0.478 +/- 0.022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0.467 +/- 0.092</a:t>
                      </a:r>
                    </a:p>
                  </a:txBody>
                  <a:tcPr>
                    <a:solidFill>
                      <a:srgbClr val="C6EFCE"/>
                    </a:solidFill>
                  </a:tcPr>
                </a:tc>
                <a:tc>
                  <a:txBody>
                    <a:bodyPr/>
                    <a:lstStyle/>
                    <a:p>
                      <a:pPr algn="ctr"/>
                      <a:r>
                        <a:rPr sz="900" b="0">
                          <a:solidFill>
                            <a:srgbClr val="202020"/>
                          </a:solidFill>
                        </a:rPr>
                        <a:t>0.544 +/- 0.060</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0.129 +/- 0.070</a:t>
                      </a:r>
                    </a:p>
                  </a:txBody>
                  <a:tcPr>
                    <a:solidFill>
                      <a:srgbClr val="FFFFFF"/>
                    </a:solidFill>
                  </a:tcPr>
                </a:tc>
                <a:tc>
                  <a:txBody>
                    <a:bodyPr/>
                    <a:lstStyle/>
                    <a:p>
                      <a:pPr algn="ctr"/>
                      <a:r>
                        <a:rPr sz="900" b="0">
                          <a:solidFill>
                            <a:srgbClr val="202020"/>
                          </a:solidFill>
                        </a:rPr>
                        <a:t>0.226 +/- 0.082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0.426 +/- 0.143</a:t>
                      </a:r>
                    </a:p>
                  </a:txBody>
                  <a:tcPr>
                    <a:solidFill>
                      <a:srgbClr val="E8F0FE"/>
                    </a:solidFill>
                  </a:tcPr>
                </a:tc>
                <a:tc>
                  <a:txBody>
                    <a:bodyPr/>
                    <a:lstStyle/>
                    <a:p>
                      <a:pPr algn="ctr"/>
                      <a:r>
                        <a:rPr sz="900" b="0">
                          <a:solidFill>
                            <a:srgbClr val="202020"/>
                          </a:solidFill>
                        </a:rPr>
                        <a:t>0.734 +/- 0.082</a:t>
                      </a:r>
                    </a:p>
                  </a:txBody>
                  <a:tcPr>
                    <a:solidFill>
                      <a:srgbClr val="E8F0F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0.293 +/- 0.156</a:t>
                      </a:r>
                    </a:p>
                  </a:txBody>
                  <a:tcPr>
                    <a:solidFill>
                      <a:srgbClr val="FFFFFF"/>
                    </a:solidFill>
                  </a:tcPr>
                </a:tc>
                <a:tc>
                  <a:txBody>
                    <a:bodyPr/>
                    <a:lstStyle/>
                    <a:p>
                      <a:pPr algn="ctr"/>
                      <a:r>
                        <a:rPr sz="900" b="1">
                          <a:solidFill>
                            <a:srgbClr val="202020"/>
                          </a:solidFill>
                        </a:rPr>
                        <a:t>0.783 +/- 0.107</a:t>
                      </a:r>
                    </a:p>
                  </a:txBody>
                  <a:tcPr>
                    <a:solidFill>
                      <a:srgbClr val="C6EFCE"/>
                    </a:solidFill>
                  </a:tcPr>
                </a:tc>
                <a:tc>
                  <a:txBody>
                    <a:bodyPr/>
                    <a:lstStyle/>
                    <a:p>
                      <a:pPr algn="ctr"/>
                      <a:r>
                        <a:rPr sz="900" b="0">
                          <a:solidFill>
                            <a:srgbClr val="202020"/>
                          </a:solidFill>
                        </a:rPr>
                        <a:t>0.370 +/- 0.125</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(0.467) | CK+ = Intermediate TL (0.783)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4-Class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0.338 +/- 0.161</a:t>
                      </a:r>
                    </a:p>
                  </a:txBody>
                  <a:tcPr>
                    <a:solidFill>
                      <a:srgbClr val="E8F0FE"/>
                    </a:solidFill>
                  </a:tcPr>
                </a:tc>
                <a:tc>
                  <a:txBody>
                    <a:bodyPr/>
                    <a:lstStyle/>
                    <a:p>
                      <a:pPr algn="ctr"/>
                      <a:r>
                        <a:rPr sz="900" b="0">
                          <a:solidFill>
                            <a:srgbClr val="202020"/>
                          </a:solidFill>
                        </a:rPr>
                        <a:t>0.584 +/- 0.163</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0.431 +/- 0.194</a:t>
                      </a:r>
                    </a:p>
                  </a:txBody>
                  <a:tcPr>
                    <a:solidFill>
                      <a:srgbClr val="FFFFFF"/>
                    </a:solidFill>
                  </a:tcPr>
                </a:tc>
                <a:tc>
                  <a:txBody>
                    <a:bodyPr/>
                    <a:lstStyle/>
                    <a:p>
                      <a:pPr algn="ctr"/>
                      <a:r>
                        <a:rPr sz="900" b="0">
                          <a:solidFill>
                            <a:srgbClr val="202020"/>
                          </a:solidFill>
                        </a:rPr>
                        <a:t>0.598 +/- 0.036</a:t>
                      </a:r>
                    </a:p>
                  </a:txBody>
                  <a:tcPr>
                    <a:solidFill>
                      <a:srgbClr val="FFFFFF"/>
                    </a:solidFill>
                  </a:tcPr>
                </a:tc>
                <a:tc>
                  <a:txBody>
                    <a:bodyPr/>
                    <a:lstStyle/>
                    <a:p>
                      <a:pPr algn="ctr"/>
                      <a:r>
                        <a:rPr sz="900" b="0">
                          <a:solidFill>
                            <a:srgbClr val="202020"/>
                          </a:solidFill>
                        </a:rPr>
                        <a:t>0.399 +/- 0.062*</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0.530 +/- 0.126</a:t>
                      </a:r>
                    </a:p>
                  </a:txBody>
                  <a:tcPr>
                    <a:solidFill>
                      <a:srgbClr val="C6EFCE"/>
                    </a:solidFill>
                  </a:tcPr>
                </a:tc>
                <a:tc>
                  <a:txBody>
                    <a:bodyPr/>
                    <a:lstStyle/>
                    <a:p>
                      <a:pPr algn="ctr"/>
                      <a:r>
                        <a:rPr sz="900" b="0">
                          <a:solidFill>
                            <a:srgbClr val="202020"/>
                          </a:solidFill>
                        </a:rPr>
                        <a:t>0.621 +/- 0.031</a:t>
                      </a:r>
                    </a:p>
                  </a:txBody>
                  <a:tcPr>
                    <a:solidFill>
                      <a:srgbClr val="E8F0FE"/>
                    </a:solidFill>
                  </a:tcPr>
                </a:tc>
                <a:tc>
                  <a:txBody>
                    <a:bodyPr/>
                    <a:lstStyle/>
                    <a:p>
                      <a:pPr algn="ctr"/>
                      <a:r>
                        <a:rPr sz="900" b="0">
                          <a:solidFill>
                            <a:srgbClr val="202020"/>
                          </a:solidFill>
                        </a:rPr>
                        <a:t>0.401 +/- 0.055*</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0.202 +/- 0.066</a:t>
                      </a:r>
                    </a:p>
                  </a:txBody>
                  <a:tcPr>
                    <a:solidFill>
                      <a:srgbClr val="FFFFFF"/>
                    </a:solidFill>
                  </a:tcPr>
                </a:tc>
                <a:tc>
                  <a:txBody>
                    <a:bodyPr/>
                    <a:lstStyle/>
                    <a:p>
                      <a:pPr algn="ctr"/>
                      <a:r>
                        <a:rPr sz="900" b="0">
                          <a:solidFill>
                            <a:srgbClr val="202020"/>
                          </a:solidFill>
                        </a:rPr>
                        <a:t>0.458 +/- 0.172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0.510 +/- 0.155</a:t>
                      </a:r>
                    </a:p>
                  </a:txBody>
                  <a:tcPr>
                    <a:solidFill>
                      <a:srgbClr val="E8F0FE"/>
                    </a:solidFill>
                  </a:tcPr>
                </a:tc>
                <a:tc>
                  <a:txBody>
                    <a:bodyPr/>
                    <a:lstStyle/>
                    <a:p>
                      <a:pPr algn="ctr"/>
                      <a:r>
                        <a:rPr sz="900" b="1">
                          <a:solidFill>
                            <a:srgbClr val="202020"/>
                          </a:solidFill>
                        </a:rPr>
                        <a:t>0.755 +/- 0.079</a:t>
                      </a:r>
                    </a:p>
                  </a:txBody>
                  <a:tcPr>
                    <a:solidFill>
                      <a:srgbClr val="C6EFC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0.450 +/- 0.214</a:t>
                      </a:r>
                    </a:p>
                  </a:txBody>
                  <a:tcPr>
                    <a:solidFill>
                      <a:srgbClr val="FFFFFF"/>
                    </a:solidFill>
                  </a:tcPr>
                </a:tc>
                <a:tc>
                  <a:txBody>
                    <a:bodyPr/>
                    <a:lstStyle/>
                    <a:p>
                      <a:pPr algn="ctr"/>
                      <a:r>
                        <a:rPr sz="900" b="0">
                          <a:solidFill>
                            <a:srgbClr val="202020"/>
                          </a:solidFill>
                        </a:rPr>
                        <a:t>0.715 +/- 0.054</a:t>
                      </a:r>
                    </a:p>
                  </a:txBody>
                  <a:tcPr>
                    <a:solidFill>
                      <a:srgbClr val="FFFFFF"/>
                    </a:solidFill>
                  </a:tcPr>
                </a:tc>
                <a:tc>
                  <a:txBody>
                    <a:bodyPr/>
                    <a:lstStyle/>
                    <a:p>
                      <a:pPr algn="ctr"/>
                      <a:r>
                        <a:rPr sz="900" b="1">
                          <a:solidFill>
                            <a:srgbClr val="202020"/>
                          </a:solidFill>
                        </a:rPr>
                        <a:t>0.435 +/- 0.068*</a:t>
                      </a:r>
                    </a:p>
                  </a:txBody>
                  <a:tcPr>
                    <a:solidFill>
                      <a:srgbClr val="C6EFCE"/>
                    </a:solidFill>
                  </a:tcPr>
                </a:tc>
              </a:tr>
            </a:tbl>
          </a:graphicData>
        </a:graphic>
      </p:graphicFrame>
      <p:sp>
        <p:nvSpPr>
          <p:cNvPr id="4" name="TextBox 3"/>
          <p:cNvSpPr txBox="1"/>
          <p:nvPr/>
        </p:nvSpPr>
        <p:spPr>
          <a:xfrm>
            <a:off x="274320" y="3017520"/>
            <a:ext cx="8595360" cy="320040"/>
          </a:xfrm>
          <a:prstGeom prst="rect">
            <a:avLst/>
          </a:prstGeom>
          <a:noFill/>
        </p:spPr>
        <p:txBody>
          <a:bodyPr wrap="square">
            <a:spAutoFit/>
          </a:bodyPr>
          <a:lstStyle/>
          <a:p>
            <a:pPr algn="l"/>
            <a:r>
              <a:rPr sz="900" b="1" i="0">
                <a:solidFill>
                  <a:srgbClr val="202020"/>
                </a:solidFill>
              </a:rPr>
              <a:t>Best: JAFFE = Late Fusion (0.530) | CK+ = CNN TL (0.755) | Dataset sendiri = Intermediate TL (0.435)</a:t>
            </a:r>
          </a:p>
          <a:p>
            <a:pPr algn="l"/>
            <a:r>
              <a:rPr sz="800" b="0" i="1">
                <a:solidFill>
                  <a:srgbClr val="666666"/>
                </a:solidFill>
              </a:rPr>
              <a:t>*5-Fold CV (dataset sendiri) | LOSO Intermediate TL: 0.370 +/- 0.125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JAFFE (LOSO) &amp; CK+ (10-Fold CV)</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202020"/>
                </a:solidFill>
              </a:rPr>
              <a:t>Best Model per Dataset (Macro F1)</a:t>
            </a:r>
          </a:p>
        </p:txBody>
      </p:sp>
      <p:graphicFrame>
        <p:nvGraphicFramePr>
          <p:cNvPr id="4" name="Table 3"/>
          <p:cNvGraphicFramePr>
            <a:graphicFrameLocks noGrp="1"/>
          </p:cNvGraphicFramePr>
          <p:nvPr/>
        </p:nvGraphicFramePr>
        <p:xfrm>
          <a:off x="274320" y="914400"/>
          <a:ext cx="8595359" cy="2011680"/>
        </p:xfrm>
        <a:graphic>
          <a:graphicData uri="http://schemas.openxmlformats.org/drawingml/2006/table">
            <a:tbl>
              <a:tblPr firstRow="1" bandRow="1"/>
              <a:tblGrid>
                <a:gridCol w="2455817"/>
                <a:gridCol w="1674420"/>
                <a:gridCol w="2232561"/>
                <a:gridCol w="2232561"/>
              </a:tblGrid>
              <a:tr h="287382">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Evaluasi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87382">
                <a:tc>
                  <a:txBody>
                    <a:bodyPr/>
                    <a:lstStyle/>
                    <a:p>
                      <a:pPr algn="l"/>
                      <a:r>
                        <a:rPr sz="950" b="1">
                          <a:solidFill>
                            <a:srgbClr val="202020"/>
                          </a:solidFill>
                        </a:rPr>
                        <a:t>CK+ 7-class</a:t>
                      </a:r>
                    </a:p>
                  </a:txBody>
                  <a:tcPr>
                    <a:solidFill>
                      <a:srgbClr val="C6EFCE"/>
                    </a:solidFill>
                  </a:tcPr>
                </a:tc>
                <a:tc>
                  <a:txBody>
                    <a:bodyPr/>
                    <a:lstStyle/>
                    <a:p>
                      <a:pPr algn="l"/>
                      <a:r>
                        <a:rPr sz="950" b="1">
                          <a:solidFill>
                            <a:srgbClr val="202020"/>
                          </a:solidFill>
                        </a:rPr>
                        <a:t>10-Fold CV</a:t>
                      </a:r>
                    </a:p>
                  </a:txBody>
                  <a:tcPr>
                    <a:solidFill>
                      <a:srgbClr val="C6EFCE"/>
                    </a:solidFill>
                  </a:tcPr>
                </a:tc>
                <a:tc>
                  <a:txBody>
                    <a:bodyPr/>
                    <a:lstStyle/>
                    <a:p>
                      <a:pPr algn="ctr"/>
                      <a:r>
                        <a:rPr sz="950" b="1">
                          <a:solidFill>
                            <a:srgbClr val="202020"/>
                          </a:solidFill>
                        </a:rPr>
                        <a:t>Intermediate TL</a:t>
                      </a:r>
                    </a:p>
                  </a:txBody>
                  <a:tcPr>
                    <a:solidFill>
                      <a:srgbClr val="C6EFCE"/>
                    </a:solidFill>
                  </a:tcPr>
                </a:tc>
                <a:tc>
                  <a:txBody>
                    <a:bodyPr/>
                    <a:lstStyle/>
                    <a:p>
                      <a:pPr algn="ctr"/>
                      <a:r>
                        <a:rPr sz="950" b="1">
                          <a:solidFill>
                            <a:srgbClr val="202020"/>
                          </a:solidFill>
                        </a:rPr>
                        <a:t>0.783 +/- 0.107</a:t>
                      </a:r>
                    </a:p>
                  </a:txBody>
                  <a:tcPr>
                    <a:solidFill>
                      <a:srgbClr val="C6EFCE"/>
                    </a:solidFill>
                  </a:tcPr>
                </a:tc>
              </a:tr>
              <a:tr h="287382">
                <a:tc>
                  <a:txBody>
                    <a:bodyPr/>
                    <a:lstStyle/>
                    <a:p>
                      <a:pPr algn="l"/>
                      <a:r>
                        <a:rPr sz="950" b="1">
                          <a:solidFill>
                            <a:srgbClr val="202020"/>
                          </a:solidFill>
                        </a:rPr>
                        <a:t>CK+ 4-class</a:t>
                      </a:r>
                    </a:p>
                  </a:txBody>
                  <a:tcPr>
                    <a:solidFill>
                      <a:srgbClr val="FFFFFF"/>
                    </a:solidFill>
                  </a:tcPr>
                </a:tc>
                <a:tc>
                  <a:txBody>
                    <a:bodyPr/>
                    <a:lstStyle/>
                    <a:p>
                      <a:pPr algn="l"/>
                      <a:r>
                        <a:rPr sz="950" b="0">
                          <a:solidFill>
                            <a:srgbClr val="202020"/>
                          </a:solidFill>
                        </a:rPr>
                        <a:t>10-Fold CV</a:t>
                      </a:r>
                    </a:p>
                  </a:txBody>
                  <a:tcPr>
                    <a:solidFill>
                      <a:srgbClr val="FFFFFF"/>
                    </a:solidFill>
                  </a:tcPr>
                </a:tc>
                <a:tc>
                  <a:txBody>
                    <a:bodyPr/>
                    <a:lstStyle/>
                    <a:p>
                      <a:pPr algn="ctr"/>
                      <a:r>
                        <a:rPr sz="950" b="0">
                          <a:solidFill>
                            <a:srgbClr val="202020"/>
                          </a:solidFill>
                        </a:rPr>
                        <a:t>CNN TL</a:t>
                      </a:r>
                    </a:p>
                  </a:txBody>
                  <a:tcPr>
                    <a:solidFill>
                      <a:srgbClr val="FFFFFF"/>
                    </a:solidFill>
                  </a:tcPr>
                </a:tc>
                <a:tc>
                  <a:txBody>
                    <a:bodyPr/>
                    <a:lstStyle/>
                    <a:p>
                      <a:pPr algn="ctr"/>
                      <a:r>
                        <a:rPr sz="950" b="0">
                          <a:solidFill>
                            <a:srgbClr val="202020"/>
                          </a:solidFill>
                        </a:rPr>
                        <a:t>0.755 +/- 0.079</a:t>
                      </a:r>
                    </a:p>
                  </a:txBody>
                  <a:tcPr>
                    <a:solidFill>
                      <a:srgbClr val="FFFFFF"/>
                    </a:solidFill>
                  </a:tcPr>
                </a:tc>
              </a:tr>
              <a:tr h="287382">
                <a:tc>
                  <a:txBody>
                    <a:bodyPr/>
                    <a:lstStyle/>
                    <a:p>
                      <a:pPr algn="l"/>
                      <a:r>
                        <a:rPr sz="950" b="1">
                          <a:solidFill>
                            <a:srgbClr val="202020"/>
                          </a:solidFill>
                        </a:rPr>
                        <a:t>JAFFE 7-class</a:t>
                      </a:r>
                    </a:p>
                  </a:txBody>
                  <a:tcPr>
                    <a:solidFill>
                      <a:srgbClr val="E8F0FE"/>
                    </a:solidFill>
                  </a:tcPr>
                </a:tc>
                <a:tc>
                  <a:txBody>
                    <a:bodyPr/>
                    <a:lstStyle/>
                    <a:p>
                      <a:pPr algn="l"/>
                      <a:r>
                        <a:rPr sz="950" b="0">
                          <a:solidFill>
                            <a:srgbClr val="202020"/>
                          </a:solidFill>
                        </a:rPr>
                        <a:t>LOSO (10)</a:t>
                      </a:r>
                    </a:p>
                  </a:txBody>
                  <a:tcPr>
                    <a:solidFill>
                      <a:srgbClr val="E8F0FE"/>
                    </a:solidFill>
                  </a:tcPr>
                </a:tc>
                <a:tc>
                  <a:txBody>
                    <a:bodyPr/>
                    <a:lstStyle/>
                    <a:p>
                      <a:pPr algn="ctr"/>
                      <a:r>
                        <a:rPr sz="950" b="0">
                          <a:solidFill>
                            <a:srgbClr val="202020"/>
                          </a:solidFill>
                        </a:rPr>
                        <a:t>Late Fusion</a:t>
                      </a:r>
                    </a:p>
                  </a:txBody>
                  <a:tcPr>
                    <a:solidFill>
                      <a:srgbClr val="E8F0FE"/>
                    </a:solidFill>
                  </a:tcPr>
                </a:tc>
                <a:tc>
                  <a:txBody>
                    <a:bodyPr/>
                    <a:lstStyle/>
                    <a:p>
                      <a:pPr algn="ctr"/>
                      <a:r>
                        <a:rPr sz="950" b="0">
                          <a:solidFill>
                            <a:srgbClr val="202020"/>
                          </a:solidFill>
                        </a:rPr>
                        <a:t>0.467 +/- 0.092</a:t>
                      </a:r>
                    </a:p>
                  </a:txBody>
                  <a:tcPr>
                    <a:solidFill>
                      <a:srgbClr val="E8F0FE"/>
                    </a:solidFill>
                  </a:tcPr>
                </a:tc>
              </a:tr>
              <a:tr h="287382">
                <a:tc>
                  <a:txBody>
                    <a:bodyPr/>
                    <a:lstStyle/>
                    <a:p>
                      <a:pPr algn="l"/>
                      <a:r>
                        <a:rPr sz="950" b="1">
                          <a:solidFill>
                            <a:srgbClr val="202020"/>
                          </a:solidFill>
                        </a:rPr>
                        <a:t>JAFFE 4-class</a:t>
                      </a:r>
                    </a:p>
                  </a:txBody>
                  <a:tcPr>
                    <a:solidFill>
                      <a:srgbClr val="FFFFFF"/>
                    </a:solidFill>
                  </a:tcPr>
                </a:tc>
                <a:tc>
                  <a:txBody>
                    <a:bodyPr/>
                    <a:lstStyle/>
                    <a:p>
                      <a:pPr algn="l"/>
                      <a:r>
                        <a:rPr sz="950" b="0">
                          <a:solidFill>
                            <a:srgbClr val="202020"/>
                          </a:solidFill>
                        </a:rPr>
                        <a:t>LOSO (10)</a:t>
                      </a:r>
                    </a:p>
                  </a:txBody>
                  <a:tcPr>
                    <a:solidFill>
                      <a:srgbClr val="FFFFFF"/>
                    </a:solidFill>
                  </a:tcPr>
                </a:tc>
                <a:tc>
                  <a:txBody>
                    <a:bodyPr/>
                    <a:lstStyle/>
                    <a:p>
                      <a:pPr algn="ctr"/>
                      <a:r>
                        <a:rPr sz="950" b="0">
                          <a:solidFill>
                            <a:srgbClr val="202020"/>
                          </a:solidFill>
                        </a:rPr>
                        <a:t>Late Fusion</a:t>
                      </a:r>
                    </a:p>
                  </a:txBody>
                  <a:tcPr>
                    <a:solidFill>
                      <a:srgbClr val="FFFFFF"/>
                    </a:solidFill>
                  </a:tcPr>
                </a:tc>
                <a:tc>
                  <a:txBody>
                    <a:bodyPr/>
                    <a:lstStyle/>
                    <a:p>
                      <a:pPr algn="ctr"/>
                      <a:r>
                        <a:rPr sz="950" b="0">
                          <a:solidFill>
                            <a:srgbClr val="202020"/>
                          </a:solidFill>
                        </a:rPr>
                        <a:t>0.530 +/- 0.126</a:t>
                      </a:r>
                    </a:p>
                  </a:txBody>
                  <a:tcPr>
                    <a:solidFill>
                      <a:srgbClr val="FFFFFF"/>
                    </a:solidFill>
                  </a:tcPr>
                </a:tc>
              </a:tr>
              <a:tr h="287382">
                <a:tc>
                  <a:txBody>
                    <a:bodyPr/>
                    <a:lstStyle/>
                    <a:p>
                      <a:pPr algn="l"/>
                      <a:r>
                        <a:rPr sz="950" b="1">
                          <a:solidFill>
                            <a:srgbClr val="202020"/>
                          </a:solidFill>
                        </a:rPr>
                        <a:t>Dataset sendiri 4c</a:t>
                      </a:r>
                    </a:p>
                  </a:txBody>
                  <a:tcPr>
                    <a:solidFill>
                      <a:srgbClr val="E8F0FE"/>
                    </a:solidFill>
                  </a:tcPr>
                </a:tc>
                <a:tc>
                  <a:txBody>
                    <a:bodyPr/>
                    <a:lstStyle/>
                    <a:p>
                      <a:pPr algn="l"/>
                      <a:r>
                        <a:rPr sz="950" b="0">
                          <a:solidFill>
                            <a:srgbClr val="202020"/>
                          </a:solidFill>
                        </a:rPr>
                        <a:t>5-Fold CV</a:t>
                      </a:r>
                    </a:p>
                  </a:txBody>
                  <a:tcPr>
                    <a:solidFill>
                      <a:srgbClr val="E8F0FE"/>
                    </a:solidFill>
                  </a:tcPr>
                </a:tc>
                <a:tc>
                  <a:txBody>
                    <a:bodyPr/>
                    <a:lstStyle/>
                    <a:p>
                      <a:pPr algn="ctr"/>
                      <a:r>
                        <a:rPr sz="950" b="0">
                          <a:solidFill>
                            <a:srgbClr val="202020"/>
                          </a:solidFill>
                        </a:rPr>
                        <a:t>Intermediate TL</a:t>
                      </a:r>
                    </a:p>
                  </a:txBody>
                  <a:tcPr>
                    <a:solidFill>
                      <a:srgbClr val="E8F0FE"/>
                    </a:solidFill>
                  </a:tcPr>
                </a:tc>
                <a:tc>
                  <a:txBody>
                    <a:bodyPr/>
                    <a:lstStyle/>
                    <a:p>
                      <a:pPr algn="ctr"/>
                      <a:r>
                        <a:rPr sz="950" b="0">
                          <a:solidFill>
                            <a:srgbClr val="202020"/>
                          </a:solidFill>
                        </a:rPr>
                        <a:t>0.435 +/- 0.068</a:t>
                      </a:r>
                    </a:p>
                  </a:txBody>
                  <a:tcPr>
                    <a:solidFill>
                      <a:srgbClr val="E8F0FE"/>
                    </a:solidFill>
                  </a:tcPr>
                </a:tc>
              </a:tr>
              <a:tr h="287388">
                <a:tc>
                  <a:txBody>
                    <a:bodyPr/>
                    <a:lstStyle/>
                    <a:p>
                      <a:pPr algn="l"/>
                      <a:r>
                        <a:rPr sz="950" b="1">
                          <a:solidFill>
                            <a:srgbClr val="202020"/>
                          </a:solidFill>
                        </a:rPr>
                        <a:t>Dataset sendiri 4c</a:t>
                      </a:r>
                    </a:p>
                  </a:txBody>
                  <a:tcPr>
                    <a:solidFill>
                      <a:srgbClr val="FFFFFF"/>
                    </a:solidFill>
                  </a:tcPr>
                </a:tc>
                <a:tc>
                  <a:txBody>
                    <a:bodyPr/>
                    <a:lstStyle/>
                    <a:p>
                      <a:pPr algn="l"/>
                      <a:r>
                        <a:rPr sz="950" b="0">
                          <a:solidFill>
                            <a:srgbClr val="202020"/>
                          </a:solidFill>
                        </a:rPr>
                        <a:t>LOSO (37)</a:t>
                      </a:r>
                    </a:p>
                  </a:txBody>
                  <a:tcPr>
                    <a:solidFill>
                      <a:srgbClr val="FFFFFF"/>
                    </a:solidFill>
                  </a:tcPr>
                </a:tc>
                <a:tc>
                  <a:txBody>
                    <a:bodyPr/>
                    <a:lstStyle/>
                    <a:p>
                      <a:pPr algn="ctr"/>
                      <a:r>
                        <a:rPr sz="950" b="0">
                          <a:solidFill>
                            <a:srgbClr val="202020"/>
                          </a:solidFill>
                        </a:rPr>
                        <a:t>Intermediate TL</a:t>
                      </a:r>
                    </a:p>
                  </a:txBody>
                  <a:tcPr>
                    <a:solidFill>
                      <a:srgbClr val="FFFFFF"/>
                    </a:solidFill>
                  </a:tcPr>
                </a:tc>
                <a:tc>
                  <a:txBody>
                    <a:bodyPr/>
                    <a:lstStyle/>
                    <a:p>
                      <a:pPr algn="ctr"/>
                      <a:r>
                        <a:rPr sz="950" b="0">
                          <a:solidFill>
                            <a:srgbClr val="202020"/>
                          </a:solidFill>
                        </a:rPr>
                        <a:t>0.370 +/- 0.125</a:t>
                      </a:r>
                    </a:p>
                  </a:txBody>
                  <a:tcPr>
                    <a:solidFill>
                      <a:srgbClr val="FFFFFF"/>
                    </a:solidFill>
                  </a:tcPr>
                </a:tc>
              </a:tr>
            </a:tbl>
          </a:graphicData>
        </a:graphic>
      </p:graphicFrame>
      <p:sp>
        <p:nvSpPr>
          <p:cNvPr id="5" name="TextBox 4"/>
          <p:cNvSpPr txBox="1"/>
          <p:nvPr/>
        </p:nvSpPr>
        <p:spPr>
          <a:xfrm>
            <a:off x="274320" y="3063240"/>
            <a:ext cx="8595360" cy="502920"/>
          </a:xfrm>
          <a:prstGeom prst="rect">
            <a:avLst/>
          </a:prstGeom>
          <a:solidFill>
            <a:srgbClr val="E8F0FE"/>
          </a:solidFill>
        </p:spPr>
        <p:txBody>
          <a:bodyPr wrap="square">
            <a:spAutoFit/>
          </a:bodyPr>
          <a:lstStyle/>
          <a:p>
            <a:pPr algn="ctr"/>
            <a:r>
              <a:rPr sz="1000" b="1" i="0">
                <a:solidFill>
                  <a:srgbClr val="202020"/>
                </a:solidFill>
              </a:rPr>
              <a:t>Pola: CK+ (0.783) &gt;&gt; JAFFE (0.467) &gt; Dataset sendiri (0.370)</a:t>
            </a:r>
          </a:p>
          <a:p>
            <a:pPr algn="ctr"/>
            <a:r>
              <a:rPr sz="900" b="0" i="0">
                <a:solidFill>
                  <a:srgbClr val="666666"/>
                </a:solidFill>
              </a:rPr>
              <a:t>Semakin natural ekspresinya dan semakin imbalanced, semakin rendah performanya</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Perbandingan dengan Paper State-of-the-Art</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1A73E8"/>
                </a:solidFill>
              </a:rPr>
              <a:t>CK+ (10-Fold CV)</a:t>
            </a:r>
          </a:p>
        </p:txBody>
      </p:sp>
      <p:graphicFrame>
        <p:nvGraphicFramePr>
          <p:cNvPr id="4" name="Table 3"/>
          <p:cNvGraphicFramePr>
            <a:graphicFrameLocks noGrp="1"/>
          </p:cNvGraphicFramePr>
          <p:nvPr/>
        </p:nvGraphicFramePr>
        <p:xfrm>
          <a:off x="274320" y="914400"/>
          <a:ext cx="8595358" cy="1554480"/>
        </p:xfrm>
        <a:graphic>
          <a:graphicData uri="http://schemas.openxmlformats.org/drawingml/2006/table">
            <a:tbl>
              <a:tblPr firstRow="1" bandRow="1"/>
              <a:tblGrid>
                <a:gridCol w="1910080"/>
                <a:gridCol w="848924"/>
                <a:gridCol w="3183466"/>
                <a:gridCol w="2652888"/>
              </a:tblGrid>
              <a:tr h="259080">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59080">
                <a:tc>
                  <a:txBody>
                    <a:bodyPr/>
                    <a:lstStyle/>
                    <a:p>
                      <a:pPr algn="l"/>
                      <a:r>
                        <a:rPr sz="850" b="1">
                          <a:solidFill>
                            <a:srgbClr val="202020"/>
                          </a:solidFill>
                        </a:rPr>
                        <a:t>Dada et al.</a:t>
                      </a:r>
                    </a:p>
                  </a:txBody>
                  <a:tcPr>
                    <a:solidFill>
                      <a:srgbClr val="E8F0FE"/>
                    </a:solidFill>
                  </a:tcPr>
                </a:tc>
                <a:tc>
                  <a:txBody>
                    <a:bodyPr/>
                    <a:lstStyle/>
                    <a:p>
                      <a:pPr algn="l"/>
                      <a:r>
                        <a:rPr sz="850" b="0">
                          <a:solidFill>
                            <a:srgbClr val="202020"/>
                          </a:solidFill>
                        </a:rPr>
                        <a:t>2023</a:t>
                      </a:r>
                    </a:p>
                  </a:txBody>
                  <a:tcPr>
                    <a:solidFill>
                      <a:srgbClr val="E8F0FE"/>
                    </a:solidFill>
                  </a:tcPr>
                </a:tc>
                <a:tc>
                  <a:txBody>
                    <a:bodyPr/>
                    <a:lstStyle/>
                    <a:p>
                      <a:pPr algn="ctr"/>
                      <a:r>
                        <a:rPr sz="850" b="0">
                          <a:solidFill>
                            <a:srgbClr val="202020"/>
                          </a:solidFill>
                        </a:rPr>
                        <a:t>CNN-10</a:t>
                      </a:r>
                    </a:p>
                  </a:txBody>
                  <a:tcPr>
                    <a:solidFill>
                      <a:srgbClr val="E8F0FE"/>
                    </a:solidFill>
                  </a:tcPr>
                </a:tc>
                <a:tc>
                  <a:txBody>
                    <a:bodyPr/>
                    <a:lstStyle/>
                    <a:p>
                      <a:pPr algn="ctr"/>
                      <a:r>
                        <a:rPr sz="850" b="0">
                          <a:solidFill>
                            <a:srgbClr val="202020"/>
                          </a:solidFill>
                        </a:rPr>
                        <a:t>99.9% (acc)</a:t>
                      </a:r>
                    </a:p>
                  </a:txBody>
                  <a:tcPr>
                    <a:solidFill>
                      <a:srgbClr val="E8F0FE"/>
                    </a:solidFill>
                  </a:tcPr>
                </a:tc>
              </a:tr>
              <a:tr h="259080">
                <a:tc>
                  <a:txBody>
                    <a:bodyPr/>
                    <a:lstStyle/>
                    <a:p>
                      <a:pPr algn="l"/>
                      <a:r>
                        <a:rPr sz="850" b="1">
                          <a:solidFill>
                            <a:srgbClr val="202020"/>
                          </a:solidFill>
                        </a:rPr>
                        <a:t>AA-DCN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Anti-aliased Deep Conv</a:t>
                      </a:r>
                    </a:p>
                  </a:txBody>
                  <a:tcPr>
                    <a:solidFill>
                      <a:srgbClr val="FFFFFF"/>
                    </a:solidFill>
                  </a:tcPr>
                </a:tc>
                <a:tc>
                  <a:txBody>
                    <a:bodyPr/>
                    <a:lstStyle/>
                    <a:p>
                      <a:pPr algn="ctr"/>
                      <a:r>
                        <a:rPr sz="850" b="0">
                          <a:solidFill>
                            <a:srgbClr val="202020"/>
                          </a:solidFill>
                        </a:rPr>
                        <a:t>99.26% (acc)</a:t>
                      </a:r>
                    </a:p>
                  </a:txBody>
                  <a:tcPr>
                    <a:solidFill>
                      <a:srgbClr val="FFFFFF"/>
                    </a:solidFill>
                  </a:tcPr>
                </a:tc>
              </a:tr>
              <a:tr h="259080">
                <a:tc>
                  <a:txBody>
                    <a:bodyPr/>
                    <a:lstStyle/>
                    <a:p>
                      <a:pPr algn="l"/>
                      <a:r>
                        <a:rPr sz="850" b="1">
                          <a:solidFill>
                            <a:srgbClr val="202020"/>
                          </a:solidFill>
                        </a:rPr>
                        <a:t>GhostNet</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Face+Speech+EEG</a:t>
                      </a:r>
                    </a:p>
                  </a:txBody>
                  <a:tcPr>
                    <a:solidFill>
                      <a:srgbClr val="E8F0FE"/>
                    </a:solidFill>
                  </a:tcPr>
                </a:tc>
                <a:tc>
                  <a:txBody>
                    <a:bodyPr/>
                    <a:lstStyle/>
                    <a:p>
                      <a:pPr algn="ctr"/>
                      <a:r>
                        <a:rPr sz="850" b="0">
                          <a:solidFill>
                            <a:srgbClr val="202020"/>
                          </a:solidFill>
                        </a:rPr>
                        <a:t>98.27% (acc)</a:t>
                      </a:r>
                    </a:p>
                  </a:txBody>
                  <a:tcPr>
                    <a:solidFill>
                      <a:srgbClr val="E8F0FE"/>
                    </a:solidFill>
                  </a:tcPr>
                </a:tc>
              </a:tr>
              <a:tr h="259080">
                <a:tc>
                  <a:txBody>
                    <a:bodyPr/>
                    <a:lstStyle/>
                    <a:p>
                      <a:pPr algn="l"/>
                      <a:r>
                        <a:rPr sz="850" b="1">
                          <a:solidFill>
                            <a:srgbClr val="202020"/>
                          </a:solidFill>
                        </a:rPr>
                        <a:t>b-skeleton+CNN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Landmark + CNN</a:t>
                      </a:r>
                    </a:p>
                  </a:txBody>
                  <a:tcPr>
                    <a:solidFill>
                      <a:srgbClr val="FFFFFF"/>
                    </a:solidFill>
                  </a:tcPr>
                </a:tc>
                <a:tc>
                  <a:txBody>
                    <a:bodyPr/>
                    <a:lstStyle/>
                    <a:p>
                      <a:pPr algn="ctr"/>
                      <a:r>
                        <a:rPr sz="850" b="0">
                          <a:solidFill>
                            <a:srgbClr val="202020"/>
                          </a:solidFill>
                        </a:rPr>
                        <a:t>96.19% (acc)</a:t>
                      </a:r>
                    </a:p>
                  </a:txBody>
                  <a:tcPr>
                    <a:solidFill>
                      <a:srgbClr val="FFFFFF"/>
                    </a:solidFill>
                  </a:tcPr>
                </a:tc>
              </a:tr>
              <a:tr h="259080">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Intermediate TL (ResNet18)</a:t>
                      </a:r>
                    </a:p>
                  </a:txBody>
                  <a:tcPr>
                    <a:solidFill>
                      <a:srgbClr val="C6EFCE"/>
                    </a:solidFill>
                  </a:tcPr>
                </a:tc>
                <a:tc>
                  <a:txBody>
                    <a:bodyPr/>
                    <a:lstStyle/>
                    <a:p>
                      <a:pPr algn="ctr"/>
                      <a:r>
                        <a:rPr sz="850" b="1">
                          <a:solidFill>
                            <a:srgbClr val="202020"/>
                          </a:solidFill>
                        </a:rPr>
                        <a:t>91.9% / F1: 0.783</a:t>
                      </a:r>
                    </a:p>
                  </a:txBody>
                  <a:tcPr>
                    <a:solidFill>
                      <a:srgbClr val="C6EFCE"/>
                    </a:solidFill>
                  </a:tcPr>
                </a:tc>
              </a:tr>
            </a:tbl>
          </a:graphicData>
        </a:graphic>
      </p:graphicFrame>
      <p:sp>
        <p:nvSpPr>
          <p:cNvPr id="5" name="TextBox 4"/>
          <p:cNvSpPr txBox="1"/>
          <p:nvPr/>
        </p:nvSpPr>
        <p:spPr>
          <a:xfrm>
            <a:off x="274320" y="2560320"/>
            <a:ext cx="8595360" cy="228600"/>
          </a:xfrm>
          <a:prstGeom prst="rect">
            <a:avLst/>
          </a:prstGeom>
          <a:noFill/>
        </p:spPr>
        <p:txBody>
          <a:bodyPr wrap="none">
            <a:spAutoFit/>
          </a:bodyPr>
          <a:lstStyle/>
          <a:p>
            <a:pPr algn="l"/>
            <a:r>
              <a:rPr sz="1000" b="1" i="0">
                <a:solidFill>
                  <a:srgbClr val="1A73E8"/>
                </a:solidFill>
              </a:rPr>
              <a:t>JAFFE (LOSO)</a:t>
            </a:r>
          </a:p>
        </p:txBody>
      </p:sp>
      <p:graphicFrame>
        <p:nvGraphicFramePr>
          <p:cNvPr id="6" name="Table 5"/>
          <p:cNvGraphicFramePr>
            <a:graphicFrameLocks noGrp="1"/>
          </p:cNvGraphicFramePr>
          <p:nvPr/>
        </p:nvGraphicFramePr>
        <p:xfrm>
          <a:off x="274320" y="2834640"/>
          <a:ext cx="8595358" cy="1234440"/>
        </p:xfrm>
        <a:graphic>
          <a:graphicData uri="http://schemas.openxmlformats.org/drawingml/2006/table">
            <a:tbl>
              <a:tblPr firstRow="1" bandRow="1"/>
              <a:tblGrid>
                <a:gridCol w="2071171"/>
                <a:gridCol w="828468"/>
                <a:gridCol w="3106756"/>
                <a:gridCol w="2588963"/>
              </a:tblGrid>
              <a:tr h="246888">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46888">
                <a:tc>
                  <a:txBody>
                    <a:bodyPr/>
                    <a:lstStyle/>
                    <a:p>
                      <a:pPr algn="l"/>
                      <a:r>
                        <a:rPr sz="850" b="1">
                          <a:solidFill>
                            <a:srgbClr val="202020"/>
                          </a:solidFill>
                        </a:rPr>
                        <a:t>AA-DCN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Anti-aliased Deep Conv</a:t>
                      </a:r>
                    </a:p>
                  </a:txBody>
                  <a:tcPr>
                    <a:solidFill>
                      <a:srgbClr val="E8F0FE"/>
                    </a:solidFill>
                  </a:tcPr>
                </a:tc>
                <a:tc>
                  <a:txBody>
                    <a:bodyPr/>
                    <a:lstStyle/>
                    <a:p>
                      <a:pPr algn="ctr"/>
                      <a:r>
                        <a:rPr sz="850" b="0">
                          <a:solidFill>
                            <a:srgbClr val="202020"/>
                          </a:solidFill>
                        </a:rPr>
                        <a:t>98.0% (acc)</a:t>
                      </a:r>
                    </a:p>
                  </a:txBody>
                  <a:tcPr>
                    <a:solidFill>
                      <a:srgbClr val="E8F0FE"/>
                    </a:solidFill>
                  </a:tcPr>
                </a:tc>
              </a:tr>
              <a:tr h="246888">
                <a:tc>
                  <a:txBody>
                    <a:bodyPr/>
                    <a:lstStyle/>
                    <a:p>
                      <a:pPr algn="l"/>
                      <a:r>
                        <a:rPr sz="850" b="1">
                          <a:solidFill>
                            <a:srgbClr val="202020"/>
                          </a:solidFill>
                        </a:rPr>
                        <a:t>Fine-grained fusion</a:t>
                      </a:r>
                    </a:p>
                  </a:txBody>
                  <a:tcPr>
                    <a:solidFill>
                      <a:srgbClr val="FFFFFF"/>
                    </a:solidFill>
                  </a:tcPr>
                </a:tc>
                <a:tc>
                  <a:txBody>
                    <a:bodyPr/>
                    <a:lstStyle/>
                    <a:p>
                      <a:pPr algn="l"/>
                      <a:r>
                        <a:rPr sz="850" b="0">
                          <a:solidFill>
                            <a:srgbClr val="202020"/>
                          </a:solidFill>
                        </a:rPr>
                        <a:t>2025</a:t>
                      </a:r>
                    </a:p>
                  </a:txBody>
                  <a:tcPr>
                    <a:solidFill>
                      <a:srgbClr val="FFFFFF"/>
                    </a:solidFill>
                  </a:tcPr>
                </a:tc>
                <a:tc>
                  <a:txBody>
                    <a:bodyPr/>
                    <a:lstStyle/>
                    <a:p>
                      <a:pPr algn="ctr"/>
                      <a:r>
                        <a:rPr sz="850" b="0">
                          <a:solidFill>
                            <a:srgbClr val="202020"/>
                          </a:solidFill>
                        </a:rPr>
                        <a:t>Landmark + image</a:t>
                      </a:r>
                    </a:p>
                  </a:txBody>
                  <a:tcPr>
                    <a:solidFill>
                      <a:srgbClr val="FFFFFF"/>
                    </a:solidFill>
                  </a:tcPr>
                </a:tc>
                <a:tc>
                  <a:txBody>
                    <a:bodyPr/>
                    <a:lstStyle/>
                    <a:p>
                      <a:pPr algn="ctr"/>
                      <a:r>
                        <a:rPr sz="850" b="0">
                          <a:solidFill>
                            <a:srgbClr val="202020"/>
                          </a:solidFill>
                        </a:rPr>
                        <a:t>97.61% (acc)</a:t>
                      </a:r>
                    </a:p>
                  </a:txBody>
                  <a:tcPr>
                    <a:solidFill>
                      <a:srgbClr val="FFFFFF"/>
                    </a:solidFill>
                  </a:tcPr>
                </a:tc>
              </a:tr>
              <a:tr h="246888">
                <a:tc>
                  <a:txBody>
                    <a:bodyPr/>
                    <a:lstStyle/>
                    <a:p>
                      <a:pPr algn="l"/>
                      <a:r>
                        <a:rPr sz="850" b="1">
                          <a:solidFill>
                            <a:srgbClr val="202020"/>
                          </a:solidFill>
                        </a:rPr>
                        <a:t>b-skeleton+CNN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Landmark geometric</a:t>
                      </a:r>
                    </a:p>
                  </a:txBody>
                  <a:tcPr>
                    <a:solidFill>
                      <a:srgbClr val="E8F0FE"/>
                    </a:solidFill>
                  </a:tcPr>
                </a:tc>
                <a:tc>
                  <a:txBody>
                    <a:bodyPr/>
                    <a:lstStyle/>
                    <a:p>
                      <a:pPr algn="ctr"/>
                      <a:r>
                        <a:rPr sz="850" b="0">
                          <a:solidFill>
                            <a:srgbClr val="202020"/>
                          </a:solidFill>
                        </a:rPr>
                        <a:t>89.23% (acc)</a:t>
                      </a:r>
                    </a:p>
                  </a:txBody>
                  <a:tcPr>
                    <a:solidFill>
                      <a:srgbClr val="E8F0FE"/>
                    </a:solidFill>
                  </a:tcPr>
                </a:tc>
              </a:tr>
              <a:tr h="246888">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Late Fusion (CNN+FCNN)</a:t>
                      </a:r>
                    </a:p>
                  </a:txBody>
                  <a:tcPr>
                    <a:solidFill>
                      <a:srgbClr val="C6EFCE"/>
                    </a:solidFill>
                  </a:tcPr>
                </a:tc>
                <a:tc>
                  <a:txBody>
                    <a:bodyPr/>
                    <a:lstStyle/>
                    <a:p>
                      <a:pPr algn="ctr"/>
                      <a:r>
                        <a:rPr sz="850" b="1">
                          <a:solidFill>
                            <a:srgbClr val="202020"/>
                          </a:solidFill>
                        </a:rPr>
                        <a:t>54.0% / F1: 0.467</a:t>
                      </a:r>
                    </a:p>
                  </a:txBody>
                  <a:tcPr>
                    <a:solidFill>
                      <a:srgbClr val="C6EFCE"/>
                    </a:solidFill>
                  </a:tcPr>
                </a:tc>
              </a:tr>
            </a:tbl>
          </a:graphicData>
        </a:graphic>
      </p:graphicFrame>
      <p:sp>
        <p:nvSpPr>
          <p:cNvPr id="7" name="TextBox 6"/>
          <p:cNvSpPr txBox="1"/>
          <p:nvPr/>
        </p:nvSpPr>
        <p:spPr>
          <a:xfrm>
            <a:off x="274320" y="4160520"/>
            <a:ext cx="8595360" cy="685800"/>
          </a:xfrm>
          <a:prstGeom prst="rect">
            <a:avLst/>
          </a:prstGeom>
          <a:noFill/>
        </p:spPr>
        <p:txBody>
          <a:bodyPr wrap="square">
            <a:spAutoFit/>
          </a:bodyPr>
          <a:lstStyle/>
          <a:p>
            <a:pPr algn="l"/>
            <a:r>
              <a:rPr sz="800" b="1">
                <a:solidFill>
                  <a:srgbClr val="666666"/>
                </a:solidFill>
              </a:rPr>
              <a:t>Catatan: Perbandingan tidak sepenuhnya apple-to-apple karena:</a:t>
            </a:r>
          </a:p>
          <a:p>
            <a:pPr algn="l"/>
            <a:r>
              <a:rPr sz="750" i="1">
                <a:solidFill>
                  <a:srgbClr val="666666"/>
                </a:solidFill>
              </a:rPr>
              <a:t>- Paper SOTA umumnya pakai arsitektur lebih besar (VGG16, EfficientNet, ViT)</a:t>
            </a:r>
          </a:p>
          <a:p>
            <a:pPr algn="l"/>
            <a:r>
              <a:rPr sz="750" i="1">
                <a:solidFill>
                  <a:srgbClr val="666666"/>
                </a:solidFill>
              </a:rPr>
              <a:t>- Sebagian paper pakai random split (data leakage), bukan subject-wise</a:t>
            </a:r>
          </a:p>
          <a:p>
            <a:pPr algn="l"/>
            <a:r>
              <a:rPr sz="750" i="1">
                <a:solidFill>
                  <a:srgbClr val="666666"/>
                </a:solidFill>
              </a:rPr>
              <a:t>- Penelitian ini pakai arsitektur sederhana (ResNet18) + subject-wise CV/LOSO yang lebih ketat</a:t>
            </a:r>
          </a:p>
          <a:p>
            <a:pPr algn="l"/>
            <a:r>
              <a:rPr sz="750" i="1">
                <a:solidFill>
                  <a:srgbClr val="666666"/>
                </a:solidFill>
              </a:rPr>
              <a:t>- Metrik berbeda: paper lain lapor accuracy, penelitian ini fokus Macro F1 (lebih jujur untuk imbalanced)</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Benchmark</a:t>
            </a:r>
          </a:p>
        </p:txBody>
      </p:sp>
      <p:sp>
        <p:nvSpPr>
          <p:cNvPr id="3" name="TextBox 2"/>
          <p:cNvSpPr txBox="1"/>
          <p:nvPr/>
        </p:nvSpPr>
        <p:spPr>
          <a:xfrm>
            <a:off x="274320" y="713232"/>
            <a:ext cx="4114800" cy="228600"/>
          </a:xfrm>
          <a:prstGeom prst="rect">
            <a:avLst/>
          </a:prstGeom>
          <a:noFill/>
        </p:spPr>
        <p:txBody>
          <a:bodyPr wrap="none">
            <a:spAutoFit/>
          </a:bodyPr>
          <a:lstStyle/>
          <a:p>
            <a:pPr algn="l"/>
            <a:r>
              <a:rPr sz="850" b="1" i="0">
                <a:solidFill>
                  <a:srgbClr val="1A73E8"/>
                </a:solidFill>
              </a:rPr>
              <a:t>Temuan 16: CK+ jauh lebih tinggi dari dataset sendiri</a:t>
            </a:r>
          </a:p>
        </p:txBody>
      </p:sp>
      <p:graphicFrame>
        <p:nvGraphicFramePr>
          <p:cNvPr id="4" name="Table 3"/>
          <p:cNvGraphicFramePr>
            <a:graphicFrameLocks noGrp="1"/>
          </p:cNvGraphicFramePr>
          <p:nvPr/>
        </p:nvGraphicFramePr>
        <p:xfrm>
          <a:off x="274320" y="987552"/>
          <a:ext cx="4114800" cy="822960"/>
        </p:xfrm>
        <a:graphic>
          <a:graphicData uri="http://schemas.openxmlformats.org/drawingml/2006/table">
            <a:tbl>
              <a:tblPr firstRow="1" bandRow="1"/>
              <a:tblGrid>
                <a:gridCol w="2286000"/>
                <a:gridCol w="182880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r>
              <a:tr h="205740">
                <a:tc>
                  <a:txBody>
                    <a:bodyPr/>
                    <a:lstStyle/>
                    <a:p>
                      <a:pPr algn="l"/>
                      <a:r>
                        <a:rPr sz="850" b="1">
                          <a:solidFill>
                            <a:srgbClr val="202020"/>
                          </a:solidFill>
                        </a:rPr>
                        <a:t>CK+ (lab)</a:t>
                      </a:r>
                    </a:p>
                  </a:txBody>
                  <a:tcPr>
                    <a:solidFill>
                      <a:srgbClr val="E8F0FE"/>
                    </a:solidFill>
                  </a:tcPr>
                </a:tc>
                <a:tc>
                  <a:txBody>
                    <a:bodyPr/>
                    <a:lstStyle/>
                    <a:p>
                      <a:pPr algn="l"/>
                      <a:r>
                        <a:rPr sz="850" b="0">
                          <a:solidFill>
                            <a:srgbClr val="202020"/>
                          </a:solidFill>
                        </a:rPr>
                        <a:t>0.783</a:t>
                      </a:r>
                    </a:p>
                  </a:txBody>
                  <a:tcPr>
                    <a:solidFill>
                      <a:srgbClr val="E8F0FE"/>
                    </a:solidFill>
                  </a:tcPr>
                </a:tc>
              </a:tr>
              <a:tr h="205740">
                <a:tc>
                  <a:txBody>
                    <a:bodyPr/>
                    <a:lstStyle/>
                    <a:p>
                      <a:pPr algn="l"/>
                      <a:r>
                        <a:rPr sz="850" b="1">
                          <a:solidFill>
                            <a:srgbClr val="202020"/>
                          </a:solidFill>
                        </a:rPr>
                        <a:t>JAFFE (lab)</a:t>
                      </a:r>
                    </a:p>
                  </a:txBody>
                  <a:tcPr>
                    <a:solidFill>
                      <a:srgbClr val="FFFFFF"/>
                    </a:solidFill>
                  </a:tcPr>
                </a:tc>
                <a:tc>
                  <a:txBody>
                    <a:bodyPr/>
                    <a:lstStyle/>
                    <a:p>
                      <a:pPr algn="l"/>
                      <a:r>
                        <a:rPr sz="850" b="0">
                          <a:solidFill>
                            <a:srgbClr val="202020"/>
                          </a:solidFill>
                        </a:rPr>
                        <a:t>0.467</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r>
            </a:tbl>
          </a:graphicData>
        </a:graphic>
      </p:graphicFrame>
      <p:sp>
        <p:nvSpPr>
          <p:cNvPr id="5" name="TextBox 4"/>
          <p:cNvSpPr txBox="1"/>
          <p:nvPr/>
        </p:nvSpPr>
        <p:spPr>
          <a:xfrm>
            <a:off x="4572000" y="713232"/>
            <a:ext cx="4206240" cy="228600"/>
          </a:xfrm>
          <a:prstGeom prst="rect">
            <a:avLst/>
          </a:prstGeom>
          <a:noFill/>
        </p:spPr>
        <p:txBody>
          <a:bodyPr wrap="none">
            <a:spAutoFit/>
          </a:bodyPr>
          <a:lstStyle/>
          <a:p>
            <a:pPr algn="l"/>
            <a:r>
              <a:rPr sz="850" b="1" i="0">
                <a:solidFill>
                  <a:srgbClr val="1A73E8"/>
                </a:solidFill>
              </a:rPr>
              <a:t>Temuan 17: Transfer Learning konsisten terbaik</a:t>
            </a:r>
          </a:p>
        </p:txBody>
      </p:sp>
      <p:graphicFrame>
        <p:nvGraphicFramePr>
          <p:cNvPr id="6" name="Table 5"/>
          <p:cNvGraphicFramePr>
            <a:graphicFrameLocks noGrp="1"/>
          </p:cNvGraphicFramePr>
          <p:nvPr/>
        </p:nvGraphicFramePr>
        <p:xfrm>
          <a:off x="4572000" y="987552"/>
          <a:ext cx="4206240" cy="1005840"/>
        </p:xfrm>
        <a:graphic>
          <a:graphicData uri="http://schemas.openxmlformats.org/drawingml/2006/table">
            <a:tbl>
              <a:tblPr firstRow="1" bandRow="1"/>
              <a:tblGrid>
                <a:gridCol w="2011680"/>
                <a:gridCol w="2194560"/>
              </a:tblGrid>
              <a:tr h="201168">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Model</a:t>
                      </a:r>
                    </a:p>
                  </a:txBody>
                  <a:tcPr>
                    <a:solidFill>
                      <a:srgbClr val="1A73E8"/>
                    </a:solidFill>
                  </a:tcPr>
                </a:tc>
              </a:tr>
              <a:tr h="201168">
                <a:tc>
                  <a:txBody>
                    <a:bodyPr/>
                    <a:lstStyle/>
                    <a:p>
                      <a:pPr algn="l"/>
                      <a:r>
                        <a:rPr sz="850" b="1">
                          <a:solidFill>
                            <a:srgbClr val="202020"/>
                          </a:solidFill>
                        </a:rPr>
                        <a:t>CK+ 7c</a:t>
                      </a:r>
                    </a:p>
                  </a:txBody>
                  <a:tcPr>
                    <a:solidFill>
                      <a:srgbClr val="E8F0FE"/>
                    </a:solidFill>
                  </a:tcPr>
                </a:tc>
                <a:tc>
                  <a:txBody>
                    <a:bodyPr/>
                    <a:lstStyle/>
                    <a:p>
                      <a:pPr algn="l"/>
                      <a:r>
                        <a:rPr sz="850" b="0">
                          <a:solidFill>
                            <a:srgbClr val="202020"/>
                          </a:solidFill>
                        </a:rPr>
                        <a:t>Intermediate TL</a:t>
                      </a:r>
                    </a:p>
                  </a:txBody>
                  <a:tcPr>
                    <a:solidFill>
                      <a:srgbClr val="E8F0FE"/>
                    </a:solidFill>
                  </a:tcPr>
                </a:tc>
              </a:tr>
              <a:tr h="201168">
                <a:tc>
                  <a:txBody>
                    <a:bodyPr/>
                    <a:lstStyle/>
                    <a:p>
                      <a:pPr algn="l"/>
                      <a:r>
                        <a:rPr sz="850" b="1">
                          <a:solidFill>
                            <a:srgbClr val="202020"/>
                          </a:solidFill>
                        </a:rPr>
                        <a:t>CK+ 4c</a:t>
                      </a:r>
                    </a:p>
                  </a:txBody>
                  <a:tcPr>
                    <a:solidFill>
                      <a:srgbClr val="FFFFFF"/>
                    </a:solidFill>
                  </a:tcPr>
                </a:tc>
                <a:tc>
                  <a:txBody>
                    <a:bodyPr/>
                    <a:lstStyle/>
                    <a:p>
                      <a:pPr algn="l"/>
                      <a:r>
                        <a:rPr sz="850" b="0">
                          <a:solidFill>
                            <a:srgbClr val="202020"/>
                          </a:solidFill>
                        </a:rPr>
                        <a:t>CNN TL</a:t>
                      </a:r>
                    </a:p>
                  </a:txBody>
                  <a:tcPr>
                    <a:solidFill>
                      <a:srgbClr val="FFFFFF"/>
                    </a:solidFill>
                  </a:tcPr>
                </a:tc>
              </a:tr>
              <a:tr h="201168">
                <a:tc>
                  <a:txBody>
                    <a:bodyPr/>
                    <a:lstStyle/>
                    <a:p>
                      <a:pPr algn="l"/>
                      <a:r>
                        <a:rPr sz="850" b="1">
                          <a:solidFill>
                            <a:srgbClr val="202020"/>
                          </a:solidFill>
                        </a:rPr>
                        <a:t>JAFFE</a:t>
                      </a:r>
                    </a:p>
                  </a:txBody>
                  <a:tcPr>
                    <a:solidFill>
                      <a:srgbClr val="E8F0FE"/>
                    </a:solidFill>
                  </a:tcPr>
                </a:tc>
                <a:tc>
                  <a:txBody>
                    <a:bodyPr/>
                    <a:lstStyle/>
                    <a:p>
                      <a:pPr algn="l"/>
                      <a:r>
                        <a:rPr sz="850" b="0">
                          <a:solidFill>
                            <a:srgbClr val="202020"/>
                          </a:solidFill>
                        </a:rPr>
                        <a:t>Late Fusion (CNN+FCNN)</a:t>
                      </a:r>
                    </a:p>
                  </a:txBody>
                  <a:tcPr>
                    <a:solidFill>
                      <a:srgbClr val="E8F0FE"/>
                    </a:solidFill>
                  </a:tcPr>
                </a:tc>
              </a:tr>
              <a:tr h="201168">
                <a:tc>
                  <a:txBody>
                    <a:bodyPr/>
                    <a:lstStyle/>
                    <a:p>
                      <a:pPr algn="l"/>
                      <a:r>
                        <a:rPr sz="850" b="1">
                          <a:solidFill>
                            <a:srgbClr val="202020"/>
                          </a:solidFill>
                        </a:rPr>
                        <a:t>Dataset sendiri</a:t>
                      </a:r>
                    </a:p>
                  </a:txBody>
                  <a:tcPr>
                    <a:solidFill>
                      <a:srgbClr val="FFFFFF"/>
                    </a:solidFill>
                  </a:tcPr>
                </a:tc>
                <a:tc>
                  <a:txBody>
                    <a:bodyPr/>
                    <a:lstStyle/>
                    <a:p>
                      <a:pPr algn="l"/>
                      <a:r>
                        <a:rPr sz="850" b="0">
                          <a:solidFill>
                            <a:srgbClr val="202020"/>
                          </a:solidFill>
                        </a:rPr>
                        <a:t>Intermediate TL</a:t>
                      </a:r>
                    </a:p>
                  </a:txBody>
                  <a:tcPr>
                    <a:solidFill>
                      <a:srgbClr val="FFFFFF"/>
                    </a:solidFill>
                  </a:tcPr>
                </a:tc>
              </a:tr>
            </a:tbl>
          </a:graphicData>
        </a:graphic>
      </p:graphicFrame>
      <p:sp>
        <p:nvSpPr>
          <p:cNvPr id="7" name="TextBox 6"/>
          <p:cNvSpPr txBox="1"/>
          <p:nvPr/>
        </p:nvSpPr>
        <p:spPr>
          <a:xfrm>
            <a:off x="274320" y="1965960"/>
            <a:ext cx="4114800" cy="228600"/>
          </a:xfrm>
          <a:prstGeom prst="rect">
            <a:avLst/>
          </a:prstGeom>
          <a:noFill/>
        </p:spPr>
        <p:txBody>
          <a:bodyPr wrap="none">
            <a:spAutoFit/>
          </a:bodyPr>
          <a:lstStyle/>
          <a:p>
            <a:pPr algn="l"/>
            <a:r>
              <a:rPr sz="850" b="1" i="0">
                <a:solidFill>
                  <a:srgbClr val="1A73E8"/>
                </a:solidFill>
              </a:rPr>
              <a:t>Temuan 18: Dataset sendiri paling menantang</a:t>
            </a:r>
          </a:p>
        </p:txBody>
      </p:sp>
      <p:sp>
        <p:nvSpPr>
          <p:cNvPr id="8" name="TextBox 7"/>
          <p:cNvSpPr txBox="1"/>
          <p:nvPr/>
        </p:nvSpPr>
        <p:spPr>
          <a:xfrm>
            <a:off x="274320" y="2240280"/>
            <a:ext cx="4114800" cy="1005840"/>
          </a:xfrm>
          <a:prstGeom prst="rect">
            <a:avLst/>
          </a:prstGeom>
          <a:solidFill>
            <a:srgbClr val="FCE4E4"/>
          </a:solidFill>
        </p:spPr>
        <p:txBody>
          <a:bodyPr wrap="square">
            <a:spAutoFit/>
          </a:bodyPr>
          <a:lstStyle/>
          <a:p>
            <a:pPr algn="l"/>
            <a:r>
              <a:rPr sz="900" b="1" i="0">
                <a:solidFill>
                  <a:srgbClr val="D93C3C"/>
                </a:solidFill>
              </a:rPr>
              <a:t>Alasan performa rendah:</a:t>
            </a:r>
          </a:p>
          <a:p>
            <a:pPr algn="l"/>
            <a:r>
              <a:rPr sz="850" b="0" i="0">
                <a:solidFill>
                  <a:srgbClr val="202020"/>
                </a:solidFill>
              </a:rPr>
              <a:t>1. Ekspresi natural (bukan lab-induced)</a:t>
            </a:r>
          </a:p>
          <a:p>
            <a:pPr algn="l"/>
            <a:r>
              <a:rPr sz="850" b="0" i="0">
                <a:solidFill>
                  <a:srgbClr val="202020"/>
                </a:solidFill>
              </a:rPr>
              <a:t>2. Sangat imbalanced (neutral 82%)</a:t>
            </a:r>
          </a:p>
          <a:p>
            <a:pPr algn="l"/>
            <a:r>
              <a:rPr sz="850" b="0" i="0">
                <a:solidFill>
                  <a:srgbClr val="202020"/>
                </a:solidFill>
              </a:rPr>
              <a:t>3. Variasi pencahayaan &amp; posisi</a:t>
            </a:r>
          </a:p>
          <a:p>
            <a:pPr algn="l"/>
            <a:r>
              <a:rPr sz="850" b="0" i="0">
                <a:solidFill>
                  <a:srgbClr val="202020"/>
                </a:solidFill>
              </a:rPr>
              <a:t>4. Micro-expression saat programming</a:t>
            </a:r>
          </a:p>
        </p:txBody>
      </p:sp>
      <p:sp>
        <p:nvSpPr>
          <p:cNvPr id="9" name="TextBox 8"/>
          <p:cNvSpPr txBox="1"/>
          <p:nvPr/>
        </p:nvSpPr>
        <p:spPr>
          <a:xfrm>
            <a:off x="4572000" y="1965960"/>
            <a:ext cx="4206240" cy="228600"/>
          </a:xfrm>
          <a:prstGeom prst="rect">
            <a:avLst/>
          </a:prstGeom>
          <a:noFill/>
        </p:spPr>
        <p:txBody>
          <a:bodyPr wrap="none">
            <a:spAutoFit/>
          </a:bodyPr>
          <a:lstStyle/>
          <a:p>
            <a:pPr algn="l"/>
            <a:r>
              <a:rPr sz="850" b="1" i="0">
                <a:solidFill>
                  <a:srgbClr val="1A73E8"/>
                </a:solidFill>
              </a:rPr>
              <a:t>Temuan 19: Std deviation = stabilitas model</a:t>
            </a:r>
          </a:p>
        </p:txBody>
      </p:sp>
      <p:graphicFrame>
        <p:nvGraphicFramePr>
          <p:cNvPr id="10" name="Table 9"/>
          <p:cNvGraphicFramePr>
            <a:graphicFrameLocks noGrp="1"/>
          </p:cNvGraphicFramePr>
          <p:nvPr/>
        </p:nvGraphicFramePr>
        <p:xfrm>
          <a:off x="4572000" y="2240280"/>
          <a:ext cx="4206240" cy="822960"/>
        </p:xfrm>
        <a:graphic>
          <a:graphicData uri="http://schemas.openxmlformats.org/drawingml/2006/table">
            <a:tbl>
              <a:tblPr firstRow="1" bandRow="1"/>
              <a:tblGrid>
                <a:gridCol w="1645920"/>
                <a:gridCol w="1097280"/>
                <a:gridCol w="146304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c>
                  <a:txBody>
                    <a:bodyPr/>
                    <a:lstStyle/>
                    <a:p>
                      <a:pPr algn="ctr"/>
                      <a:r>
                        <a:rPr sz="850" b="1">
                          <a:solidFill>
                            <a:srgbClr val="FFFFFF"/>
                          </a:solidFill>
                        </a:rPr>
                        <a:t>Std</a:t>
                      </a:r>
                    </a:p>
                  </a:txBody>
                  <a:tcPr>
                    <a:solidFill>
                      <a:srgbClr val="1A73E8"/>
                    </a:solidFill>
                  </a:tcPr>
                </a:tc>
              </a:tr>
              <a:tr h="205740">
                <a:tc>
                  <a:txBody>
                    <a:bodyPr/>
                    <a:lstStyle/>
                    <a:p>
                      <a:pPr algn="l"/>
                      <a:r>
                        <a:rPr sz="850" b="1">
                          <a:solidFill>
                            <a:srgbClr val="202020"/>
                          </a:solidFill>
                        </a:rPr>
                        <a:t>CK+</a:t>
                      </a:r>
                    </a:p>
                  </a:txBody>
                  <a:tcPr>
                    <a:solidFill>
                      <a:srgbClr val="E8F0FE"/>
                    </a:solidFill>
                  </a:tcPr>
                </a:tc>
                <a:tc>
                  <a:txBody>
                    <a:bodyPr/>
                    <a:lstStyle/>
                    <a:p>
                      <a:pPr algn="l"/>
                      <a:r>
                        <a:rPr sz="850" b="0">
                          <a:solidFill>
                            <a:srgbClr val="202020"/>
                          </a:solidFill>
                        </a:rPr>
                        <a:t>0.783</a:t>
                      </a:r>
                    </a:p>
                  </a:txBody>
                  <a:tcPr>
                    <a:solidFill>
                      <a:srgbClr val="E8F0FE"/>
                    </a:solidFill>
                  </a:tcPr>
                </a:tc>
                <a:tc>
                  <a:txBody>
                    <a:bodyPr/>
                    <a:lstStyle/>
                    <a:p>
                      <a:pPr algn="ctr"/>
                      <a:r>
                        <a:rPr sz="850" b="0">
                          <a:solidFill>
                            <a:srgbClr val="202020"/>
                          </a:solidFill>
                        </a:rPr>
                        <a:t>0.107 (stabil)</a:t>
                      </a:r>
                    </a:p>
                  </a:txBody>
                  <a:tcPr>
                    <a:solidFill>
                      <a:srgbClr val="E8F0FE"/>
                    </a:solidFill>
                  </a:tcPr>
                </a:tc>
              </a:tr>
              <a:tr h="205740">
                <a:tc>
                  <a:txBody>
                    <a:bodyPr/>
                    <a:lstStyle/>
                    <a:p>
                      <a:pPr algn="l"/>
                      <a:r>
                        <a:rPr sz="850" b="1">
                          <a:solidFill>
                            <a:srgbClr val="202020"/>
                          </a:solidFill>
                        </a:rPr>
                        <a:t>JAFFE</a:t>
                      </a:r>
                    </a:p>
                  </a:txBody>
                  <a:tcPr>
                    <a:solidFill>
                      <a:srgbClr val="FFFFFF"/>
                    </a:solidFill>
                  </a:tcPr>
                </a:tc>
                <a:tc>
                  <a:txBody>
                    <a:bodyPr/>
                    <a:lstStyle/>
                    <a:p>
                      <a:pPr algn="l"/>
                      <a:r>
                        <a:rPr sz="850" b="0">
                          <a:solidFill>
                            <a:srgbClr val="202020"/>
                          </a:solidFill>
                        </a:rPr>
                        <a:t>0.467</a:t>
                      </a:r>
                    </a:p>
                  </a:txBody>
                  <a:tcPr>
                    <a:solidFill>
                      <a:srgbClr val="FFFFFF"/>
                    </a:solidFill>
                  </a:tcPr>
                </a:tc>
                <a:tc>
                  <a:txBody>
                    <a:bodyPr/>
                    <a:lstStyle/>
                    <a:p>
                      <a:pPr algn="ctr"/>
                      <a:r>
                        <a:rPr sz="850" b="0">
                          <a:solidFill>
                            <a:srgbClr val="202020"/>
                          </a:solidFill>
                        </a:rPr>
                        <a:t>0.092 (moderat)</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c>
                  <a:txBody>
                    <a:bodyPr/>
                    <a:lstStyle/>
                    <a:p>
                      <a:pPr algn="ctr"/>
                      <a:r>
                        <a:rPr sz="850" b="0">
                          <a:solidFill>
                            <a:srgbClr val="202020"/>
                          </a:solidFill>
                        </a:rPr>
                        <a:t>0.125 (variabel)</a:t>
                      </a:r>
                    </a:p>
                  </a:txBody>
                  <a:tcPr>
                    <a:solidFill>
                      <a:srgbClr val="E8F0FE"/>
                    </a:solidFill>
                  </a:tcPr>
                </a:tc>
              </a:tr>
            </a:tbl>
          </a:graphicData>
        </a:graphic>
      </p:graphicFrame>
      <p:sp>
        <p:nvSpPr>
          <p:cNvPr id="11" name="TextBox 10"/>
          <p:cNvSpPr txBox="1"/>
          <p:nvPr/>
        </p:nvSpPr>
        <p:spPr>
          <a:xfrm>
            <a:off x="274320" y="3383280"/>
            <a:ext cx="8503920" cy="320040"/>
          </a:xfrm>
          <a:prstGeom prst="rect">
            <a:avLst/>
          </a:prstGeom>
          <a:solidFill>
            <a:srgbClr val="E8F0FE"/>
          </a:solidFill>
        </p:spPr>
        <p:txBody>
          <a:bodyPr wrap="square">
            <a:spAutoFit/>
          </a:bodyPr>
          <a:lstStyle/>
          <a:p>
            <a:pPr algn="ctr"/>
            <a:r>
              <a:rPr sz="850" b="1" i="0">
                <a:solidFill>
                  <a:srgbClr val="202020"/>
                </a:solidFill>
              </a:rPr>
              <a:t>Kesimpulan: Arsitektur bekerja baik di dataset standar (CK+ 0.783) -- performa rendah di dataset sendiri karena karakteristik data natural programming, bukan kelemahan arsitektur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Performa CNN</a:t>
                      </a:r>
                    </a:p>
                  </a:txBody>
                  <a:tcPr>
                    <a:solidFill>
                      <a:srgbClr val="E8F0FE"/>
                    </a:solidFill>
                  </a:tcPr>
                </a:tc>
                <a:tc>
                  <a:txBody>
                    <a:bodyPr/>
                    <a:lstStyle/>
                    <a:p>
                      <a:pPr algn="ctr"/>
                      <a:r>
                        <a:rPr sz="900">
                          <a:solidFill>
                            <a:srgbClr val="202020"/>
                          </a:solidFill>
                        </a:rPr>
                        <a:t>From scratch: 0.134 (7c) / 0.296 (4c)
Transfer Learning: 0.177 (7c) / 0.407 (4c, +37%)</a:t>
                      </a:r>
                    </a:p>
                    <a:p>
                      <a:r>
                        <a:t>Transfer Learning: 0.177 (7c) / 0.407 (4c, +37%)</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Performa FCNN</a:t>
                      </a:r>
                    </a:p>
                  </a:txBody>
                  <a:tcPr>
                    <a:solidFill>
                      <a:srgbClr val="FFFFFF"/>
                    </a:solidFill>
                  </a:tcPr>
                </a:tc>
                <a:tc>
                  <a:txBody>
                    <a:bodyPr/>
                    <a:lstStyle/>
                    <a:p>
                      <a:pPr algn="ctr"/>
                      <a:r>
                        <a:rPr sz="900">
                          <a:solidFill>
                            <a:srgbClr val="202020"/>
                          </a:solidFill>
                        </a:rPr>
                        <a:t>0.234 (7-class) / 0.394 (4-class)
Landmark terbukti lebih robust</a:t>
                      </a:r>
                    </a:p>
                    <a:p>
                      <a:r>
                        <a:t>Landmark terbukti lebih robust</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Perbandingan Fusion</a:t>
                      </a:r>
                    </a:p>
                  </a:txBody>
                  <a:tcPr>
                    <a:solidFill>
                      <a:srgbClr val="E8F0FE"/>
                    </a:solidFill>
                  </a:tcPr>
                </a:tc>
                <a:tc>
                  <a:txBody>
                    <a:bodyPr/>
                    <a:lstStyle/>
                    <a:p>
                      <a:pPr algn="ctr"/>
                      <a:r>
                        <a:rPr sz="900">
                          <a:solidFill>
                            <a:srgbClr val="202020"/>
                          </a:solidFill>
                        </a:rPr>
                        <a:t>From scratch: FCNN &gt; Late Fusion &gt; Intermediate
TL: Late Fusion TL terbaik (0.442)</a:t>
                      </a:r>
                    </a:p>
                    <a:p>
                      <a:r>
                        <a:t>TL: Late Fusion TL terbaik (0.442)</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Transfer Learning sebagai kontribusi</a:t>
                      </a:r>
                    </a:p>
                  </a:txBody>
                  <a:tcPr>
                    <a:solidFill>
                      <a:srgbClr val="E8F0FE"/>
                    </a:solidFill>
                  </a:tcPr>
                </a:tc>
                <a:tc>
                  <a:txBody>
                    <a:bodyPr/>
                    <a:lstStyle/>
                    <a:p>
                      <a:pPr algn="ctr"/>
                      <a:r>
                        <a:rPr sz="900">
                          <a:solidFill>
                            <a:srgbClr val="202020"/>
                          </a:solidFill>
                        </a:rPr>
                        <a:t>TL meningkatkan F1: 0.394 → 0.442. Cukup signifikan sebagai kontribusi tesis?</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FCNN &gt; Fusion (from scratch)</a:t>
                      </a:r>
                    </a:p>
                  </a:txBody>
                  <a:tcPr>
                    <a:solidFill>
                      <a:srgbClr val="FFFFFF"/>
                    </a:solidFill>
                  </a:tcPr>
                </a:tc>
                <a:tc>
                  <a:txBody>
                    <a:bodyPr/>
                    <a:lstStyle/>
                    <a:p>
                      <a:pPr algn="ctr"/>
                      <a:r>
                        <a:rPr sz="900">
                          <a:solidFill>
                            <a:srgbClr val="202020"/>
                          </a:solidFill>
                        </a:rPr>
                        <a:t>Bertentangan hipotesis proposal — namun dengan TL, fusion akhirnya terbaik. Narasi tesis?</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Macro F1 0.442</a:t>
                      </a:r>
                    </a:p>
                  </a:txBody>
                  <a:tcPr>
                    <a:solidFill>
                      <a:srgbClr val="E8F0FE"/>
                    </a:solidFill>
                  </a:tcPr>
                </a:tc>
                <a:tc>
                  <a:txBody>
                    <a:bodyPr/>
                    <a:lstStyle/>
                    <a:p>
                      <a:pPr algn="ctr"/>
                      <a:r>
                        <a:rPr sz="900">
                          <a:solidFill>
                            <a:srgbClr val="202020"/>
                          </a:solidFill>
                        </a:rPr>
                        <a:t>Acceptable untuk tesis S2? Dataset naturalistik, nyata, sangat imbalanced</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Validasi ahli psikologi</a:t>
                      </a:r>
                    </a:p>
                  </a:txBody>
                  <a:tcPr>
                    <a:solidFill>
                      <a:srgbClr val="FFFFFF"/>
                    </a:solidFill>
                  </a:tcPr>
                </a:tc>
                <a:tc>
                  <a:txBody>
                    <a:bodyPr/>
                    <a:lstStyle/>
                    <a:p>
                      <a:pPr algn="ctr"/>
                      <a:r>
                        <a:rPr sz="900">
                          <a:solidFill>
                            <a:srgbClr val="202020"/>
                          </a:solidFill>
                        </a:rPr>
                        <a:t>Opsi A/B/C? 1 atau 2 ahli? Perlu honorarium?</a:t>
                      </a:r>
                    </a:p>
                  </a:txBody>
                  <a:tcPr>
                    <a:solidFill>
                      <a:srgbClr val="FFFFFF"/>
                    </a:solidFill>
                  </a:tcPr>
                </a:tc>
              </a:tr>
            </a:tbl>
          </a:graphicData>
        </a:graphic>
      </p:graphicFrame>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