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63" r:id="rId113"/>
    <p:sldId id="364" r:id="rId114"/>
    <p:sldId id="366" r:id="rId116"/>
    <p:sldId id="367" r:id="rId117"/>
    <p:sldId id="368" r:id="rId118"/>
    <p:sldId id="369" r:id="rId119"/>
    <p:sldId id="370" r:id="rId120"/>
    <p:sldId id="371" r:id="rId121"/>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15.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15.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14.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13.xml"/><Relationship Id="rId116" Type="http://schemas.openxmlformats.org/officeDocument/2006/relationships/slide" Target="slides/slide107.xml"/><Relationship Id="rId117" Type="http://schemas.openxmlformats.org/officeDocument/2006/relationships/slide" Target="slides/slide108.xml"/><Relationship Id="rId118" Type="http://schemas.openxmlformats.org/officeDocument/2006/relationships/slide" Target="slides/slide109.xml"/><Relationship Id="rId119" Type="http://schemas.openxmlformats.org/officeDocument/2006/relationships/slide" Target="slides/slide110.xml"/><Relationship Id="rId120" Type="http://schemas.openxmlformats.org/officeDocument/2006/relationships/slide" Target="slides/slide111.xml"/><Relationship Id="rId121" Type="http://schemas.openxmlformats.org/officeDocument/2006/relationships/slide" Target="slides/slide1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0.301</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0.567</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Late Fusion TL 4-class B3 = 0.567 (vs 0.412 sebelumnya, +38%)</a:t>
            </a:r>
          </a:p>
          <a:p>
            <a:r>
              <a:rPr sz="950">
                <a:solidFill>
                  <a:srgbClr val="202020"/>
                </a:solidFill>
              </a:rPr>
              <a:t>Peningkatan rata-rata: 7-class +76%, 4-class +47%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0.567 (+38%)</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Late Fusion TL B3</a:t>
                      </a:r>
                    </a:p>
                  </a:txBody>
                  <a:tcPr>
                    <a:solidFill>
                      <a:srgbClr val="E8F0FE"/>
                    </a:solidFill>
                  </a:tcPr>
                </a:tc>
                <a:tc>
                  <a:txBody>
                    <a:bodyPr/>
                    <a:lstStyle/>
                    <a:p>
                      <a:pPr algn="l"/>
                      <a:r>
                        <a:rPr sz="850" b="1">
                          <a:solidFill>
                            <a:srgbClr val="202020"/>
                          </a:solidFill>
                        </a:rPr>
                        <a:t>0.567</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Conf60 saja (TL + B3)</a:t>
                      </a:r>
                    </a:p>
                  </a:txBody>
                  <a:tcPr>
                    <a:solidFill>
                      <a:srgbClr val="E8F0FE"/>
                    </a:solidFill>
                  </a:tcPr>
                </a:tc>
                <a:tc>
                  <a:txBody>
                    <a:bodyPr/>
                    <a:lstStyle/>
                    <a:p>
                      <a:pPr algn="ctr"/>
                      <a:r>
                        <a:rPr sz="950" b="1">
                          <a:solidFill>
                            <a:srgbClr val="202020"/>
                          </a:solidFill>
                        </a:rPr>
                        <a:t>Late Fusion TL 4c B3</a:t>
                      </a:r>
                    </a:p>
                  </a:txBody>
                  <a:tcPr>
                    <a:solidFill>
                      <a:srgbClr val="C6EFCE"/>
                    </a:solidFill>
                  </a:tcPr>
                </a:tc>
                <a:tc>
                  <a:txBody>
                    <a:bodyPr/>
                    <a:lstStyle/>
                    <a:p>
                      <a:pPr algn="ctr"/>
                      <a:r>
                        <a:rPr sz="950" b="1">
                          <a:solidFill>
                            <a:srgbClr val="202020"/>
                          </a:solidFill>
                        </a:rPr>
                        <a:t>0.567</a:t>
                      </a:r>
                    </a:p>
                  </a:txBody>
                  <a:tcPr>
                    <a:solidFill>
                      <a:srgbClr val="C6EFCE"/>
                    </a:solidFill>
                  </a:tcPr>
                </a:tc>
              </a:tr>
              <a:tr h="251460">
                <a:tc>
                  <a:txBody>
                    <a:bodyPr/>
                    <a:lstStyle/>
                    <a:p>
                      <a:pPr algn="l"/>
                      <a:r>
                        <a:rPr sz="950" b="1">
                          <a:solidFill>
                            <a:srgbClr val="202020"/>
                          </a:solidFill>
                        </a:rPr>
                        <a:t>Tahap 5B: Undersampling saja</a:t>
                      </a:r>
                    </a:p>
                  </a:txBody>
                  <a:tcPr>
                    <a:solidFill>
                      <a:srgbClr val="FFFFFF"/>
                    </a:solidFill>
                  </a:tcPr>
                </a:tc>
                <a:tc>
                  <a:txBody>
                    <a:bodyPr/>
                    <a:lstStyle/>
                    <a:p>
                      <a:pPr algn="ctr"/>
                      <a:r>
                        <a:rPr sz="950" b="0">
                          <a:solidFill>
                            <a:srgbClr val="202020"/>
                          </a:solidFill>
                        </a:rPr>
                        <a:t>Late Fusion 4c under-660</a:t>
                      </a:r>
                    </a:p>
                  </a:txBody>
                  <a:tcPr>
                    <a:solidFill>
                      <a:srgbClr val="FFFFFF"/>
                    </a:solidFill>
                  </a:tcPr>
                </a:tc>
                <a:tc>
                  <a:txBody>
                    <a:bodyPr/>
                    <a:lstStyle/>
                    <a:p>
                      <a:pPr algn="ctr"/>
                      <a:r>
                        <a:rPr sz="950" b="0">
                          <a:solidFill>
                            <a:srgbClr val="202020"/>
                          </a:solidFill>
                        </a:rPr>
                        <a:t>0.405</a:t>
                      </a:r>
                    </a:p>
                  </a:txBody>
                  <a:tcPr>
                    <a:solidFill>
                      <a:srgbClr val="FFFFFF"/>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Late Fusion TL 4-class B3 conf60 = 0.567 | Kombinasi tidak selalu lebih baik</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Rencana Eksperimen Lanjutan: Peningkatan Performa</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i="0">
                <a:solidFill>
                  <a:srgbClr val="202020"/>
                </a:solidFill>
              </a:rPr>
              <a:t>Motivasi: Macro F1 terbaik saat ini 0.412 (single split) / 0.370 (LOSO).</a:t>
            </a:r>
          </a:p>
          <a:p>
            <a:pPr algn="l"/>
            <a:r>
              <a:rPr sz="950" b="0" i="0">
                <a:solidFill>
                  <a:srgbClr val="202020"/>
                </a:solidFill>
              </a:rPr>
              <a:t>Dua strategi yang sedang disiapkan untuk meningkatkan performa:</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i="0">
                <a:solidFill>
                  <a:srgbClr val="0F9D58"/>
                </a:solidFill>
              </a:rPr>
              <a:t>Strategi 1: Focal Loss</a:t>
            </a:r>
          </a:p>
          <a:p>
            <a:pPr algn="l"/>
            <a:r>
              <a:rPr sz="800" b="0" i="1">
                <a:solidFill>
                  <a:srgbClr val="666666"/>
                </a:solidFill>
              </a:rPr>
              <a:t>(Lin et al., 2017)</a:t>
            </a:r>
          </a:p>
          <a:p>
            <a:pPr algn="l"/>
            <a:r>
              <a:rPr sz="400" b="0" i="0"/>
              <a:t/>
            </a:r>
          </a:p>
          <a:p>
            <a:pPr algn="l"/>
            <a:r>
              <a:rPr sz="950" b="0" i="0">
                <a:solidFill>
                  <a:srgbClr val="202020"/>
                </a:solidFill>
              </a:rPr>
              <a:t>Mengganti CrossEntropyLoss dengan</a:t>
            </a:r>
          </a:p>
          <a:p>
            <a:pPr algn="l"/>
            <a:r>
              <a:rPr sz="950" b="0" i="0">
                <a:solidFill>
                  <a:srgbClr val="202020"/>
                </a:solidFill>
              </a:rPr>
              <a:t>Focal Loss yang fokus ke sampel sulit.</a:t>
            </a:r>
          </a:p>
          <a:p>
            <a:pPr algn="l"/>
            <a:r>
              <a:rPr sz="300" b="0" i="0"/>
              <a:t/>
            </a:r>
          </a:p>
          <a:p>
            <a:pPr algn="l"/>
            <a:r>
              <a:rPr sz="900" b="0" i="1">
                <a:solidFill>
                  <a:srgbClr val="666666"/>
                </a:solidFill>
              </a:rPr>
              <a:t>FL(p) = -alpha * (1-p)^gamma * log(p)</a:t>
            </a:r>
          </a:p>
          <a:p>
            <a:pPr algn="l"/>
            <a:r>
              <a:rPr sz="300" b="0" i="0"/>
              <a:t/>
            </a:r>
          </a:p>
          <a:p>
            <a:pPr algn="l"/>
            <a:r>
              <a:rPr sz="950" b="0" i="0">
                <a:solidFill>
                  <a:srgbClr val="202020"/>
                </a:solidFill>
              </a:rPr>
              <a:t>Dirancang khusus untuk imbalanced data.</a:t>
            </a:r>
          </a:p>
          <a:p>
            <a:pPr algn="l"/>
            <a:r>
              <a:rPr sz="950" b="1" i="0">
                <a:solidFill>
                  <a:srgbClr val="0F9D58"/>
                </a:solidFill>
              </a:rPr>
              <a:t>Estimasi improvement: +5-15% F1</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i="0">
                <a:solidFill>
                  <a:srgbClr val="1A73E8"/>
                </a:solidFill>
              </a:rPr>
              <a:t>Strategi 2: Pre-train FER2013</a:t>
            </a:r>
          </a:p>
          <a:p>
            <a:pPr algn="l"/>
            <a:r>
              <a:rPr sz="800" b="0" i="1">
                <a:solidFill>
                  <a:srgbClr val="666666"/>
                </a:solidFill>
              </a:rPr>
              <a:t>(35,887 gambar emosi wajah)</a:t>
            </a:r>
          </a:p>
          <a:p>
            <a:pPr algn="l"/>
            <a:r>
              <a:rPr sz="400" b="0" i="0"/>
              <a:t/>
            </a:r>
          </a:p>
          <a:p>
            <a:pPr algn="l"/>
            <a:r>
              <a:rPr sz="950" b="0" i="0">
                <a:solidFill>
                  <a:srgbClr val="202020"/>
                </a:solidFill>
              </a:rPr>
              <a:t>Two-stage Transfer Learning:</a:t>
            </a:r>
          </a:p>
          <a:p>
            <a:pPr algn="l"/>
            <a:r>
              <a:rPr sz="950" b="1" i="0">
                <a:solidFill>
                  <a:srgbClr val="202020"/>
                </a:solidFill>
              </a:rPr>
              <a:t>ImageNet -&gt; FER2013 -&gt; Dataset sendiri</a:t>
            </a:r>
          </a:p>
          <a:p>
            <a:pPr algn="l"/>
            <a:r>
              <a:rPr sz="300" b="0" i="0"/>
              <a:t/>
            </a:r>
          </a:p>
          <a:p>
            <a:pPr algn="l"/>
            <a:r>
              <a:rPr sz="900" b="0" i="0">
                <a:solidFill>
                  <a:srgbClr val="666666"/>
                </a:solidFill>
              </a:rPr>
              <a:t>ImageNet: fitur visual umum (kucing, mobil)</a:t>
            </a:r>
          </a:p>
          <a:p>
            <a:pPr algn="l"/>
            <a:r>
              <a:rPr sz="900" b="0" i="0">
                <a:solidFill>
                  <a:srgbClr val="666666"/>
                </a:solidFill>
              </a:rPr>
              <a:t>FER2013: fitur ekspresi wajah (domain-specific)</a:t>
            </a:r>
          </a:p>
          <a:p>
            <a:pPr algn="l"/>
            <a:r>
              <a:rPr sz="300" b="0" i="0"/>
              <a:t/>
            </a:r>
          </a:p>
          <a:p>
            <a:pPr algn="l"/>
            <a:r>
              <a:rPr sz="950" b="1" i="0">
                <a:solidFill>
                  <a:srgbClr val="1A73E8"/>
                </a:solidFill>
              </a:rPr>
              <a:t>Estimasi improvement: +10-20% F1</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i="0">
                <a:solidFill>
                  <a:srgbClr val="202020"/>
                </a:solidFill>
              </a:rPr>
              <a:t>Eksperimen yang akan dijalankan (8 kombinasi, 4-class front-only):</a:t>
            </a:r>
          </a:p>
          <a:p>
            <a:pPr algn="l"/>
            <a:r>
              <a:rPr sz="300" b="0" i="0"/>
              <a:t/>
            </a:r>
          </a:p>
          <a:p>
            <a:pPr algn="l"/>
            <a:r>
              <a:rPr sz="900" b="0" i="0">
                <a:solidFill>
                  <a:srgbClr val="202020"/>
                </a:solidFill>
              </a:rPr>
              <a:t>1. CNN TL + Focal Loss                    5. CNN FER2013 + Focal Loss (best combo)</a:t>
            </a:r>
          </a:p>
          <a:p>
            <a:pPr algn="l"/>
            <a:r>
              <a:rPr sz="900" b="0" i="0">
                <a:solidFill>
                  <a:srgbClr val="202020"/>
                </a:solidFill>
              </a:rPr>
              <a:t>2. FCNN + Focal Loss                       6. Intermediate FER2013 + Focal Loss</a:t>
            </a:r>
          </a:p>
          <a:p>
            <a:pPr algn="l"/>
            <a:r>
              <a:rPr sz="900" b="0" i="0">
                <a:solidFill>
                  <a:srgbClr val="202020"/>
                </a:solidFill>
              </a:rPr>
              <a:t>3. Intermediate TL + Focal Loss       7. Late Fusion FER2013 + Focal Loss</a:t>
            </a:r>
          </a:p>
          <a:p>
            <a:pPr algn="l"/>
            <a:r>
              <a:rPr sz="900" b="0" i="0">
                <a:solidFill>
                  <a:srgbClr val="202020"/>
                </a:solidFill>
              </a:rPr>
              <a:t>4. CNN FER2013 + CrossEntropy        8. Intermediate FER2013 + CrossEntropy</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Status: Script &amp; notebook sudah siap | FER2013 sudah didownload | Estimasi ~3-5 jam di VPS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