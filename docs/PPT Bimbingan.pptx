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6" r:id="rId66"/>
    <p:sldId id="317" r:id="rId67"/>
    <p:sldId id="318" r:id="rId68"/>
    <p:sldId id="319" r:id="rId69"/>
    <p:sldId id="320" r:id="rId70"/>
    <p:sldId id="321" r:id="rId71"/>
    <p:sldId id="354" r:id="rId104"/>
    <p:sldId id="322" r:id="rId72"/>
    <p:sldId id="344" r:id="rId94"/>
    <p:sldId id="323" r:id="rId73"/>
    <p:sldId id="324" r:id="rId74"/>
    <p:sldId id="339" r:id="rId89"/>
    <p:sldId id="325" r:id="rId75"/>
    <p:sldId id="326" r:id="rId76"/>
    <p:sldId id="327" r:id="rId77"/>
    <p:sldId id="328" r:id="rId78"/>
    <p:sldId id="340" r:id="rId90"/>
    <p:sldId id="342" r:id="rId88"/>
    <p:sldId id="329" r:id="rId79"/>
    <p:sldId id="330" r:id="rId80"/>
    <p:sldId id="331" r:id="rId92"/>
    <p:sldId id="332" r:id="rId82"/>
    <p:sldId id="341" r:id="rId91"/>
    <p:sldId id="343" r:id="rId93"/>
    <p:sldId id="333" r:id="rId83"/>
    <p:sldId id="334" r:id="rId84"/>
    <p:sldId id="335" r:id="rId85"/>
    <p:sldId id="336" r:id="rId86"/>
    <p:sldId id="345" r:id="rId95"/>
    <p:sldId id="346" r:id="rId96"/>
    <p:sldId id="347" r:id="rId97"/>
    <p:sldId id="351" r:id="rId101"/>
    <p:sldId id="350" r:id="rId100"/>
    <p:sldId id="352" r:id="rId102"/>
    <p:sldId id="353" r:id="rId103"/>
    <p:sldId id="349" r:id="rId99"/>
    <p:sldId id="348" r:id="rId98"/>
    <p:sldId id="358" r:id="rId108"/>
    <p:sldId id="359" r:id="rId109"/>
    <p:sldId id="360" r:id="rId110"/>
    <p:sldId id="361" r:id="rId111"/>
    <p:sldId id="362" r:id="rId112"/>
    <p:sldId id="355" r:id="rId105"/>
    <p:sldId id="356" r:id="rId106"/>
    <p:sldId id="357" r:id="rId107"/>
    <p:sldId id="363" r:id="rId113"/>
    <p:sldId id="364" r:id="rId114"/>
    <p:sldId id="365" r:id="rId115"/>
    <p:sldId id="337" r:id="rId87"/>
    <p:sldId id="338"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108.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7.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108.xml"/><Relationship Id="rId82" Type="http://schemas.openxmlformats.org/officeDocument/2006/relationships/slide" Target="slides/slide81.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07.xml"/><Relationship Id="rId88" Type="http://schemas.openxmlformats.org/officeDocument/2006/relationships/slide" Target="slides/slide77.xml"/><Relationship Id="rId89" Type="http://schemas.openxmlformats.org/officeDocument/2006/relationships/slide" Target="slides/slide71.xml"/><Relationship Id="rId90" Type="http://schemas.openxmlformats.org/officeDocument/2006/relationships/slide" Target="slides/slide76.xml"/><Relationship Id="rId91" Type="http://schemas.openxmlformats.org/officeDocument/2006/relationships/slide" Target="slides/slide82.xml"/><Relationship Id="rId92" Type="http://schemas.openxmlformats.org/officeDocument/2006/relationships/slide" Target="slides/slide80.xml"/><Relationship Id="rId93" Type="http://schemas.openxmlformats.org/officeDocument/2006/relationships/slide" Target="slides/slide83.xml"/><Relationship Id="rId94" Type="http://schemas.openxmlformats.org/officeDocument/2006/relationships/slide" Target="slides/slide68.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6.xml"/><Relationship Id="rId99" Type="http://schemas.openxmlformats.org/officeDocument/2006/relationships/slide" Target="slides/slide95.xml"/><Relationship Id="rId100" Type="http://schemas.openxmlformats.org/officeDocument/2006/relationships/slide" Target="slides/slide92.xml"/><Relationship Id="rId101" Type="http://schemas.openxmlformats.org/officeDocument/2006/relationships/slide" Target="slides/slide91.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66.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bb749a845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bb749a845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bb749a845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bb749a845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b749a845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b749a845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b749a845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b749a845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ab79028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ab79028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ab790283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ab790283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ab790283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ab790283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ab790283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ab790283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db21574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db21574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db21574c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db21574c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db21574c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db21574c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07ab50b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07ab50b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07ab50b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07ab50b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25b6f03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25b6f03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25b6f033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25b6f033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3e12aa0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43e12aa0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3e12aa01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43e12aa01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ef9a598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4ef9a598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ef9a5980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ef9a5980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ef9a5980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ef9a5980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4ef9a5980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4ef9a5980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500a690d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500a690d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00a690d2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00a690d2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64e99a5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64e99a5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64e99a5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64e99a5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bfca3e4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bfca3e4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bfca3e42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bfca3e42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bfca3e4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bfca3e4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bfca3e42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bfca3e42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bfca3e42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bfca3e42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bfca3e42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5bfca3e42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bfca3e42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bfca3e42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5bfca3e42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5bfca3e42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bfca3e42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5bfca3e42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7989862d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7989862d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989862d9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989862d9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2770343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2770343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827703433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827703433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9c4d936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89c4d936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9c4d936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9c4d936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89c4d9369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89c4d9369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9c4d9369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89c4d9369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83cd94b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83cd94b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83cd94b7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83cd94b7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079bf44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a079bf44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079bf44a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079bf44a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6405087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6405087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6405087d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6405087d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a573afa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a573afa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a573afa6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a573afa6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9bd83a2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9bd83a2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9bd83a22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c9bd83a22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9bd83a22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c9bd83a22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9bd83a22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9bd83a22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9bd83a22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9bd83a22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9bd83a22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c9bd83a22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64ea1ee322f5c2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64ea1ee322f5c2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64ea1ee322f5c2d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64ea1ee322f5c2d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overleaf.com/project/6743ed79968eae885f51e19e" TargetMode="External"/><Relationship Id="rId4" Type="http://schemas.openxmlformats.org/officeDocument/2006/relationships/hyperlink" Target="https://www.overleaf.com/project/673aea91bdbc86f5a8943a6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s.ub.ac.id/pembimbingtesismilkom" TargetMode="External"/><Relationship Id="rId4" Type="http://schemas.openxmlformats.org/officeDocument/2006/relationships/hyperlink" Target="https://docs.google.com/document/d/1cp9b218_7sdOXRL9j4d0YuFljWNL_Ji2/edit?usp=drive_link&amp;ouid=106492765874169808495&amp;rtpof=true&amp;sd=tru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bi-learn.com/2025-conference/call-for-papers" TargetMode="External"/><Relationship Id="rId4" Type="http://schemas.openxmlformats.org/officeDocument/2006/relationships/image" Target="../media/image11.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3500"/>
              <a:t>Tesis</a:t>
            </a:r>
            <a:endParaRPr sz="3500"/>
          </a:p>
        </p:txBody>
      </p:sp>
      <p:sp>
        <p:nvSpPr>
          <p:cNvPr id="55" name="Google Shape;55;p13"/>
          <p:cNvSpPr txBox="1"/>
          <p:nvPr>
            <p:ph idx="1" type="subTitle"/>
          </p:nvPr>
        </p:nvSpPr>
        <p:spPr>
          <a:xfrm>
            <a:off x="311700" y="40124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300"/>
              <a:t>Angkatan 2024</a:t>
            </a:r>
            <a:endParaRPr sz="2300"/>
          </a:p>
        </p:txBody>
      </p:sp>
      <p:sp>
        <p:nvSpPr>
          <p:cNvPr id="56" name="Google Shape;56;p13"/>
          <p:cNvSpPr txBox="1"/>
          <p:nvPr>
            <p:ph type="ctrTitle"/>
          </p:nvPr>
        </p:nvSpPr>
        <p:spPr>
          <a:xfrm>
            <a:off x="311700" y="2468650"/>
            <a:ext cx="8520600" cy="1444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3900"/>
              <a:t>Integrasi Pola Interaksi Dan Emotional Detection Untuk Analisis Computational Thinking Mahasiswa Pada Platform Block-Based Programming</a:t>
            </a:r>
            <a:endParaRPr sz="3900"/>
          </a:p>
        </p:txBody>
      </p:sp>
      <p:sp>
        <p:nvSpPr>
          <p:cNvPr id="57" name="Google Shape;57;p13"/>
          <p:cNvSpPr txBox="1"/>
          <p:nvPr>
            <p:ph type="ctrTitle"/>
          </p:nvPr>
        </p:nvSpPr>
        <p:spPr>
          <a:xfrm>
            <a:off x="311700" y="0"/>
            <a:ext cx="8520600" cy="43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GB" sz="1700"/>
              <a:t>Affective Computing Research Interest Group</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21/02/2025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Publikasi untuk skripsi dari Pak Fajar tidak ke </a:t>
            </a:r>
            <a:r>
              <a:rPr lang="en-GB"/>
              <a:t>Ubiquitous Learning:</a:t>
            </a:r>
            <a:br>
              <a:rPr lang="en-GB"/>
            </a:br>
            <a:r>
              <a:rPr lang="en-GB" u="sng">
                <a:solidFill>
                  <a:schemeClr val="hlink"/>
                </a:solidFill>
                <a:hlinkClick r:id="rId3"/>
              </a:rPr>
              <a:t>https://www.overleaf.com/project/6743ed79968eae885f51e19e</a:t>
            </a:r>
            <a:r>
              <a:rPr lang="en-GB"/>
              <a:t> </a:t>
            </a:r>
            <a:endParaRPr/>
          </a:p>
          <a:p>
            <a:pPr indent="-342900" lvl="0" marL="457200" rtl="0" algn="l">
              <a:spcBef>
                <a:spcPts val="0"/>
              </a:spcBef>
              <a:spcAft>
                <a:spcPts val="0"/>
              </a:spcAft>
              <a:buSzPts val="1800"/>
              <a:buChar char="❏"/>
            </a:pPr>
            <a:r>
              <a:rPr lang="en-GB"/>
              <a:t>Publikasi SLR:</a:t>
            </a:r>
            <a:br>
              <a:rPr lang="en-GB"/>
            </a:br>
            <a:r>
              <a:rPr lang="en-GB" u="sng">
                <a:solidFill>
                  <a:schemeClr val="hlink"/>
                </a:solidFill>
                <a:hlinkClick r:id="rId4"/>
              </a:rPr>
              <a:t>https://www.overleaf.com/project/673aea91bdbc86f5a8943a60</a:t>
            </a:r>
            <a:r>
              <a:rPr lang="en-GB"/>
              <a:t> </a:t>
            </a:r>
            <a:endParaRPr/>
          </a:p>
          <a:p>
            <a:pPr indent="-342900" lvl="0" marL="457200" rtl="0" algn="l">
              <a:spcBef>
                <a:spcPts val="0"/>
              </a:spcBef>
              <a:spcAft>
                <a:spcPts val="0"/>
              </a:spcAft>
              <a:buSzPts val="1800"/>
              <a:buChar char="❏"/>
            </a:pPr>
            <a:r>
              <a:rPr lang="en-GB"/>
              <a:t>Tujuan publikasi kedua paper tersebut</a:t>
            </a:r>
            <a:endParaRPr/>
          </a:p>
          <a:p>
            <a:pPr indent="-342900" lvl="0" marL="457200" rtl="0" algn="l">
              <a:spcBef>
                <a:spcPts val="0"/>
              </a:spcBef>
              <a:spcAft>
                <a:spcPts val="0"/>
              </a:spcAft>
              <a:buSzPts val="1800"/>
              <a:buChar char="❏"/>
            </a:pPr>
            <a:r>
              <a:rPr lang="en-GB"/>
              <a:t>Pelaksanaan ICOMIT 25-26 Agustus 2025, berarti apakah terhitung masuk di Semester Ganjil 2025/2026 ?</a:t>
            </a:r>
            <a:br>
              <a:rPr lang="en-GB"/>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Dari Akademik sudah mengumumkan penentuan Dosen Pembimbing 2 yaitu Pak Dr. Eng. Budi Darma Setiawan, S.Kom., M.Cs.</a:t>
            </a:r>
            <a:endParaRPr/>
          </a:p>
          <a:p>
            <a:pPr indent="-342900" lvl="0" marL="457200" rtl="0" algn="l">
              <a:spcBef>
                <a:spcPts val="0"/>
              </a:spcBef>
              <a:spcAft>
                <a:spcPts val="0"/>
              </a:spcAft>
              <a:buSzPts val="1800"/>
              <a:buChar char="❏"/>
            </a:pPr>
            <a:r>
              <a:rPr lang="en-GB"/>
              <a:t>Pengisian form kesediaan menjadi dosen pembimbing:</a:t>
            </a:r>
            <a:br>
              <a:rPr lang="en-GB"/>
            </a:br>
            <a:r>
              <a:rPr lang="en-GB" u="sng">
                <a:solidFill>
                  <a:schemeClr val="hlink"/>
                </a:solidFill>
                <a:hlinkClick r:id="rId3"/>
              </a:rPr>
              <a:t>https://s.ub.ac.id/pembimbingtesismilkom</a:t>
            </a:r>
            <a:r>
              <a:rPr lang="en-GB"/>
              <a:t> </a:t>
            </a:r>
            <a:endParaRPr/>
          </a:p>
          <a:p>
            <a:pPr indent="-342900" lvl="0" marL="457200" rtl="0" algn="l">
              <a:spcBef>
                <a:spcPts val="0"/>
              </a:spcBef>
              <a:spcAft>
                <a:spcPts val="0"/>
              </a:spcAft>
              <a:buSzPts val="1800"/>
              <a:buChar char="❏"/>
            </a:pPr>
            <a:r>
              <a:rPr lang="en-GB"/>
              <a:t>Sudah terdapat rancangan Proposal yang dikerjakan waktu mata kuliah </a:t>
            </a:r>
            <a:r>
              <a:rPr lang="en-GB"/>
              <a:t>Metodologi Penelitian dan Penulisan Karya Ilmiah:</a:t>
            </a:r>
            <a:br>
              <a:rPr lang="en-GB"/>
            </a:br>
            <a:r>
              <a:rPr lang="en-GB" u="sng">
                <a:solidFill>
                  <a:schemeClr val="hlink"/>
                </a:solidFill>
                <a:hlinkClick r:id="rId4"/>
              </a:rPr>
              <a:t>https://docs.google.com/document/d/1cp9b218_7sdOXRL9j4d0YuFljWNL_Ji2/edit?usp=drive_link&amp;ouid=106492765874169808495&amp;rtpof=true&amp;sd=true</a:t>
            </a:r>
            <a:r>
              <a:rPr lang="en-GB"/>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28/02/2025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Berdasarkan arahan sebelumnya untuk Publikasi Skripsi ke Ubi-learn</a:t>
            </a:r>
            <a:endParaRPr/>
          </a:p>
          <a:p>
            <a:pPr indent="-342900" lvl="0" marL="457200" rtl="0" algn="l">
              <a:spcBef>
                <a:spcPts val="0"/>
              </a:spcBef>
              <a:spcAft>
                <a:spcPts val="0"/>
              </a:spcAft>
              <a:buSzPts val="1800"/>
              <a:buChar char="❏"/>
            </a:pPr>
            <a:r>
              <a:rPr lang="en-GB"/>
              <a:t>Informasi dari website </a:t>
            </a:r>
            <a:r>
              <a:rPr lang="en-GB" u="sng">
                <a:solidFill>
                  <a:schemeClr val="hlink"/>
                </a:solidFill>
                <a:hlinkClick r:id="rId3"/>
              </a:rPr>
              <a:t>https://ubi-learn.com/2025-conference/call-for-papers</a:t>
            </a:r>
            <a:r>
              <a:rPr lang="en-GB"/>
              <a:t> </a:t>
            </a:r>
            <a:endParaRPr/>
          </a:p>
          <a:p>
            <a:pPr indent="-342900" lvl="0" marL="457200" rtl="0" algn="l">
              <a:spcBef>
                <a:spcPts val="0"/>
              </a:spcBef>
              <a:spcAft>
                <a:spcPts val="0"/>
              </a:spcAft>
              <a:buSzPts val="1800"/>
              <a:buChar char="❏"/>
            </a:pPr>
            <a:br>
              <a:rPr lang="en-GB"/>
            </a:br>
            <a:endParaRPr/>
          </a:p>
        </p:txBody>
      </p:sp>
      <p:pic>
        <p:nvPicPr>
          <p:cNvPr id="86" name="Google Shape;86;p18"/>
          <p:cNvPicPr preferRelativeResize="0"/>
          <p:nvPr/>
        </p:nvPicPr>
        <p:blipFill>
          <a:blip r:embed="rId4">
            <a:alphaModFix/>
          </a:blip>
          <a:stretch>
            <a:fillRect/>
          </a:stretch>
        </p:blipFill>
        <p:spPr>
          <a:xfrm>
            <a:off x="858900" y="1896700"/>
            <a:ext cx="4719450" cy="1573150"/>
          </a:xfrm>
          <a:prstGeom prst="rect">
            <a:avLst/>
          </a:prstGeom>
          <a:noFill/>
          <a:ln>
            <a:noFill/>
          </a:ln>
        </p:spPr>
      </p:pic>
      <p:pic>
        <p:nvPicPr>
          <p:cNvPr id="87" name="Google Shape;87;p18"/>
          <p:cNvPicPr preferRelativeResize="0"/>
          <p:nvPr/>
        </p:nvPicPr>
        <p:blipFill>
          <a:blip r:embed="rId5">
            <a:alphaModFix/>
          </a:blip>
          <a:stretch>
            <a:fillRect/>
          </a:stretch>
        </p:blipFill>
        <p:spPr>
          <a:xfrm>
            <a:off x="858900" y="3549750"/>
            <a:ext cx="2994449" cy="141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Aplikasi e-Block</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menambahkan fitur logging pengerjaan challenge</a:t>
            </a:r>
            <a:endParaRPr/>
          </a:p>
          <a:p>
            <a:pPr indent="-342900" lvl="0" marL="457200" rtl="0" algn="l">
              <a:spcBef>
                <a:spcPts val="0"/>
              </a:spcBef>
              <a:spcAft>
                <a:spcPts val="0"/>
              </a:spcAft>
              <a:buSzPts val="1800"/>
              <a:buChar char="❏"/>
            </a:pPr>
            <a:r>
              <a:rPr lang="en-GB"/>
              <a:t>Pengimplementasian FaceApi.js masih belum dilakukan</a:t>
            </a:r>
            <a:endParaRPr/>
          </a:p>
          <a:p>
            <a:pPr indent="-342900" lvl="0" marL="457200" rtl="0" algn="l">
              <a:spcBef>
                <a:spcPts val="0"/>
              </a:spcBef>
              <a:spcAft>
                <a:spcPts val="0"/>
              </a:spcAft>
              <a:buSzPts val="1800"/>
              <a:buChar char="❏"/>
            </a:pPr>
            <a:r>
              <a:rPr lang="en-GB"/>
              <a:t>Demonstrasi fitur baru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Judul yang saya ajukan:</a:t>
            </a:r>
            <a:br>
              <a:rPr lang="en-GB"/>
            </a:br>
            <a:r>
              <a:rPr lang="en-GB"/>
              <a:t>Integrasi Pola Interaksi Dan Emotional Detection Berbasis Machine Learning Untuk Analisis Computational Thinking Mahasiswa Pada Platform Block-Based Programming</a:t>
            </a:r>
            <a:endParaRPr/>
          </a:p>
          <a:p>
            <a:pPr indent="-342900" lvl="0" marL="457200" rtl="0" algn="l">
              <a:spcBef>
                <a:spcPts val="0"/>
              </a:spcBef>
              <a:spcAft>
                <a:spcPts val="0"/>
              </a:spcAft>
              <a:buSzPts val="1800"/>
              <a:buChar char="❏"/>
            </a:pPr>
            <a:r>
              <a:rPr lang="en-GB"/>
              <a:t>Konsep Awal Penelitian:	</a:t>
            </a:r>
            <a:endParaRPr/>
          </a:p>
          <a:p>
            <a:pPr indent="-317500" lvl="1" marL="914400" rtl="0" algn="l">
              <a:spcBef>
                <a:spcPts val="0"/>
              </a:spcBef>
              <a:spcAft>
                <a:spcPts val="0"/>
              </a:spcAft>
              <a:buSzPts val="1400"/>
              <a:buChar char="❏"/>
            </a:pPr>
            <a:r>
              <a:rPr lang="en-GB"/>
              <a:t>Analisis Pola Interaksi</a:t>
            </a:r>
            <a:endParaRPr/>
          </a:p>
          <a:p>
            <a:pPr indent="-317500" lvl="2" marL="1371600" rtl="0" algn="l">
              <a:spcBef>
                <a:spcPts val="0"/>
              </a:spcBef>
              <a:spcAft>
                <a:spcPts val="0"/>
              </a:spcAft>
              <a:buSzPts val="1400"/>
              <a:buChar char="❏"/>
            </a:pPr>
            <a:r>
              <a:rPr lang="en-GB"/>
              <a:t>Rekam Jejak Aktivitas Mahasiswa pada Platform e-Block berupa urutan manipulasi blok algoritma</a:t>
            </a:r>
            <a:endParaRPr/>
          </a:p>
          <a:p>
            <a:pPr indent="-317500" lvl="1" marL="914400" marR="0" rtl="0" algn="l">
              <a:lnSpc>
                <a:spcPct val="115000"/>
              </a:lnSpc>
              <a:spcBef>
                <a:spcPts val="0"/>
              </a:spcBef>
              <a:spcAft>
                <a:spcPts val="0"/>
              </a:spcAft>
              <a:buSzPts val="1400"/>
              <a:buChar char="❏"/>
            </a:pPr>
            <a:r>
              <a:rPr lang="en-GB" sz="1400"/>
              <a:t>Deteksi</a:t>
            </a:r>
            <a:r>
              <a:rPr lang="en-GB"/>
              <a:t> Emosional</a:t>
            </a:r>
            <a:endParaRPr/>
          </a:p>
          <a:p>
            <a:pPr indent="-317500" lvl="2" marL="1371600" marR="0" rtl="0" algn="l">
              <a:lnSpc>
                <a:spcPct val="115000"/>
              </a:lnSpc>
              <a:spcBef>
                <a:spcPts val="0"/>
              </a:spcBef>
              <a:spcAft>
                <a:spcPts val="0"/>
              </a:spcAft>
              <a:buSzPts val="1400"/>
              <a:buChar char="❏"/>
            </a:pPr>
            <a:r>
              <a:rPr lang="en-GB"/>
              <a:t>Menggunakan FaceAPI.js untuk Analisis Ekspresi Wajah untuk 7 status emosi</a:t>
            </a:r>
            <a:endParaRPr/>
          </a:p>
          <a:p>
            <a:pPr indent="-342900" lvl="0" marL="457200" marR="0" rtl="0" algn="l">
              <a:lnSpc>
                <a:spcPct val="115000"/>
              </a:lnSpc>
              <a:spcBef>
                <a:spcPts val="0"/>
              </a:spcBef>
              <a:spcAft>
                <a:spcPts val="0"/>
              </a:spcAft>
              <a:buSzPts val="1800"/>
              <a:buChar char="❏"/>
            </a:pPr>
            <a:r>
              <a:rPr lang="en-GB"/>
              <a:t>Tujuan</a:t>
            </a:r>
            <a:r>
              <a:rPr lang="en-GB" sz="1400"/>
              <a:t>: Pengembangan Model Machine Learning. Menganalisis Korelasi Antara:</a:t>
            </a:r>
            <a:endParaRPr sz="1400"/>
          </a:p>
          <a:p>
            <a:pPr indent="-317500" lvl="1" marL="914400" marR="0" rtl="0" algn="l">
              <a:lnSpc>
                <a:spcPct val="115000"/>
              </a:lnSpc>
              <a:spcBef>
                <a:spcPts val="0"/>
              </a:spcBef>
              <a:spcAft>
                <a:spcPts val="0"/>
              </a:spcAft>
              <a:buSzPts val="1400"/>
              <a:buChar char="❏"/>
            </a:pPr>
            <a:r>
              <a:rPr lang="en-GB" sz="1400"/>
              <a:t>Pola Interaksi</a:t>
            </a:r>
            <a:endParaRPr/>
          </a:p>
          <a:p>
            <a:pPr indent="-317500" lvl="1" marL="914400" marR="0" rtl="0" algn="l">
              <a:lnSpc>
                <a:spcPct val="115000"/>
              </a:lnSpc>
              <a:spcBef>
                <a:spcPts val="0"/>
              </a:spcBef>
              <a:spcAft>
                <a:spcPts val="0"/>
              </a:spcAft>
              <a:buSzPts val="1400"/>
              <a:buChar char="❏"/>
            </a:pPr>
            <a:r>
              <a:rPr lang="en-GB" sz="1400"/>
              <a:t>Respons Emosional</a:t>
            </a:r>
            <a:endParaRPr/>
          </a:p>
          <a:p>
            <a:pPr indent="-317500" lvl="1" marL="914400" marR="0" rtl="0" algn="l">
              <a:lnSpc>
                <a:spcPct val="115000"/>
              </a:lnSpc>
              <a:spcBef>
                <a:spcPts val="0"/>
              </a:spcBef>
              <a:spcAft>
                <a:spcPts val="0"/>
              </a:spcAft>
              <a:buSzPts val="1400"/>
              <a:buChar char="❏"/>
            </a:pPr>
            <a:r>
              <a:rPr lang="en-GB" sz="1400"/>
              <a:t>Kemampuan Computational Thinking</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Teknik Analisis Data</a:t>
            </a:r>
            <a:endParaRPr/>
          </a:p>
          <a:p>
            <a:pPr indent="-317500" lvl="1" marL="914400" rtl="0" algn="l">
              <a:spcBef>
                <a:spcPts val="0"/>
              </a:spcBef>
              <a:spcAft>
                <a:spcPts val="0"/>
              </a:spcAft>
              <a:buSzPts val="1400"/>
              <a:buChar char="❏"/>
            </a:pPr>
            <a:r>
              <a:rPr lang="en-GB"/>
              <a:t>Sequential Pattern Mining</a:t>
            </a:r>
            <a:endParaRPr/>
          </a:p>
          <a:p>
            <a:pPr indent="-317500" lvl="2" marL="1371600" rtl="0" algn="l">
              <a:spcBef>
                <a:spcPts val="0"/>
              </a:spcBef>
              <a:spcAft>
                <a:spcPts val="0"/>
              </a:spcAft>
              <a:buSzPts val="1400"/>
              <a:buChar char="❏"/>
            </a:pPr>
            <a:r>
              <a:rPr lang="en-GB"/>
              <a:t>Identifikasi Pola Temporal</a:t>
            </a:r>
            <a:endParaRPr/>
          </a:p>
          <a:p>
            <a:pPr indent="-317500" lvl="2" marL="1371600" rtl="0" algn="l">
              <a:spcBef>
                <a:spcPts val="0"/>
              </a:spcBef>
              <a:spcAft>
                <a:spcPts val="0"/>
              </a:spcAft>
              <a:buSzPts val="1400"/>
              <a:buChar char="❏"/>
            </a:pPr>
            <a:r>
              <a:rPr lang="en-GB"/>
              <a:t>Analisis Urutan Aktivitas dan Emosi</a:t>
            </a:r>
            <a:endParaRPr/>
          </a:p>
          <a:p>
            <a:pPr indent="-317500" lvl="1" marL="914400" rtl="0" algn="l">
              <a:spcBef>
                <a:spcPts val="0"/>
              </a:spcBef>
              <a:spcAft>
                <a:spcPts val="0"/>
              </a:spcAft>
              <a:buSzPts val="1400"/>
              <a:buChar char="❏"/>
            </a:pPr>
            <a:r>
              <a:rPr lang="en-GB"/>
              <a:t>Clustering Non-Supervised</a:t>
            </a:r>
            <a:endParaRPr/>
          </a:p>
          <a:p>
            <a:pPr indent="-317500" lvl="2" marL="1371600" rtl="0" algn="l">
              <a:spcBef>
                <a:spcPts val="0"/>
              </a:spcBef>
              <a:spcAft>
                <a:spcPts val="0"/>
              </a:spcAft>
              <a:buSzPts val="1400"/>
              <a:buChar char="❏"/>
            </a:pPr>
            <a:r>
              <a:rPr lang="en-GB"/>
              <a:t>Pengelompokan Mahasiswa Berdasarkan Pola Interaksi</a:t>
            </a:r>
            <a:endParaRPr/>
          </a:p>
          <a:p>
            <a:pPr indent="-317500" lvl="1" marL="914400" rtl="0" algn="l">
              <a:spcBef>
                <a:spcPts val="0"/>
              </a:spcBef>
              <a:spcAft>
                <a:spcPts val="0"/>
              </a:spcAft>
              <a:buSzPts val="1400"/>
              <a:buChar char="❏"/>
            </a:pPr>
            <a:r>
              <a:rPr lang="en-GB"/>
              <a:t>Klasifikasi Supervised</a:t>
            </a:r>
            <a:endParaRPr/>
          </a:p>
          <a:p>
            <a:pPr indent="-317500" lvl="2" marL="1371600" rtl="0" algn="l">
              <a:spcBef>
                <a:spcPts val="0"/>
              </a:spcBef>
              <a:spcAft>
                <a:spcPts val="0"/>
              </a:spcAft>
              <a:buSzPts val="1400"/>
              <a:buChar char="❏"/>
            </a:pPr>
            <a:r>
              <a:rPr lang="en-GB"/>
              <a:t>Prediksi Kemampuan Computational Thinking</a:t>
            </a:r>
            <a:endParaRPr/>
          </a:p>
          <a:p>
            <a:pPr indent="-317500" lvl="1" marL="914400" marR="0" rtl="0" algn="l">
              <a:lnSpc>
                <a:spcPct val="115000"/>
              </a:lnSpc>
              <a:spcBef>
                <a:spcPts val="0"/>
              </a:spcBef>
              <a:spcAft>
                <a:spcPts val="0"/>
              </a:spcAft>
              <a:buSzPts val="1400"/>
              <a:buChar char="❏"/>
            </a:pPr>
            <a:r>
              <a:rPr lang="en-GB"/>
              <a:t>Analisis Regresi Multivariat</a:t>
            </a:r>
            <a:endParaRPr/>
          </a:p>
          <a:p>
            <a:pPr indent="-317500" lvl="2" marL="1371600" marR="0" rtl="0" algn="l">
              <a:lnSpc>
                <a:spcPct val="115000"/>
              </a:lnSpc>
              <a:spcBef>
                <a:spcPts val="0"/>
              </a:spcBef>
              <a:spcAft>
                <a:spcPts val="0"/>
              </a:spcAft>
              <a:buSzPts val="1400"/>
              <a:buChar char="❏"/>
            </a:pPr>
            <a:r>
              <a:rPr lang="en-GB"/>
              <a:t>Menentukan Hubungan Kompleks Antarvariabel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07/03/2025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Dari Pak Fajar menyarankan jika tidak ada conference dalam waktu dekat bisa coba di submit ke Jurnal</a:t>
            </a:r>
            <a:endParaRPr/>
          </a:p>
          <a:p>
            <a:pPr indent="-342900" lvl="0" marL="457200" rtl="0" algn="l">
              <a:spcBef>
                <a:spcPts val="0"/>
              </a:spcBef>
              <a:spcAft>
                <a:spcPts val="0"/>
              </a:spcAft>
              <a:buSzPts val="1800"/>
              <a:buChar char="❏"/>
            </a:pPr>
            <a:r>
              <a:rPr lang="en-GB"/>
              <a:t>Jurnal yang direkomendasikan Pak Fajar</a:t>
            </a:r>
            <a:endParaRPr/>
          </a:p>
          <a:p>
            <a:pPr indent="-317500" lvl="1" marL="914400" rtl="0" algn="l">
              <a:spcBef>
                <a:spcPts val="0"/>
              </a:spcBef>
              <a:spcAft>
                <a:spcPts val="0"/>
              </a:spcAft>
              <a:buSzPts val="1400"/>
              <a:buChar char="❏"/>
            </a:pPr>
            <a:r>
              <a:rPr lang="en-GB"/>
              <a:t>Kinetik UMM</a:t>
            </a:r>
            <a:endParaRPr/>
          </a:p>
          <a:p>
            <a:pPr indent="-317500" lvl="1" marL="914400" rtl="0" algn="l">
              <a:spcBef>
                <a:spcPts val="0"/>
              </a:spcBef>
              <a:spcAft>
                <a:spcPts val="0"/>
              </a:spcAft>
              <a:buSzPts val="1400"/>
              <a:buChar char="❏"/>
            </a:pPr>
            <a:r>
              <a:rPr lang="en-GB"/>
              <a:t>Intensif UNP Kediri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Aplikasi e-Block</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Sedang mengintegrasikan </a:t>
            </a:r>
            <a:r>
              <a:rPr lang="en-GB"/>
              <a:t>FaceApi</a:t>
            </a:r>
            <a:r>
              <a:rPr lang="en-GB"/>
              <a:t>.js ke dalam challenge</a:t>
            </a:r>
            <a:endParaRPr/>
          </a:p>
          <a:p>
            <a:pPr indent="-342900" lvl="0" marL="457200" rtl="0" algn="l">
              <a:spcBef>
                <a:spcPts val="0"/>
              </a:spcBef>
              <a:spcAft>
                <a:spcPts val="0"/>
              </a:spcAft>
              <a:buSzPts val="1800"/>
              <a:buChar char="❏"/>
            </a:pPr>
            <a:r>
              <a:rPr lang="en-GB"/>
              <a:t>Masih terkendala data emosi nya masih belum bisa terekam</a:t>
            </a:r>
            <a:endParaRPr/>
          </a:p>
          <a:p>
            <a:pPr indent="-342900" lvl="0" marL="457200" rtl="0" algn="l">
              <a:spcBef>
                <a:spcPts val="0"/>
              </a:spcBef>
              <a:spcAft>
                <a:spcPts val="0"/>
              </a:spcAft>
              <a:buSzPts val="1800"/>
              <a:buChar char="❏"/>
            </a:pPr>
            <a:r>
              <a:rPr lang="en-GB"/>
              <a:t>Demonstrasi Program Sementara</a:t>
            </a:r>
            <a:br>
              <a:rPr lang="en-GB"/>
            </a:b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14/03/2025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mengirimkan draft abstract 2 penelitian Hari Senin</a:t>
            </a:r>
            <a:endParaRPr/>
          </a:p>
          <a:p>
            <a:pPr indent="-342900" lvl="0" marL="457200" rtl="0" algn="l">
              <a:spcBef>
                <a:spcPts val="0"/>
              </a:spcBef>
              <a:spcAft>
                <a:spcPts val="0"/>
              </a:spcAft>
              <a:buSzPts val="1800"/>
              <a:buChar char="❏"/>
            </a:pPr>
            <a:r>
              <a:rPr lang="en-GB"/>
              <a:t>Telah menyusun draft paper untuk penelitian yang signifikan</a:t>
            </a:r>
            <a:endParaRPr/>
          </a:p>
          <a:p>
            <a:pPr indent="-342900" lvl="0" marL="457200" rtl="0" algn="l">
              <a:spcBef>
                <a:spcPts val="0"/>
              </a:spcBef>
              <a:spcAft>
                <a:spcPts val="0"/>
              </a:spcAft>
              <a:buSzPts val="1800"/>
              <a:buChar char="❏"/>
            </a:pPr>
            <a:r>
              <a:rPr lang="en-GB"/>
              <a:t>Ada beberapa hal yang ingin ditanyakan terkait isi paper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21/03/2025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44" name="Google Shape;14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Masih progress menyelesaikan tambahan bab di draft paper dan mencari referensi tambahan karena masih kurang</a:t>
            </a:r>
            <a:endParaRPr/>
          </a:p>
          <a:p>
            <a:pPr indent="-342900" lvl="0" marL="457200" rtl="0" algn="l">
              <a:spcBef>
                <a:spcPts val="0"/>
              </a:spcBef>
              <a:spcAft>
                <a:spcPts val="0"/>
              </a:spcAft>
              <a:buSzPts val="1800"/>
              <a:buChar char="❏"/>
            </a:pPr>
            <a:r>
              <a:rPr lang="en-GB"/>
              <a:t>Poin poin yang dibahas pada Related Works</a:t>
            </a:r>
            <a:endParaRPr/>
          </a:p>
          <a:p>
            <a:pPr indent="-317500" lvl="1" marL="914400" rtl="0" algn="l">
              <a:spcBef>
                <a:spcPts val="0"/>
              </a:spcBef>
              <a:spcAft>
                <a:spcPts val="0"/>
              </a:spcAft>
              <a:buSzPts val="1400"/>
              <a:buChar char="❏"/>
            </a:pPr>
            <a:r>
              <a:rPr lang="en-GB"/>
              <a:t>Block-Based Programming Environments</a:t>
            </a:r>
            <a:endParaRPr/>
          </a:p>
          <a:p>
            <a:pPr indent="-317500" lvl="1" marL="914400" rtl="0" algn="l">
              <a:spcBef>
                <a:spcPts val="0"/>
              </a:spcBef>
              <a:spcAft>
                <a:spcPts val="0"/>
              </a:spcAft>
              <a:buSzPts val="1400"/>
              <a:buChar char="❏"/>
            </a:pPr>
            <a:r>
              <a:rPr lang="en-GB"/>
              <a:t>Transitioning from Block-Based to Text-Based Programming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27/03/2025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55" name="Google Shape;15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mengunggah draft jurnal dengan template Taylor &amp; Francis di Google Drive.</a:t>
            </a:r>
            <a:endParaRPr/>
          </a:p>
          <a:p>
            <a:pPr indent="-342900" lvl="0" marL="457200" rtl="0" algn="l">
              <a:spcBef>
                <a:spcPts val="0"/>
              </a:spcBef>
              <a:spcAft>
                <a:spcPts val="0"/>
              </a:spcAft>
              <a:buSzPts val="1800"/>
              <a:buChar char="❏"/>
            </a:pPr>
            <a:r>
              <a:rPr lang="en-GB"/>
              <a:t>Apa tahapan berikutnya yang harus saya lakukan dalam proses publikasi?</a:t>
            </a:r>
            <a:endParaRPr/>
          </a:p>
          <a:p>
            <a:pPr indent="-342900" lvl="0" marL="457200" rtl="0" algn="l">
              <a:spcBef>
                <a:spcPts val="0"/>
              </a:spcBef>
              <a:spcAft>
                <a:spcPts val="0"/>
              </a:spcAft>
              <a:buSzPts val="1800"/>
              <a:buChar char="❏"/>
            </a:pPr>
            <a:r>
              <a:rPr lang="en-GB"/>
              <a:t>Terkait hibah DRTPM-PTM, penelitian mana yang diajukan?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17/04/2025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e-Block</a:t>
            </a:r>
            <a:endParaRPr/>
          </a:p>
        </p:txBody>
      </p:sp>
      <p:sp>
        <p:nvSpPr>
          <p:cNvPr id="166" name="Google Shape;16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Fitur Emotional Detection telah berjalan sejak awal aplikasi dijalankan. Sistem melakukan perekaman ekspresi wajah setiap 5 detik secara otomatis.</a:t>
            </a:r>
            <a:endParaRPr/>
          </a:p>
          <a:p>
            <a:pPr indent="-342900" lvl="0" marL="457200" rtl="0" algn="l">
              <a:spcBef>
                <a:spcPts val="0"/>
              </a:spcBef>
              <a:spcAft>
                <a:spcPts val="0"/>
              </a:spcAft>
              <a:buSzPts val="1800"/>
              <a:buChar char="❏"/>
            </a:pPr>
            <a:r>
              <a:rPr lang="en-GB"/>
              <a:t>Terkait mekanisme penyimpanan data ke database, mana yang paling disarankan?</a:t>
            </a:r>
            <a:endParaRPr/>
          </a:p>
          <a:p>
            <a:pPr indent="-317500" lvl="1" marL="914400" rtl="0" algn="l">
              <a:spcBef>
                <a:spcPts val="0"/>
              </a:spcBef>
              <a:spcAft>
                <a:spcPts val="0"/>
              </a:spcAft>
              <a:buSzPts val="1400"/>
              <a:buChar char="❏"/>
            </a:pPr>
            <a:r>
              <a:rPr lang="en-GB"/>
              <a:t>Pengiriman setelah pengguna menutup aplikasi</a:t>
            </a:r>
            <a:endParaRPr/>
          </a:p>
          <a:p>
            <a:pPr indent="-317500" lvl="1" marL="914400" rtl="0" algn="l">
              <a:spcBef>
                <a:spcPts val="0"/>
              </a:spcBef>
              <a:spcAft>
                <a:spcPts val="0"/>
              </a:spcAft>
              <a:buSzPts val="1400"/>
              <a:buChar char="❏"/>
            </a:pPr>
            <a:r>
              <a:rPr lang="en-GB"/>
              <a:t>Pengiriman berkala (misalnya setiap 5 menit)</a:t>
            </a:r>
            <a:endParaRPr/>
          </a:p>
          <a:p>
            <a:pPr indent="-317500" lvl="1" marL="914400" rtl="0" algn="l">
              <a:spcBef>
                <a:spcPts val="0"/>
              </a:spcBef>
              <a:spcAft>
                <a:spcPts val="0"/>
              </a:spcAft>
              <a:buSzPts val="1400"/>
              <a:buChar char="❏"/>
            </a:pPr>
            <a:r>
              <a:rPr lang="en-GB"/>
              <a:t>Pengiriman saat perpindahan halaman</a:t>
            </a:r>
            <a:endParaRPr/>
          </a:p>
          <a:p>
            <a:pPr indent="-317500" lvl="1" marL="914400" rtl="0" algn="l">
              <a:spcBef>
                <a:spcPts val="0"/>
              </a:spcBef>
              <a:spcAft>
                <a:spcPts val="0"/>
              </a:spcAft>
              <a:buSzPts val="1400"/>
              <a:buChar char="❏"/>
            </a:pPr>
            <a:r>
              <a:rPr lang="en-GB"/>
              <a:t>Pengiriman berdasarkan jumlah data tertentu</a:t>
            </a:r>
            <a:endParaRPr/>
          </a:p>
          <a:p>
            <a:pPr indent="-342900" lvl="0" marL="457200" rtl="0" algn="l">
              <a:spcBef>
                <a:spcPts val="0"/>
              </a:spcBef>
              <a:spcAft>
                <a:spcPts val="0"/>
              </a:spcAft>
              <a:buSzPts val="1800"/>
              <a:buChar char="❏"/>
            </a:pPr>
            <a:r>
              <a:rPr lang="en-GB"/>
              <a:t>Apakah perlu dibuat mekanisme khusus pada program ketika emosi nya tidak terdeteksi?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e-Block</a:t>
            </a:r>
            <a:endParaRPr/>
          </a:p>
        </p:txBody>
      </p:sp>
      <p:sp>
        <p:nvSpPr>
          <p:cNvPr id="172" name="Google Shape;17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GB"/>
              <a:t>Data apa saja yang idealnya disimpan pada database untuk keperluan analisis?</a:t>
            </a:r>
            <a:endParaRPr/>
          </a:p>
          <a:p>
            <a:pPr indent="-310832" lvl="1" marL="914400" rtl="0" algn="l">
              <a:spcBef>
                <a:spcPts val="0"/>
              </a:spcBef>
              <a:spcAft>
                <a:spcPts val="0"/>
              </a:spcAft>
              <a:buSzPct val="100000"/>
              <a:buChar char="❏"/>
            </a:pPr>
            <a:r>
              <a:rPr lang="en-GB"/>
              <a:t>Hasil klasifikasi emosi</a:t>
            </a:r>
            <a:endParaRPr/>
          </a:p>
          <a:p>
            <a:pPr indent="-310832" lvl="1" marL="914400" rtl="0" algn="l">
              <a:spcBef>
                <a:spcPts val="0"/>
              </a:spcBef>
              <a:spcAft>
                <a:spcPts val="0"/>
              </a:spcAft>
              <a:buSzPct val="100000"/>
              <a:buChar char="❏"/>
            </a:pPr>
            <a:r>
              <a:rPr lang="en-GB"/>
              <a:t>Confidence score dari masing-masing label emosi</a:t>
            </a:r>
            <a:endParaRPr/>
          </a:p>
          <a:p>
            <a:pPr indent="-310832" lvl="1" marL="914400" rtl="0" algn="l">
              <a:spcBef>
                <a:spcPts val="0"/>
              </a:spcBef>
              <a:spcAft>
                <a:spcPts val="0"/>
              </a:spcAft>
              <a:buSzPct val="100000"/>
              <a:buChar char="❏"/>
            </a:pPr>
            <a:r>
              <a:rPr lang="en-GB"/>
              <a:t>Nama halaman saat data direkam</a:t>
            </a:r>
            <a:endParaRPr/>
          </a:p>
          <a:p>
            <a:pPr indent="-310832" lvl="1" marL="914400" rtl="0" algn="l">
              <a:spcBef>
                <a:spcPts val="0"/>
              </a:spcBef>
              <a:spcAft>
                <a:spcPts val="0"/>
              </a:spcAft>
              <a:buSzPct val="100000"/>
              <a:buChar char="❏"/>
            </a:pPr>
            <a:r>
              <a:rPr lang="en-GB"/>
              <a:t>Timestamp rekaman</a:t>
            </a:r>
            <a:endParaRPr/>
          </a:p>
          <a:p>
            <a:pPr indent="-310832" lvl="1" marL="914400" rtl="0" algn="l">
              <a:spcBef>
                <a:spcPts val="0"/>
              </a:spcBef>
              <a:spcAft>
                <a:spcPts val="0"/>
              </a:spcAft>
              <a:buSzPct val="100000"/>
              <a:buChar char="❏"/>
            </a:pPr>
            <a:r>
              <a:rPr lang="en-GB"/>
              <a:t>Data landmark wajah</a:t>
            </a:r>
            <a:endParaRPr/>
          </a:p>
          <a:p>
            <a:pPr indent="-310832" lvl="1" marL="914400" rtl="0" algn="l">
              <a:spcBef>
                <a:spcPts val="0"/>
              </a:spcBef>
              <a:spcAft>
                <a:spcPts val="0"/>
              </a:spcAft>
              <a:buSzPct val="100000"/>
              <a:buChar char="❏"/>
            </a:pPr>
            <a:r>
              <a:rPr lang="en-GB"/>
              <a:t>Informasi sesi pengguna</a:t>
            </a:r>
            <a:endParaRPr/>
          </a:p>
          <a:p>
            <a:pPr indent="-334328" lvl="0" marL="457200" marR="0" rtl="0" algn="l">
              <a:lnSpc>
                <a:spcPct val="115000"/>
              </a:lnSpc>
              <a:spcBef>
                <a:spcPts val="0"/>
              </a:spcBef>
              <a:spcAft>
                <a:spcPts val="0"/>
              </a:spcAft>
              <a:buSzPct val="100000"/>
              <a:buChar char="❏"/>
            </a:pPr>
            <a:r>
              <a:rPr lang="en-GB"/>
              <a:t>Apakah perlu dibuatkan laman khusus admin untuk melihat hasil perekaman emosi atau cukup menyimpan di database?</a:t>
            </a:r>
            <a:endParaRPr/>
          </a:p>
          <a:p>
            <a:pPr indent="-334328" lvl="0" marL="457200" marR="0" rtl="0" algn="l">
              <a:lnSpc>
                <a:spcPct val="115000"/>
              </a:lnSpc>
              <a:spcBef>
                <a:spcPts val="0"/>
              </a:spcBef>
              <a:spcAft>
                <a:spcPts val="0"/>
              </a:spcAft>
              <a:buSzPct val="100000"/>
              <a:buChar char="❏"/>
            </a:pPr>
            <a:r>
              <a:rPr lang="en-GB"/>
              <a:t>Apakah perlu menambahkan Hotjar juga untuk memantau perilaku penggunanya?</a:t>
            </a:r>
            <a:endParaRPr/>
          </a:p>
          <a:p>
            <a:pPr indent="-334328" lvl="0" marL="457200" marR="0" rtl="0" algn="l">
              <a:lnSpc>
                <a:spcPct val="115000"/>
              </a:lnSpc>
              <a:spcBef>
                <a:spcPts val="0"/>
              </a:spcBef>
              <a:spcAft>
                <a:spcPts val="0"/>
              </a:spcAft>
              <a:buSzPct val="100000"/>
              <a:buChar char="❏"/>
            </a:pPr>
            <a:r>
              <a:rPr lang="en-GB"/>
              <a:t>Untuk Project APDM lebih baik apakah tetap menggunakan data primer dari e-Block ini atau menggunakan data sekunder?</a:t>
            </a:r>
            <a:endParaRPr/>
          </a:p>
          <a:p>
            <a:pPr indent="-334328" lvl="0" marL="457200" marR="0" rtl="0" algn="l">
              <a:lnSpc>
                <a:spcPct val="115000"/>
              </a:lnSpc>
              <a:spcBef>
                <a:spcPts val="0"/>
              </a:spcBef>
              <a:spcAft>
                <a:spcPts val="0"/>
              </a:spcAft>
              <a:buSzPct val="100000"/>
              <a:buChar char="❏"/>
            </a:pPr>
            <a:r>
              <a:rPr lang="en-GB"/>
              <a:t>Ms Clarity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78" name="Google Shape;17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Paper Development untuk ICOMIT. Untuk data hasil pengujian, apakah sebaiknya menggunakan data 1 kelas eksperimen saja, atau harus dengan kelas kontrol?</a:t>
            </a:r>
            <a:endParaRPr/>
          </a:p>
          <a:p>
            <a:pPr indent="-342900" lvl="0" marL="457200" rtl="0" algn="just">
              <a:spcBef>
                <a:spcPts val="0"/>
              </a:spcBef>
              <a:spcAft>
                <a:spcPts val="0"/>
              </a:spcAft>
              <a:buSzPts val="1800"/>
              <a:buChar char="❏"/>
            </a:pPr>
            <a:r>
              <a:rPr lang="en-GB"/>
              <a:t>Paper yang sudah disusun sebelumnya dengan format IEEE, apakah format tersebut perlu diubah sekarang untuk ICOMIT, atau tunggu setelah review terlebih dahulu?</a:t>
            </a:r>
            <a:endParaRPr/>
          </a:p>
          <a:p>
            <a:pPr indent="-342900" lvl="0" marL="457200" rtl="0" algn="just">
              <a:spcBef>
                <a:spcPts val="0"/>
              </a:spcBef>
              <a:spcAft>
                <a:spcPts val="0"/>
              </a:spcAft>
              <a:buSzPts val="1800"/>
              <a:buChar char="❏"/>
            </a:pPr>
            <a:r>
              <a:rPr lang="en-GB"/>
              <a:t>Apakah ada perkembangan atau feedback terkait progress paper eksperimen untuk TnF?</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25/04/2025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189" name="Google Shape;18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Telah dilakukan perekaman data primer sebanyak 10 sampel video.</a:t>
            </a:r>
            <a:endParaRPr/>
          </a:p>
          <a:p>
            <a:pPr indent="-342900" lvl="0" marL="457200" rtl="0" algn="l">
              <a:spcBef>
                <a:spcPts val="0"/>
              </a:spcBef>
              <a:spcAft>
                <a:spcPts val="0"/>
              </a:spcAft>
              <a:buSzPts val="1800"/>
              <a:buChar char="❏"/>
            </a:pPr>
            <a:r>
              <a:rPr lang="en-GB"/>
              <a:t>Masing-masing sampel berdurasi kurang lebih 30 menit.</a:t>
            </a:r>
            <a:endParaRPr/>
          </a:p>
          <a:p>
            <a:pPr indent="-342900" lvl="0" marL="457200" rtl="0" algn="l">
              <a:spcBef>
                <a:spcPts val="0"/>
              </a:spcBef>
              <a:spcAft>
                <a:spcPts val="0"/>
              </a:spcAft>
              <a:buSzPts val="1800"/>
              <a:buChar char="❏"/>
            </a:pPr>
            <a:r>
              <a:rPr lang="en-GB"/>
              <a:t>Untuk preprocessing apakah semua frame tiap 5 detik perlu ambil seluruh durasi 30 menit, atau cukup sebagian saja?</a:t>
            </a:r>
            <a:endParaRPr/>
          </a:p>
          <a:p>
            <a:pPr indent="-342900" lvl="0" marL="457200" rtl="0" algn="just">
              <a:spcBef>
                <a:spcPts val="0"/>
              </a:spcBef>
              <a:spcAft>
                <a:spcPts val="0"/>
              </a:spcAft>
              <a:buSzPts val="1800"/>
              <a:buChar char="❏"/>
            </a:pPr>
            <a:r>
              <a:rPr lang="en-GB"/>
              <a:t>Apakah data gambar original lebih baik diproses menggunakan CNN? Untuk proses validasi emosinya apakah memanfaatkan model dari Face API JS sebagai baseline?</a:t>
            </a:r>
            <a:endParaRPr/>
          </a:p>
          <a:p>
            <a:pPr indent="-342900" lvl="0" marL="457200" rtl="0" algn="just">
              <a:spcBef>
                <a:spcPts val="0"/>
              </a:spcBef>
              <a:spcAft>
                <a:spcPts val="0"/>
              </a:spcAft>
              <a:buSzPts val="1800"/>
              <a:buChar char="❏"/>
            </a:pPr>
            <a:r>
              <a:rPr lang="en-GB"/>
              <a:t>Apakah data landmark perlu dikonversi terlebih dahulu ke bentuk vektor? Untuk proses klasifikasi emosi Apakah cukup menggunakan confidence score dari Face API JS? Atau perlu dilakukan pelabelan ulang dan klasifikasi menggunakan model machine learning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09/05/2025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00" name="Google Shape;200;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n-GB"/>
              <a:t>Telah dilakukan perekaman data primer tambahan sebanyak 10 orang, sehingga total subjek menjadi 20 orang.</a:t>
            </a:r>
            <a:endParaRPr/>
          </a:p>
          <a:p>
            <a:pPr indent="-342900" lvl="0" marL="457200" rtl="0" algn="just">
              <a:spcBef>
                <a:spcPts val="0"/>
              </a:spcBef>
              <a:spcAft>
                <a:spcPts val="0"/>
              </a:spcAft>
              <a:buSzPts val="1800"/>
              <a:buChar char="❏"/>
            </a:pPr>
            <a:r>
              <a:rPr lang="en-GB"/>
              <a:t>Telah dilakukan preprocessing untuk memecah frame video sebanyak 15 sampel.</a:t>
            </a:r>
            <a:endParaRPr/>
          </a:p>
          <a:p>
            <a:pPr indent="-342900" lvl="0" marL="457200" rtl="0" algn="just">
              <a:spcBef>
                <a:spcPts val="0"/>
              </a:spcBef>
              <a:spcAft>
                <a:spcPts val="0"/>
              </a:spcAft>
              <a:buSzPts val="1800"/>
              <a:buChar char="❏"/>
            </a:pPr>
            <a:r>
              <a:rPr lang="en-GB"/>
              <a:t>Terkait mahasiswa yang sebelumnya ditandai harus mengulang pengumpulan data namun tidak hadir, apabila datanya banyak yang kurang baik, apakah tetap diproses atau sebaiknya dikeluarkan dari dataset?</a:t>
            </a:r>
            <a:endParaRPr/>
          </a:p>
          <a:p>
            <a:pPr indent="-342900" lvl="0" marL="457200" rtl="0" algn="just">
              <a:spcBef>
                <a:spcPts val="0"/>
              </a:spcBef>
              <a:spcAft>
                <a:spcPts val="0"/>
              </a:spcAft>
              <a:buSzPts val="1800"/>
              <a:buChar char="❏"/>
            </a:pPr>
            <a:r>
              <a:rPr lang="en-GB"/>
              <a:t>Untuk pengeliminasian data dengan confidence score di bawah threshold 50%, apakah pada frame originalnya juga perlu dilakukan eliminasi?</a:t>
            </a:r>
            <a:endParaRPr/>
          </a:p>
          <a:p>
            <a:pPr indent="-342900" lvl="0" marL="457200" rtl="0" algn="just">
              <a:spcBef>
                <a:spcPts val="0"/>
              </a:spcBef>
              <a:spcAft>
                <a:spcPts val="0"/>
              </a:spcAft>
              <a:buSzPts val="1800"/>
              <a:buChar char="❏"/>
            </a:pPr>
            <a:r>
              <a:rPr lang="en-GB"/>
              <a:t>Saya mengajukan penggunaan model CNN untuk ekstraksi fitur wajah dan LSTM untuk pemrosesan data landmark secara sekuensial. Apakah pendekatan ini sesuai untuk kasus yang saya kerjakan?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23/05/2025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11" name="Google Shape;21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Dataset primer yang digunakan Imbalance</a:t>
            </a:r>
            <a:endParaRPr/>
          </a:p>
        </p:txBody>
      </p:sp>
      <p:pic>
        <p:nvPicPr>
          <p:cNvPr id="212" name="Google Shape;212;p40" title="WhatsApp Image 2025-05-23 at 05.10.55_855ef7e6.jpg"/>
          <p:cNvPicPr preferRelativeResize="0"/>
          <p:nvPr/>
        </p:nvPicPr>
        <p:blipFill>
          <a:blip r:embed="rId3">
            <a:alphaModFix/>
          </a:blip>
          <a:stretch>
            <a:fillRect/>
          </a:stretch>
        </p:blipFill>
        <p:spPr>
          <a:xfrm>
            <a:off x="1922675" y="1611100"/>
            <a:ext cx="5103766" cy="3389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18" name="Google Shape;21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gambar</a:t>
            </a:r>
            <a:endParaRPr/>
          </a:p>
        </p:txBody>
      </p:sp>
      <p:pic>
        <p:nvPicPr>
          <p:cNvPr id="219" name="Google Shape;219;p41"/>
          <p:cNvPicPr preferRelativeResize="0"/>
          <p:nvPr/>
        </p:nvPicPr>
        <p:blipFill>
          <a:blip r:embed="rId3">
            <a:alphaModFix/>
          </a:blip>
          <a:stretch>
            <a:fillRect/>
          </a:stretch>
        </p:blipFill>
        <p:spPr>
          <a:xfrm>
            <a:off x="239375" y="1880825"/>
            <a:ext cx="8665226" cy="28475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25" name="Google Shape;22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gambar</a:t>
            </a:r>
            <a:endParaRPr/>
          </a:p>
        </p:txBody>
      </p:sp>
      <p:pic>
        <p:nvPicPr>
          <p:cNvPr id="226" name="Google Shape;226;p42"/>
          <p:cNvPicPr preferRelativeResize="0"/>
          <p:nvPr/>
        </p:nvPicPr>
        <p:blipFill>
          <a:blip r:embed="rId3">
            <a:alphaModFix/>
          </a:blip>
          <a:stretch>
            <a:fillRect/>
          </a:stretch>
        </p:blipFill>
        <p:spPr>
          <a:xfrm>
            <a:off x="2776775" y="1726725"/>
            <a:ext cx="3590451" cy="32258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32" name="Google Shape;23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landmark</a:t>
            </a:r>
            <a:endParaRPr/>
          </a:p>
        </p:txBody>
      </p:sp>
      <p:pic>
        <p:nvPicPr>
          <p:cNvPr id="233" name="Google Shape;233;p43"/>
          <p:cNvPicPr preferRelativeResize="0"/>
          <p:nvPr/>
        </p:nvPicPr>
        <p:blipFill>
          <a:blip r:embed="rId3">
            <a:alphaModFix/>
          </a:blip>
          <a:stretch>
            <a:fillRect/>
          </a:stretch>
        </p:blipFill>
        <p:spPr>
          <a:xfrm>
            <a:off x="228175" y="1856975"/>
            <a:ext cx="8543068" cy="28073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39" name="Google Shape;23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landmark</a:t>
            </a:r>
            <a:endParaRPr/>
          </a:p>
        </p:txBody>
      </p:sp>
      <p:pic>
        <p:nvPicPr>
          <p:cNvPr id="240" name="Google Shape;240;p44"/>
          <p:cNvPicPr preferRelativeResize="0"/>
          <p:nvPr/>
        </p:nvPicPr>
        <p:blipFill>
          <a:blip r:embed="rId3">
            <a:alphaModFix/>
          </a:blip>
          <a:stretch>
            <a:fillRect/>
          </a:stretch>
        </p:blipFill>
        <p:spPr>
          <a:xfrm>
            <a:off x="2670698" y="1679350"/>
            <a:ext cx="3802604" cy="341640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46" name="Google Shape;24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late fusion</a:t>
            </a:r>
            <a:endParaRPr/>
          </a:p>
        </p:txBody>
      </p:sp>
      <p:pic>
        <p:nvPicPr>
          <p:cNvPr id="247" name="Google Shape;247;p45"/>
          <p:cNvPicPr preferRelativeResize="0"/>
          <p:nvPr/>
        </p:nvPicPr>
        <p:blipFill>
          <a:blip r:embed="rId3">
            <a:alphaModFix/>
          </a:blip>
          <a:stretch>
            <a:fillRect/>
          </a:stretch>
        </p:blipFill>
        <p:spPr>
          <a:xfrm>
            <a:off x="4191075" y="804513"/>
            <a:ext cx="4577224" cy="41123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53" name="Google Shape;25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late fusion</a:t>
            </a:r>
            <a:endParaRPr/>
          </a:p>
        </p:txBody>
      </p:sp>
      <p:pic>
        <p:nvPicPr>
          <p:cNvPr id="254" name="Google Shape;254;p46"/>
          <p:cNvPicPr preferRelativeResize="0"/>
          <p:nvPr/>
        </p:nvPicPr>
        <p:blipFill>
          <a:blip r:embed="rId3">
            <a:alphaModFix/>
          </a:blip>
          <a:stretch>
            <a:fillRect/>
          </a:stretch>
        </p:blipFill>
        <p:spPr>
          <a:xfrm>
            <a:off x="3473125" y="692125"/>
            <a:ext cx="5469773" cy="36322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60" name="Google Shape;26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Hasil Perbandingan</a:t>
            </a:r>
            <a:endParaRPr/>
          </a:p>
        </p:txBody>
      </p:sp>
      <p:pic>
        <p:nvPicPr>
          <p:cNvPr id="261" name="Google Shape;261;p47"/>
          <p:cNvPicPr preferRelativeResize="0"/>
          <p:nvPr/>
        </p:nvPicPr>
        <p:blipFill>
          <a:blip r:embed="rId3">
            <a:alphaModFix/>
          </a:blip>
          <a:stretch>
            <a:fillRect/>
          </a:stretch>
        </p:blipFill>
        <p:spPr>
          <a:xfrm>
            <a:off x="1818900" y="1590675"/>
            <a:ext cx="5954324" cy="35528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29/08/2025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72" name="Google Shape;27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GB"/>
              <a:t>Semester ini saya hanya mengambil 4 MK Tesis dengan target selesai pada semester ini:</a:t>
            </a:r>
            <a:endParaRPr/>
          </a:p>
          <a:p>
            <a:pPr indent="-310832" lvl="1" marL="914400" rtl="0" algn="l">
              <a:spcBef>
                <a:spcPts val="0"/>
              </a:spcBef>
              <a:spcAft>
                <a:spcPts val="0"/>
              </a:spcAft>
              <a:buSzPct val="100000"/>
              <a:buChar char="❏"/>
            </a:pPr>
            <a:r>
              <a:rPr lang="en-GB"/>
              <a:t>Judul dan konsep sudah diajukan sebelumnya, namun masih pendalaman detail metodologinya.</a:t>
            </a:r>
            <a:endParaRPr/>
          </a:p>
          <a:p>
            <a:pPr indent="-310832" lvl="1" marL="914400" rtl="0" algn="l">
              <a:spcBef>
                <a:spcPts val="0"/>
              </a:spcBef>
              <a:spcAft>
                <a:spcPts val="0"/>
              </a:spcAft>
              <a:buSzPct val="100000"/>
              <a:buChar char="❏"/>
            </a:pPr>
            <a:r>
              <a:rPr lang="en-GB"/>
              <a:t>Fokus penelitian: integrasi data rekaman emosi dan pola interaksi, masih dalam tahap pendalaman metode.</a:t>
            </a:r>
            <a:endParaRPr/>
          </a:p>
          <a:p>
            <a:pPr indent="-334328" lvl="0" marL="457200" rtl="0" algn="l">
              <a:spcBef>
                <a:spcPts val="0"/>
              </a:spcBef>
              <a:spcAft>
                <a:spcPts val="0"/>
              </a:spcAft>
              <a:buSzPct val="100000"/>
              <a:buChar char="❏"/>
            </a:pPr>
            <a:r>
              <a:rPr lang="en-GB"/>
              <a:t>Pertanyaan terkait dataset:</a:t>
            </a:r>
            <a:endParaRPr/>
          </a:p>
          <a:p>
            <a:pPr indent="-310832" lvl="1" marL="914400" rtl="0" algn="l">
              <a:spcBef>
                <a:spcPts val="0"/>
              </a:spcBef>
              <a:spcAft>
                <a:spcPts val="0"/>
              </a:spcAft>
              <a:buSzPct val="100000"/>
              <a:buChar char="❏"/>
            </a:pPr>
            <a:r>
              <a:rPr lang="en-GB"/>
              <a:t>Apakah menggunakan dataset APDM sebelumnya?</a:t>
            </a:r>
            <a:endParaRPr/>
          </a:p>
          <a:p>
            <a:pPr indent="-310832" lvl="1" marL="914400" rtl="0" algn="l">
              <a:spcBef>
                <a:spcPts val="0"/>
              </a:spcBef>
              <a:spcAft>
                <a:spcPts val="0"/>
              </a:spcAft>
              <a:buSzPct val="100000"/>
              <a:buChar char="❏"/>
            </a:pPr>
            <a:r>
              <a:rPr lang="en-GB"/>
              <a:t>Apakah perlu pengambilan data baru di FILKOM?</a:t>
            </a:r>
            <a:endParaRPr/>
          </a:p>
          <a:p>
            <a:pPr indent="-310832" lvl="1" marL="914400" rtl="0" algn="l">
              <a:spcBef>
                <a:spcPts val="0"/>
              </a:spcBef>
              <a:spcAft>
                <a:spcPts val="0"/>
              </a:spcAft>
              <a:buSzPct val="100000"/>
              <a:buChar char="❏"/>
            </a:pPr>
            <a:r>
              <a:rPr lang="en-GB"/>
              <a:t>Atau menggunakan data dari Pengmas SMA 3?</a:t>
            </a:r>
            <a:endParaRPr/>
          </a:p>
          <a:p>
            <a:pPr indent="-334328" lvl="0" marL="457200" rtl="0" algn="l">
              <a:spcBef>
                <a:spcPts val="0"/>
              </a:spcBef>
              <a:spcAft>
                <a:spcPts val="0"/>
              </a:spcAft>
              <a:buSzPct val="100000"/>
              <a:buChar char="❏"/>
            </a:pPr>
            <a:r>
              <a:rPr lang="en-GB"/>
              <a:t>Terkait publikasi (syarat tesis):</a:t>
            </a:r>
            <a:endParaRPr/>
          </a:p>
          <a:p>
            <a:pPr indent="-310832" lvl="1" marL="914400" rtl="0" algn="l">
              <a:spcBef>
                <a:spcPts val="0"/>
              </a:spcBef>
              <a:spcAft>
                <a:spcPts val="0"/>
              </a:spcAft>
              <a:buSzPct val="100000"/>
              <a:buChar char="❏"/>
            </a:pPr>
            <a:r>
              <a:rPr lang="en-GB"/>
              <a:t>Mohon arahan, apakah saya perlu publikasi lagi karena pada paper ICOMIT dan SIET sebelumnya hanya Pak Fitra yang tercantum sebagai author, atau ada opsi lain yang memungkinkan?</a:t>
            </a:r>
            <a:endParaRPr/>
          </a:p>
          <a:p>
            <a:pPr indent="-334328" lvl="0" marL="457200" rtl="0" algn="l">
              <a:spcBef>
                <a:spcPts val="0"/>
              </a:spcBef>
              <a:spcAft>
                <a:spcPts val="0"/>
              </a:spcAft>
              <a:buSzPct val="100000"/>
              <a:buChar char="❏"/>
            </a:pPr>
            <a:r>
              <a:rPr lang="en-GB"/>
              <a:t>Paper SIET:</a:t>
            </a:r>
            <a:endParaRPr/>
          </a:p>
          <a:p>
            <a:pPr indent="-310832" lvl="1" marL="914400" rtl="0" algn="l">
              <a:spcBef>
                <a:spcPts val="0"/>
              </a:spcBef>
              <a:spcAft>
                <a:spcPts val="0"/>
              </a:spcAft>
              <a:buSzPct val="100000"/>
              <a:buChar char="❏"/>
            </a:pPr>
            <a:r>
              <a:rPr lang="en-GB"/>
              <a:t>Revisi paper berdasarkan komentar reviewer sudah diselesaikan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24/09/2025</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83" name="Google Shape;28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Penyesuaian Judul Tesis:</a:t>
            </a:r>
            <a:endParaRPr/>
          </a:p>
          <a:p>
            <a:pPr indent="-317500" lvl="1" marL="914400" rtl="0" algn="l">
              <a:spcBef>
                <a:spcPts val="0"/>
              </a:spcBef>
              <a:spcAft>
                <a:spcPts val="0"/>
              </a:spcAft>
              <a:buSzPts val="1400"/>
              <a:buChar char="❏"/>
            </a:pPr>
            <a:r>
              <a:rPr lang="en-GB" sz="1400"/>
              <a:t>Judul awal: Integrasi deteksi emosi dan pola interaksi untuk analisis computational thinking</a:t>
            </a:r>
            <a:endParaRPr sz="1400"/>
          </a:p>
          <a:p>
            <a:pPr indent="-317500" lvl="1" marL="914400" rtl="0" algn="l">
              <a:spcBef>
                <a:spcPts val="0"/>
              </a:spcBef>
              <a:spcAft>
                <a:spcPts val="0"/>
              </a:spcAft>
              <a:buSzPts val="1400"/>
              <a:buChar char="❏"/>
            </a:pPr>
            <a:r>
              <a:rPr lang="en-GB" sz="1400"/>
              <a:t>Kendala: Kesulitan mengolah data pola interaksi yang kompleks</a:t>
            </a:r>
            <a:endParaRPr sz="1400"/>
          </a:p>
          <a:p>
            <a:pPr indent="-317500" lvl="1" marL="914400" rtl="0" algn="l">
              <a:spcBef>
                <a:spcPts val="0"/>
              </a:spcBef>
              <a:spcAft>
                <a:spcPts val="0"/>
              </a:spcAft>
              <a:buSzPts val="1400"/>
              <a:buChar char="❏"/>
            </a:pPr>
            <a:r>
              <a:rPr lang="en-GB" sz="1400"/>
              <a:t>Solusi: Fokus pada integrasi multimodal CNN dan facial landmark (sesuai paper SIET)</a:t>
            </a:r>
            <a:endParaRPr sz="1400"/>
          </a:p>
          <a:p>
            <a:pPr indent="-317500" lvl="1" marL="914400" rtl="0" algn="l">
              <a:spcBef>
                <a:spcPts val="0"/>
              </a:spcBef>
              <a:spcAft>
                <a:spcPts val="0"/>
              </a:spcAft>
              <a:buSzPts val="1400"/>
              <a:buChar char="❏"/>
            </a:pPr>
            <a:r>
              <a:rPr lang="en-GB" sz="1400"/>
              <a:t>Judul baru: "Integrasi Multimodal CNN dan Facial Landmark untuk Pengenalan Emosi dalam Konteks Pembelajaran Pemrograman"</a:t>
            </a:r>
            <a:endParaRPr/>
          </a:p>
          <a:p>
            <a:pPr indent="-342900" lvl="0" marL="457200" rtl="0" algn="l">
              <a:spcBef>
                <a:spcPts val="0"/>
              </a:spcBef>
              <a:spcAft>
                <a:spcPts val="0"/>
              </a:spcAft>
              <a:buSzPts val="1800"/>
              <a:buChar char="❏"/>
            </a:pPr>
            <a:r>
              <a:rPr lang="en-GB"/>
              <a:t>Hal yang perlu didiskusikan:</a:t>
            </a:r>
            <a:endParaRPr/>
          </a:p>
          <a:p>
            <a:pPr indent="-317500" lvl="1" marL="914400" rtl="0" algn="l">
              <a:spcBef>
                <a:spcPts val="0"/>
              </a:spcBef>
              <a:spcAft>
                <a:spcPts val="0"/>
              </a:spcAft>
              <a:buSzPts val="1400"/>
              <a:buChar char="❏"/>
            </a:pPr>
            <a:r>
              <a:rPr lang="en-GB"/>
              <a:t>Pengambilan dataset tambahan</a:t>
            </a:r>
            <a:endParaRPr/>
          </a:p>
          <a:p>
            <a:pPr indent="-317500" lvl="1" marL="914400" rtl="0" algn="l">
              <a:spcBef>
                <a:spcPts val="0"/>
              </a:spcBef>
              <a:spcAft>
                <a:spcPts val="0"/>
              </a:spcAft>
              <a:buSzPts val="1400"/>
              <a:buChar char="❏"/>
            </a:pPr>
            <a:r>
              <a:rPr lang="en-GB"/>
              <a:t>Persyaratan publikasi dan pembimbing</a:t>
            </a:r>
            <a:endParaRPr/>
          </a:p>
          <a:p>
            <a:pPr indent="-317500" lvl="1" marL="914400" rtl="0" algn="l">
              <a:spcBef>
                <a:spcPts val="0"/>
              </a:spcBef>
              <a:spcAft>
                <a:spcPts val="0"/>
              </a:spcAft>
              <a:buSzPts val="1400"/>
              <a:buChar char="❏"/>
            </a:pPr>
            <a:r>
              <a:rPr lang="en-GB"/>
              <a:t>Validasi rumusan masalah</a:t>
            </a:r>
            <a:endParaRPr/>
          </a:p>
          <a:p>
            <a:pPr indent="-317500" lvl="1" marL="914400" rtl="0" algn="l">
              <a:spcBef>
                <a:spcPts val="0"/>
              </a:spcBef>
              <a:spcAft>
                <a:spcPts val="0"/>
              </a:spcAft>
              <a:buSzPts val="1400"/>
              <a:buChar char="❏"/>
            </a:pPr>
            <a:r>
              <a:rPr lang="en-GB"/>
              <a:t>Review outline Bab 2 dan Bab 3</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01/10/2025</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94" name="Google Shape;29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Revisi Rumusan Masalah sesuai masukan:</a:t>
            </a:r>
            <a:endParaRPr/>
          </a:p>
          <a:p>
            <a:pPr indent="-317500" lvl="1" marL="914400" rtl="0" algn="l">
              <a:spcBef>
                <a:spcPts val="0"/>
              </a:spcBef>
              <a:spcAft>
                <a:spcPts val="0"/>
              </a:spcAft>
              <a:buSzPts val="1400"/>
              <a:buChar char="❏"/>
            </a:pPr>
            <a:r>
              <a:rPr lang="en-GB"/>
              <a:t>Bagaimana performa model unimodal CNN dalam pengenalan emosi mahasiswa menggunakan fitur citra wajah?</a:t>
            </a:r>
            <a:endParaRPr/>
          </a:p>
          <a:p>
            <a:pPr indent="-317500" lvl="1" marL="914400" rtl="0" algn="l">
              <a:spcBef>
                <a:spcPts val="0"/>
              </a:spcBef>
              <a:spcAft>
                <a:spcPts val="0"/>
              </a:spcAft>
              <a:buSzPts val="1400"/>
              <a:buChar char="❏"/>
            </a:pPr>
            <a:r>
              <a:rPr lang="en-GB"/>
              <a:t>Bagaimana performa model unimodal FCNN dalam pengenalan emosi mahasiswa 	menggunakan fitur geometrik dari facial landmark?</a:t>
            </a:r>
            <a:endParaRPr/>
          </a:p>
          <a:p>
            <a:pPr indent="-317500" lvl="1" marL="914400" rtl="0" algn="l">
              <a:spcBef>
                <a:spcPts val="0"/>
              </a:spcBef>
              <a:spcAft>
                <a:spcPts val="0"/>
              </a:spcAft>
              <a:buSzPts val="1400"/>
              <a:buChar char="❏"/>
            </a:pPr>
            <a:r>
              <a:rPr lang="en-GB"/>
              <a:t>Bagaimana perbandingan performa antara strategi multimodal late fusion dan hybrid fusion dalam mengintegrasikan CNN dan FCNN?</a:t>
            </a:r>
            <a:endParaRPr/>
          </a:p>
          <a:p>
            <a:pPr indent="-342900" lvl="0" marL="457200" rtl="0" algn="l">
              <a:spcBef>
                <a:spcPts val="0"/>
              </a:spcBef>
              <a:spcAft>
                <a:spcPts val="0"/>
              </a:spcAft>
              <a:buSzPts val="1800"/>
              <a:buChar char="❏"/>
            </a:pPr>
            <a:r>
              <a:rPr lang="en-GB"/>
              <a:t>Model yang Dibandingkan:</a:t>
            </a:r>
            <a:endParaRPr/>
          </a:p>
          <a:p>
            <a:pPr indent="-317500" lvl="1" marL="914400" rtl="0" algn="l">
              <a:spcBef>
                <a:spcPts val="0"/>
              </a:spcBef>
              <a:spcAft>
                <a:spcPts val="0"/>
              </a:spcAft>
              <a:buSzPts val="1400"/>
              <a:buChar char="❏"/>
            </a:pPr>
            <a:r>
              <a:rPr lang="en-GB"/>
              <a:t>CNN Only (baseline appearance)</a:t>
            </a:r>
            <a:endParaRPr/>
          </a:p>
          <a:p>
            <a:pPr indent="-317500" lvl="1" marL="914400" rtl="0" algn="l">
              <a:spcBef>
                <a:spcPts val="0"/>
              </a:spcBef>
              <a:spcAft>
                <a:spcPts val="0"/>
              </a:spcAft>
              <a:buSzPts val="1400"/>
              <a:buChar char="❏"/>
            </a:pPr>
            <a:r>
              <a:rPr lang="en-GB"/>
              <a:t>FCNN Only (baseline geometric)</a:t>
            </a:r>
            <a:endParaRPr/>
          </a:p>
          <a:p>
            <a:pPr indent="-317500" lvl="1" marL="914400" rtl="0" algn="l">
              <a:spcBef>
                <a:spcPts val="0"/>
              </a:spcBef>
              <a:spcAft>
                <a:spcPts val="0"/>
              </a:spcAft>
              <a:buSzPts val="1400"/>
              <a:buChar char="❏"/>
            </a:pPr>
            <a:r>
              <a:rPr lang="en-GB"/>
              <a:t>Late Fusion (decision-level)</a:t>
            </a:r>
            <a:endParaRPr/>
          </a:p>
          <a:p>
            <a:pPr indent="-317500" lvl="1" marL="914400" rtl="0" algn="l">
              <a:spcBef>
                <a:spcPts val="0"/>
              </a:spcBef>
              <a:spcAft>
                <a:spcPts val="0"/>
              </a:spcAft>
              <a:buSzPts val="1400"/>
              <a:buChar char="❏"/>
            </a:pPr>
            <a:r>
              <a:rPr lang="en-GB"/>
              <a:t>Hybrid Fusion (multi-level)</a:t>
            </a:r>
            <a:endParaRPr/>
          </a:p>
          <a:p>
            <a:pPr indent="-342900" lvl="0" marL="457200" rtl="0" algn="l">
              <a:spcBef>
                <a:spcPts val="0"/>
              </a:spcBef>
              <a:spcAft>
                <a:spcPts val="0"/>
              </a:spcAft>
              <a:buSzPts val="1800"/>
              <a:buChar char="❏"/>
            </a:pPr>
            <a:r>
              <a:rPr lang="en-GB"/>
              <a:t>Keputusan Pembimbing 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08/10/2025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05" name="Google Shape;305;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Dikarenakan tidak bisa menambah author di Paper SIET, apakah memungkinkan kalau untuk tesis saya pembimbingnya tunggal?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2910/2025</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16" name="Google Shape;31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Catatan Bimbingan dengan Pak Budi</a:t>
            </a:r>
            <a:endParaRPr/>
          </a:p>
          <a:p>
            <a:pPr indent="-317500" lvl="1" marL="914400" marR="0" rtl="0" algn="l">
              <a:lnSpc>
                <a:spcPct val="115000"/>
              </a:lnSpc>
              <a:spcBef>
                <a:spcPts val="0"/>
              </a:spcBef>
              <a:spcAft>
                <a:spcPts val="0"/>
              </a:spcAft>
              <a:buSzPts val="1400"/>
              <a:buChar char="❏"/>
            </a:pPr>
            <a:r>
              <a:rPr lang="en-GB"/>
              <a:t>Ditanyakan terkait:</a:t>
            </a:r>
            <a:endParaRPr/>
          </a:p>
          <a:p>
            <a:pPr indent="-317500" lvl="2" marL="1371600" marR="0" rtl="0" algn="l">
              <a:lnSpc>
                <a:spcPct val="115000"/>
              </a:lnSpc>
              <a:spcBef>
                <a:spcPts val="0"/>
              </a:spcBef>
              <a:spcAft>
                <a:spcPts val="0"/>
              </a:spcAft>
              <a:buSzPts val="1400"/>
              <a:buChar char="❏"/>
            </a:pPr>
            <a:r>
              <a:rPr lang="en-GB"/>
              <a:t>Bagaimana teknis validasi dataset emosi yang digunakan?</a:t>
            </a:r>
            <a:endParaRPr/>
          </a:p>
          <a:p>
            <a:pPr indent="-317500" lvl="2" marL="1371600" marR="0" rtl="0" algn="l">
              <a:lnSpc>
                <a:spcPct val="115000"/>
              </a:lnSpc>
              <a:spcBef>
                <a:spcPts val="0"/>
              </a:spcBef>
              <a:spcAft>
                <a:spcPts val="0"/>
              </a:spcAft>
              <a:buSzPts val="1400"/>
              <a:buChar char="❏"/>
            </a:pPr>
            <a:r>
              <a:rPr lang="en-GB"/>
              <a:t>Apakah perlu dilakukan validasi oleh ahli (misalnya dosen psikologi)?</a:t>
            </a:r>
            <a:endParaRPr/>
          </a:p>
          <a:p>
            <a:pPr indent="-342900" lvl="0" marL="457200" marR="0" rtl="0" algn="l">
              <a:lnSpc>
                <a:spcPct val="115000"/>
              </a:lnSpc>
              <a:spcBef>
                <a:spcPts val="0"/>
              </a:spcBef>
              <a:spcAft>
                <a:spcPts val="0"/>
              </a:spcAft>
              <a:buSzPts val="1800"/>
              <a:buChar char="❏"/>
            </a:pPr>
            <a:r>
              <a:rPr lang="en-GB"/>
              <a:t>P</a:t>
            </a:r>
            <a:r>
              <a:rPr lang="en-GB"/>
              <a:t>rogress Paper (Taylor &amp; Francis)</a:t>
            </a:r>
            <a:endParaRPr/>
          </a:p>
          <a:p>
            <a:pPr indent="-317500" lvl="1" marL="914400" marR="0" rtl="0" algn="l">
              <a:lnSpc>
                <a:spcPct val="115000"/>
              </a:lnSpc>
              <a:spcBef>
                <a:spcPts val="0"/>
              </a:spcBef>
              <a:spcAft>
                <a:spcPts val="0"/>
              </a:spcAft>
              <a:buSzPts val="1400"/>
              <a:buChar char="❏"/>
            </a:pPr>
            <a:r>
              <a:rPr lang="en-GB"/>
              <a:t>Saat ini paper masih dalam proses review oleh Bapak. Mohon izin menanyakan, kira-kira apakah review-nya sudah selesai?</a:t>
            </a:r>
            <a:endParaRPr/>
          </a:p>
          <a:p>
            <a:pPr indent="-317500" lvl="1" marL="914400" marR="0" rtl="0" algn="l">
              <a:lnSpc>
                <a:spcPct val="115000"/>
              </a:lnSpc>
              <a:spcBef>
                <a:spcPts val="0"/>
              </a:spcBef>
              <a:spcAft>
                <a:spcPts val="0"/>
              </a:spcAft>
              <a:buSzPts val="1400"/>
              <a:buChar char="❏"/>
            </a:pPr>
            <a:r>
              <a:rPr lang="en-GB"/>
              <a:t>Setelah selesai, rencananya paper akan saya kirimkan ke Pak Fajar dan Pak Budi untuk proses review selanjutnya.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05/11/2025</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27" name="Google Shape;327;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Rancangan Eksperimen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19/11/2025</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38" name="Google Shape;338;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Penyusunan laporan tesis sudah selesai</a:t>
            </a:r>
            <a:endParaRPr/>
          </a:p>
          <a:p>
            <a:pPr indent="-342900" lvl="0" marL="457200" marR="0" rtl="0" algn="l">
              <a:lnSpc>
                <a:spcPct val="115000"/>
              </a:lnSpc>
              <a:spcBef>
                <a:spcPts val="0"/>
              </a:spcBef>
              <a:spcAft>
                <a:spcPts val="0"/>
              </a:spcAft>
              <a:buSzPts val="1800"/>
              <a:buChar char="❏"/>
            </a:pPr>
            <a:r>
              <a:rPr lang="en-GB"/>
              <a:t>Pengambilan data tambahan masih menunggu konfirmasi jawaban dari asprak PTI 24 dan PTI 25</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19/11/2025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49" name="Google Shape;34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Perubahan dari Hybrid Fusion menjadi Intermediate Fusion</a:t>
            </a:r>
            <a:endParaRPr/>
          </a:p>
          <a:p>
            <a:pPr indent="-342900" lvl="0" marL="457200" marR="0" rtl="0" algn="l">
              <a:lnSpc>
                <a:spcPct val="115000"/>
              </a:lnSpc>
              <a:spcBef>
                <a:spcPts val="0"/>
              </a:spcBef>
              <a:spcAft>
                <a:spcPts val="0"/>
              </a:spcAft>
              <a:buSzPts val="1800"/>
              <a:buChar char="❏"/>
            </a:pPr>
            <a:r>
              <a:rPr lang="en-GB"/>
              <a:t>Pendaftaran Seminar Proposal </a:t>
            </a:r>
            <a:endParaRPr/>
          </a:p>
        </p:txBody>
      </p:sp>
      <p:pic>
        <p:nvPicPr>
          <p:cNvPr id="350" name="Google Shape;350;p63" title="Desain tanpa judul (1).png"/>
          <p:cNvPicPr preferRelativeResize="0"/>
          <p:nvPr/>
        </p:nvPicPr>
        <p:blipFill>
          <a:blip r:embed="rId3">
            <a:alphaModFix/>
          </a:blip>
          <a:stretch>
            <a:fillRect/>
          </a:stretch>
        </p:blipFill>
        <p:spPr>
          <a:xfrm>
            <a:off x="1396013" y="1881875"/>
            <a:ext cx="6351975" cy="3059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20/02/2026</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Perubahan Judul</a:t>
            </a:r>
            <a:endParaRPr/>
          </a:p>
        </p:txBody>
      </p:sp>
      <p:sp>
        <p:nvSpPr>
          <p:cNvPr id="361" name="Google Shape;361;p65"/>
          <p:cNvSpPr txBox="1"/>
          <p:nvPr>
            <p:ph idx="1" type="body"/>
          </p:nvPr>
        </p:nvSpPr>
        <p:spPr>
          <a:xfrm>
            <a:off x="311700" y="1152475"/>
            <a:ext cx="8520600" cy="36411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en-GB"/>
              <a:t>Judul baru yang diusulkan:</a:t>
            </a:r>
            <a:endParaRPr/>
          </a:p>
          <a:p>
            <a:pPr indent="0" lvl="0" marL="457200" marR="0" rtl="0" algn="l">
              <a:lnSpc>
                <a:spcPct val="115000"/>
              </a:lnSpc>
              <a:spcBef>
                <a:spcPts val="1200"/>
              </a:spcBef>
              <a:spcAft>
                <a:spcPts val="0"/>
              </a:spcAft>
              <a:buNone/>
            </a:pPr>
            <a:r>
              <a:rPr b="1" lang="en-GB"/>
              <a:t>"Integrasi Multimodal Citra Wajah dan Facial Landmark untuk Pengenalan Emosi dalam Konteks Pembelajaran Pemrograman"</a:t>
            </a:r>
            <a:endParaRPr b="1"/>
          </a:p>
          <a:p>
            <a:pPr indent="-342900" lvl="0" marL="457200" marR="0" rtl="0" algn="l">
              <a:lnSpc>
                <a:spcPct val="115000"/>
              </a:lnSpc>
              <a:spcBef>
                <a:spcPts val="1200"/>
              </a:spcBef>
              <a:spcAft>
                <a:spcPts val="0"/>
              </a:spcAft>
              <a:buSzPts val="1800"/>
              <a:buChar char="❏"/>
            </a:pPr>
            <a:r>
              <a:rPr lang="en-GB"/>
              <a:t>Alasan perubahan:</a:t>
            </a:r>
            <a:endParaRPr/>
          </a:p>
          <a:p>
            <a:pPr indent="-317500" lvl="1" marL="914400" marR="0" rtl="0" algn="l">
              <a:lnSpc>
                <a:spcPct val="115000"/>
              </a:lnSpc>
              <a:spcBef>
                <a:spcPts val="0"/>
              </a:spcBef>
              <a:spcAft>
                <a:spcPts val="0"/>
              </a:spcAft>
              <a:buSzPts val="1400"/>
              <a:buChar char="❏"/>
            </a:pPr>
            <a:r>
              <a:rPr lang="en-GB"/>
              <a:t>Mengganti "CNN" menjadi "Citra Wajah" agar judul mendeskripsikan input/data yang digunakan, bukan metode spesifik. Ini menjawab catatan Penguji II (Pak Arief) tentang fokus pada integrasi "Input" multimodal.</a:t>
            </a:r>
            <a:endParaRPr/>
          </a:p>
          <a:p>
            <a:pPr indent="-317500" lvl="1" marL="914400" marR="0" rtl="0" algn="l">
              <a:lnSpc>
                <a:spcPct val="115000"/>
              </a:lnSpc>
              <a:spcBef>
                <a:spcPts val="0"/>
              </a:spcBef>
              <a:spcAft>
                <a:spcPts val="0"/>
              </a:spcAft>
              <a:buSzPts val="1400"/>
              <a:buChar char="❏"/>
            </a:pPr>
            <a:r>
              <a:rPr lang="en-GB"/>
              <a:t>Judul sebelumnya mencampurkan level abstraksi: "CNN" adalah metode, sedangkan "Facial Landmark" adalah tipe data/fitur. Judul baru lebih konsisten karena keduanya merujuk pada tipe input data.</a:t>
            </a:r>
            <a:endParaRPr/>
          </a:p>
          <a:p>
            <a:pPr indent="-317500" lvl="1" marL="914400" marR="0" rtl="0" algn="l">
              <a:lnSpc>
                <a:spcPct val="115000"/>
              </a:lnSpc>
              <a:spcBef>
                <a:spcPts val="0"/>
              </a:spcBef>
              <a:spcAft>
                <a:spcPts val="0"/>
              </a:spcAft>
              <a:buSzPts val="1400"/>
              <a:buChar char="❏"/>
            </a:pPr>
            <a:r>
              <a:rPr lang="en-GB"/>
              <a:t>Tetap mempertahankan "Facial Landmark" karena sudah merepresentasikan tipe data geometrik.</a:t>
            </a:r>
            <a:endParaRPr/>
          </a:p>
          <a:p>
            <a:pPr indent="-317500" lvl="1" marL="914400" marR="0" rtl="0" algn="l">
              <a:lnSpc>
                <a:spcPct val="115000"/>
              </a:lnSpc>
              <a:spcBef>
                <a:spcPts val="0"/>
              </a:spcBef>
              <a:spcAft>
                <a:spcPts val="0"/>
              </a:spcAft>
              <a:buSzPts val="1400"/>
              <a:buChar char="❏"/>
            </a:pPr>
            <a:r>
              <a:rPr lang="en-GB"/>
              <a:t>CNN dan FCNN tetap menjadi metode yang digunakan, akan dijelaskan di dalam isi proposal.</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Rencana Perbaikan</a:t>
            </a:r>
            <a:endParaRPr/>
          </a:p>
        </p:txBody>
      </p:sp>
      <p:sp>
        <p:nvSpPr>
          <p:cNvPr id="367" name="Google Shape;367;p66"/>
          <p:cNvSpPr txBox="1"/>
          <p:nvPr>
            <p:ph idx="1" type="body"/>
          </p:nvPr>
        </p:nvSpPr>
        <p:spPr>
          <a:xfrm>
            <a:off x="311700" y="1152475"/>
            <a:ext cx="8520600" cy="36411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en-GB"/>
              <a:t>Revisi Latar Belakang</a:t>
            </a:r>
            <a:r>
              <a:rPr lang="en-GB"/>
              <a:t>:</a:t>
            </a:r>
            <a:endParaRPr/>
          </a:p>
          <a:p>
            <a:pPr indent="-317500" lvl="1" marL="914400" marR="0" rtl="0" algn="l">
              <a:lnSpc>
                <a:spcPct val="115000"/>
              </a:lnSpc>
              <a:spcBef>
                <a:spcPts val="0"/>
              </a:spcBef>
              <a:spcAft>
                <a:spcPts val="0"/>
              </a:spcAft>
              <a:buSzPts val="1400"/>
              <a:buChar char="❏"/>
            </a:pPr>
            <a:r>
              <a:rPr lang="en-GB"/>
              <a:t>Restrukturisasi alur latar belakang agar tidak "lompat-lompat"</a:t>
            </a:r>
            <a:endParaRPr/>
          </a:p>
          <a:p>
            <a:pPr indent="-317500" lvl="1" marL="914400" marR="0" rtl="0" algn="l">
              <a:lnSpc>
                <a:spcPct val="115000"/>
              </a:lnSpc>
              <a:spcBef>
                <a:spcPts val="0"/>
              </a:spcBef>
              <a:spcAft>
                <a:spcPts val="0"/>
              </a:spcAft>
              <a:buSzPts val="1400"/>
              <a:buChar char="❏"/>
            </a:pPr>
            <a:r>
              <a:rPr lang="en-GB"/>
              <a:t>(Perjelas gap penelitian secara eksplisit (Penguji I #1)</a:t>
            </a:r>
            <a:endParaRPr/>
          </a:p>
          <a:p>
            <a:pPr indent="-342900" lvl="0" marL="457200" rtl="0" algn="l">
              <a:spcBef>
                <a:spcPts val="0"/>
              </a:spcBef>
              <a:spcAft>
                <a:spcPts val="0"/>
              </a:spcAft>
              <a:buSzPts val="1800"/>
              <a:buChar char="❏"/>
            </a:pPr>
            <a:r>
              <a:rPr lang="en-GB"/>
              <a:t>Revisi Rumusan masalah yang diusulkan (disesuaikan dengan judul baru dan alur latar belakang):</a:t>
            </a:r>
            <a:endParaRPr/>
          </a:p>
          <a:p>
            <a:pPr indent="-317500" lvl="1" marL="914400" rtl="0" algn="l">
              <a:spcBef>
                <a:spcPts val="0"/>
              </a:spcBef>
              <a:spcAft>
                <a:spcPts val="0"/>
              </a:spcAft>
              <a:buSzPts val="1400"/>
              <a:buChar char="❏"/>
            </a:pPr>
            <a:r>
              <a:rPr lang="en-GB"/>
              <a:t>1) Bagaimana performa model berbasis citra wajah (CNN) dalam pengenalan emosi mahasiswa pada konteks pembelajaran pemrograman?</a:t>
            </a:r>
            <a:endParaRPr/>
          </a:p>
          <a:p>
            <a:pPr indent="-317500" lvl="1" marL="914400" rtl="0" algn="l">
              <a:spcBef>
                <a:spcPts val="0"/>
              </a:spcBef>
              <a:spcAft>
                <a:spcPts val="0"/>
              </a:spcAft>
              <a:buSzPts val="1400"/>
              <a:buChar char="❏"/>
            </a:pPr>
            <a:r>
              <a:rPr lang="en-GB"/>
              <a:t>2) Bagaimana performa model berbasis facial landmark (FCNN) dalam pengenalan emosi mahasiswa pada konteks pembelajaran pemrograman?</a:t>
            </a:r>
            <a:endParaRPr/>
          </a:p>
          <a:p>
            <a:pPr indent="-317500" lvl="1" marL="914400" rtl="0" algn="l">
              <a:spcBef>
                <a:spcPts val="0"/>
              </a:spcBef>
              <a:spcAft>
                <a:spcPts val="0"/>
              </a:spcAft>
              <a:buSzPts val="1400"/>
              <a:buChar char="❏"/>
            </a:pPr>
            <a:r>
              <a:rPr lang="en-GB"/>
              <a:t>3) Bagaimana perbandingan performa antara strategi multimodal late fusion dan intermediate fusion dalam mengintegrasikan citra wajah dan facial landmark untuk menghasilkan sistem pengenalan emosi yang optimal dalam konteks pembelajaran pemrograman?</a:t>
            </a:r>
            <a:endParaRPr/>
          </a:p>
          <a:p>
            <a:pPr indent="-342900" lvl="0" marL="457200" marR="0" rtl="0" algn="l">
              <a:lnSpc>
                <a:spcPct val="115000"/>
              </a:lnSpc>
              <a:spcBef>
                <a:spcPts val="0"/>
              </a:spcBef>
              <a:spcAft>
                <a:spcPts val="0"/>
              </a:spcAft>
              <a:buSzPts val="1800"/>
              <a:buChar char="❏"/>
            </a:pPr>
            <a:r>
              <a:rPr lang="en-GB" sz="1800"/>
              <a:t>Catatan</a:t>
            </a:r>
            <a:r>
              <a:rPr lang="en-GB"/>
              <a:t>: Penyesuaian utama adalah mengganti istilah</a:t>
            </a:r>
            <a:r>
              <a:rPr b="1" lang="en-GB"/>
              <a:t> "fitur penampilan"</a:t>
            </a:r>
            <a:r>
              <a:rPr lang="en-GB"/>
              <a:t> dan "</a:t>
            </a:r>
            <a:r>
              <a:rPr b="1" lang="en-GB"/>
              <a:t>fitur geometrik" </a:t>
            </a:r>
            <a:r>
              <a:rPr lang="en-GB"/>
              <a:t>di rumusan masalah dengan</a:t>
            </a:r>
            <a:r>
              <a:rPr b="1" lang="en-GB"/>
              <a:t> "citra wajah"</a:t>
            </a:r>
            <a:r>
              <a:rPr lang="en-GB"/>
              <a:t> dan </a:t>
            </a:r>
            <a:r>
              <a:rPr b="1" lang="en-GB"/>
              <a:t>"facial landmark"</a:t>
            </a:r>
            <a:r>
              <a:rPr lang="en-GB"/>
              <a:t> agar konsisten dengan judul baru.</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Rencana Perbaikan</a:t>
            </a:r>
            <a:endParaRPr/>
          </a:p>
        </p:txBody>
      </p:sp>
      <p:sp>
        <p:nvSpPr>
          <p:cNvPr id="373" name="Google Shape;373;p67"/>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Menambahkan sub-bab atau paragraf khusus di BAB 2 yang secara eksplisit membedakan:</a:t>
            </a:r>
            <a:endParaRPr/>
          </a:p>
          <a:p>
            <a:pPr indent="-317500" lvl="1" marL="914400" marR="0" rtl="0" algn="l">
              <a:lnSpc>
                <a:spcPct val="115000"/>
              </a:lnSpc>
              <a:spcBef>
                <a:spcPts val="0"/>
              </a:spcBef>
              <a:spcAft>
                <a:spcPts val="0"/>
              </a:spcAft>
              <a:buSzPts val="1400"/>
              <a:buChar char="❏"/>
            </a:pPr>
            <a:r>
              <a:rPr b="1" lang="en-GB"/>
              <a:t>Emosi (Emotion):</a:t>
            </a:r>
            <a:r>
              <a:rPr lang="en-GB"/>
              <a:t> Kondisi afektif dasar (7 kategori: netral, senang, sedih, marah, jijik, terkejut, takut) — yang menjadi fokus penelitian ini</a:t>
            </a:r>
            <a:endParaRPr/>
          </a:p>
          <a:p>
            <a:pPr indent="-317500" lvl="1" marL="914400" marR="0" rtl="0" algn="l">
              <a:lnSpc>
                <a:spcPct val="115000"/>
              </a:lnSpc>
              <a:spcBef>
                <a:spcPts val="0"/>
              </a:spcBef>
              <a:spcAft>
                <a:spcPts val="0"/>
              </a:spcAft>
              <a:buSzPts val="1400"/>
              <a:buChar char="❏"/>
            </a:pPr>
            <a:r>
              <a:rPr b="1" lang="en-GB"/>
              <a:t>Engagement:</a:t>
            </a:r>
            <a:r>
              <a:rPr lang="en-GB"/>
              <a:t> Tingkat keterlibatan mahasiswa dalam pembelajaran — yang merupakan konsep berbeda dan lebih tinggi levelnya</a:t>
            </a:r>
            <a:endParaRPr/>
          </a:p>
          <a:p>
            <a:pPr indent="-317500" lvl="1" marL="914400" marR="0" rtl="0" algn="l">
              <a:lnSpc>
                <a:spcPct val="115000"/>
              </a:lnSpc>
              <a:spcBef>
                <a:spcPts val="0"/>
              </a:spcBef>
              <a:spcAft>
                <a:spcPts val="0"/>
              </a:spcAft>
              <a:buSzPts val="1400"/>
              <a:buChar char="❏"/>
            </a:pPr>
            <a:r>
              <a:rPr lang="en-GB"/>
              <a:t>Apakah perlu menambahkan mapping antara 7 emosi dasar ke indikator engagement? Atau cukup membedakan definisi saja?</a:t>
            </a:r>
            <a:endParaRPr/>
          </a:p>
          <a:p>
            <a:pPr indent="-342900" lvl="0" marL="457200" marR="0" rtl="0" algn="l">
              <a:lnSpc>
                <a:spcPct val="115000"/>
              </a:lnSpc>
              <a:spcBef>
                <a:spcPts val="0"/>
              </a:spcBef>
              <a:spcAft>
                <a:spcPts val="0"/>
              </a:spcAft>
              <a:buSzPts val="1800"/>
              <a:buChar char="❏"/>
            </a:pPr>
            <a:r>
              <a:rPr lang="en-GB"/>
              <a:t>Menambahkan sub-bab </a:t>
            </a:r>
            <a:r>
              <a:rPr lang="en-GB" sz="1800"/>
              <a:t>baru</a:t>
            </a:r>
            <a:r>
              <a:rPr lang="en-GB"/>
              <a:t> di BAB 2 tentang konsep Unimodal vs Multimodal Data:</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Pembagian Data</a:t>
            </a:r>
            <a:endParaRPr/>
          </a:p>
        </p:txBody>
      </p:sp>
      <p:sp>
        <p:nvSpPr>
          <p:cNvPr id="379" name="Google Shape;379;p68"/>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Opsi 1: Split 70:15:15 (train:validation:test) dengan stratified split berdasarkan kelas emosi</a:t>
            </a:r>
            <a:endParaRPr/>
          </a:p>
          <a:p>
            <a:pPr indent="-342900" lvl="0" marL="457200" marR="0" rtl="0" algn="l">
              <a:lnSpc>
                <a:spcPct val="115000"/>
              </a:lnSpc>
              <a:spcBef>
                <a:spcPts val="0"/>
              </a:spcBef>
              <a:spcAft>
                <a:spcPts val="0"/>
              </a:spcAft>
              <a:buSzPts val="1800"/>
              <a:buChar char="❏"/>
            </a:pPr>
            <a:r>
              <a:rPr lang="en-GB"/>
              <a:t>Opsi 2: Split 80:20 (train:test) dengan k-fold cross-validation</a:t>
            </a:r>
            <a:endParaRPr/>
          </a:p>
          <a:p>
            <a:pPr indent="-342900" lvl="0" marL="457200" marR="0" rtl="0" algn="l">
              <a:lnSpc>
                <a:spcPct val="115000"/>
              </a:lnSpc>
              <a:spcBef>
                <a:spcPts val="0"/>
              </a:spcBef>
              <a:spcAft>
                <a:spcPts val="0"/>
              </a:spcAft>
              <a:buSzPts val="1800"/>
              <a:buChar char="❏"/>
            </a:pPr>
            <a:r>
              <a:rPr lang="en-GB"/>
              <a:t>Opsi 3: Split berdasarkan partisipan (subject-independent split) untuk menghindari data leakage — misalnya 30 partisipan untuk training, 8 untuk testing</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Lain - Lain</a:t>
            </a:r>
            <a:endParaRPr/>
          </a:p>
        </p:txBody>
      </p:sp>
      <p:sp>
        <p:nvSpPr>
          <p:cNvPr id="385" name="Google Shape;385;p69"/>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Apakah sudah ada info lebih lanjut terkait Beasiswa Riset?</a:t>
            </a:r>
            <a:endParaRPr/>
          </a:p>
          <a:p>
            <a:pPr indent="-342900" lvl="0" marL="457200" marR="0" rtl="0" algn="l">
              <a:lnSpc>
                <a:spcPct val="115000"/>
              </a:lnSpc>
              <a:spcBef>
                <a:spcPts val="0"/>
              </a:spcBef>
              <a:spcAft>
                <a:spcPts val="0"/>
              </a:spcAft>
              <a:buSzPts val="1800"/>
              <a:buChar char="❏"/>
            </a:pPr>
            <a:r>
              <a:rPr lang="en-GB"/>
              <a:t>Apakah progress development Stress Diary perlu disampaikan dan didemokan pada bimbingan kali ini?</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/04/2026</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396" name="Google Shape;396;p71"/>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Progress pengumpulan dan preprocessing data</a:t>
            </a:r>
            <a:endParaRPr/>
          </a:p>
          <a:p>
            <a:pPr indent="-342900" lvl="0" marL="457200" marR="0" rtl="0" algn="l">
              <a:lnSpc>
                <a:spcPct val="115000"/>
              </a:lnSpc>
              <a:spcBef>
                <a:spcPts val="0"/>
              </a:spcBef>
              <a:spcAft>
                <a:spcPts val="0"/>
              </a:spcAft>
              <a:buSzPts val="1800"/>
              <a:buChar char="❏"/>
            </a:pPr>
            <a:r>
              <a:rPr lang="en-GB"/>
              <a:t>Statistik dataset yang dihasilkan</a:t>
            </a:r>
            <a:endParaRPr/>
          </a:p>
          <a:p>
            <a:pPr indent="-342900" lvl="0" marL="457200" marR="0" rtl="0" algn="l">
              <a:lnSpc>
                <a:spcPct val="115000"/>
              </a:lnSpc>
              <a:spcBef>
                <a:spcPts val="0"/>
              </a:spcBef>
              <a:spcAft>
                <a:spcPts val="0"/>
              </a:spcAft>
              <a:buSzPts val="1800"/>
              <a:buChar char="❏"/>
            </a:pPr>
            <a:r>
              <a:rPr lang="en-GB"/>
              <a:t>Konsultasi: Validasi ahli psikologi</a:t>
            </a:r>
            <a:endParaRPr/>
          </a:p>
          <a:p>
            <a:pPr indent="-342900" lvl="0" marL="457200" marR="0" rtl="0" algn="l">
              <a:lnSpc>
                <a:spcPct val="115000"/>
              </a:lnSpc>
              <a:spcBef>
                <a:spcPts val="0"/>
              </a:spcBef>
              <a:spcAft>
                <a:spcPts val="0"/>
              </a:spcAft>
              <a:buSzPts val="1800"/>
              <a:buChar char="❏"/>
            </a:pPr>
            <a:r>
              <a:rPr lang="en-GB"/>
              <a:t>Konsultasi: Strategi penanganan class imbalance</a:t>
            </a:r>
            <a:endParaRPr/>
          </a:p>
          <a:p>
            <a:pPr indent="-342900" lvl="0" marL="457200" marR="0" rtl="0" algn="l">
              <a:lnSpc>
                <a:spcPct val="115000"/>
              </a:lnSpc>
              <a:spcBef>
                <a:spcPts val="0"/>
              </a:spcBef>
              <a:spcAft>
                <a:spcPts val="0"/>
              </a:spcAft>
              <a:buSzPts val="1800"/>
              <a:buChar char="❏"/>
            </a:pPr>
            <a:r>
              <a:rPr lang="en-GB"/>
              <a:t>Rencana selanjutnya</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Data yang Terkumpul</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1828800"/>
                <a:gridCol w="2286000"/>
                <a:gridCol w="2286000"/>
                <a:gridCol w="1828800"/>
              </a:tblGrid>
              <a:tr h="342900">
                <a:tc>
                  <a:txBody>
                    <a:bodyPr/>
                    <a:lstStyle/>
                    <a:p>
                      <a:pPr algn="ctr"/>
                      <a:r>
                        <a:rPr sz="1000" b="1">
                          <a:solidFill>
                            <a:srgbClr val="FFFFFF"/>
                          </a:solidFill>
                        </a:rPr>
                        <a:t>Batch</a:t>
                      </a:r>
                    </a:p>
                  </a:txBody>
                  <a:tcPr>
                    <a:solidFill>
                      <a:srgbClr val="1A73E8"/>
                    </a:solidFill>
                  </a:tcPr>
                </a:tc>
                <a:tc>
                  <a:txBody>
                    <a:bodyPr/>
                    <a:lstStyle/>
                    <a:p>
                      <a:pPr algn="ctr"/>
                      <a:r>
                        <a:rPr sz="1000" b="1">
                          <a:solidFill>
                            <a:srgbClr val="FFFFFF"/>
                          </a:solidFill>
                        </a:rPr>
                        <a:t>Jumlah Mahasiswa</a:t>
                      </a:r>
                    </a:p>
                  </a:txBody>
                  <a:tcPr>
                    <a:solidFill>
                      <a:srgbClr val="1A73E8"/>
                    </a:solidFill>
                  </a:tcPr>
                </a:tc>
                <a:tc>
                  <a:txBody>
                    <a:bodyPr/>
                    <a:lstStyle/>
                    <a:p>
                      <a:pPr algn="ctr"/>
                      <a:r>
                        <a:rPr sz="1000" b="1">
                          <a:solidFill>
                            <a:srgbClr val="FFFFFF"/>
                          </a:solidFill>
                        </a:rPr>
                        <a:t>Sudut Kamera</a:t>
                      </a:r>
                    </a:p>
                  </a:txBody>
                  <a:tcPr>
                    <a:solidFill>
                      <a:srgbClr val="1A73E8"/>
                    </a:solidFill>
                  </a:tcPr>
                </a:tc>
                <a:tc>
                  <a:txBody>
                    <a:bodyPr/>
                    <a:lstStyle/>
                    <a:p>
                      <a:pPr algn="ctr"/>
                      <a:r>
                        <a:rPr sz="1000" b="1">
                          <a:solidFill>
                            <a:srgbClr val="FFFFFF"/>
                          </a:solidFill>
                        </a:rPr>
                        <a:t>Periode</a:t>
                      </a:r>
                    </a:p>
                  </a:txBody>
                  <a:tcPr>
                    <a:solidFill>
                      <a:srgbClr val="1A73E8"/>
                    </a:solidFill>
                  </a:tcPr>
                </a:tc>
              </a:tr>
              <a:tr h="342900">
                <a:tc>
                  <a:txBody>
                    <a:bodyPr/>
                    <a:lstStyle/>
                    <a:p>
                      <a:pPr algn="l"/>
                      <a:r>
                        <a:rPr sz="900">
                          <a:solidFill>
                            <a:srgbClr val="202020"/>
                          </a:solidFill>
                        </a:rPr>
                        <a:t>Batch 1 (lama)</a:t>
                      </a:r>
                    </a:p>
                  </a:txBody>
                  <a:tcPr>
                    <a:solidFill>
                      <a:srgbClr val="E8F0FE"/>
                    </a:solidFill>
                  </a:tcPr>
                </a:tc>
                <a:tc>
                  <a:txBody>
                    <a:bodyPr/>
                    <a:lstStyle/>
                    <a:p>
                      <a:pPr algn="ctr"/>
                      <a:r>
                        <a:rPr sz="900">
                          <a:solidFill>
                            <a:srgbClr val="202020"/>
                          </a:solidFill>
                        </a:rPr>
                        <a:t>20 mahasiswa</a:t>
                      </a:r>
                    </a:p>
                  </a:txBody>
                  <a:tcPr>
                    <a:solidFill>
                      <a:srgbClr val="E8F0FE"/>
                    </a:solidFill>
                  </a:tcPr>
                </a:tc>
                <a:tc>
                  <a:txBody>
                    <a:bodyPr/>
                    <a:lstStyle/>
                    <a:p>
                      <a:pPr algn="ctr"/>
                      <a:r>
                        <a:rPr sz="900">
                          <a:solidFill>
                            <a:srgbClr val="202020"/>
                          </a:solidFill>
                        </a:rPr>
                        <a:t>Depan saja</a:t>
                      </a:r>
                    </a:p>
                  </a:txBody>
                  <a:tcPr>
                    <a:solidFill>
                      <a:srgbClr val="E8F0FE"/>
                    </a:solidFill>
                  </a:tcPr>
                </a:tc>
                <a:tc>
                  <a:txBody>
                    <a:bodyPr/>
                    <a:lstStyle/>
                    <a:p>
                      <a:pPr algn="ctr"/>
                      <a:r>
                        <a:rPr sz="900">
                          <a:solidFill>
                            <a:srgbClr val="202020"/>
                          </a:solidFill>
                        </a:rPr>
                        <a:t>April-Mei 2025</a:t>
                      </a:r>
                    </a:p>
                  </a:txBody>
                  <a:tcPr>
                    <a:solidFill>
                      <a:srgbClr val="E8F0FE"/>
                    </a:solidFill>
                  </a:tcPr>
                </a:tc>
              </a:tr>
              <a:tr h="342900">
                <a:tc>
                  <a:txBody>
                    <a:bodyPr/>
                    <a:lstStyle/>
                    <a:p>
                      <a:pPr algn="l"/>
                      <a:r>
                        <a:rPr sz="900">
                          <a:solidFill>
                            <a:srgbClr val="202020"/>
                          </a:solidFill>
                        </a:rPr>
                        <a:t>Batch 2 (baru)</a:t>
                      </a:r>
                    </a:p>
                  </a:txBody>
                  <a:tcPr>
                    <a:solidFill>
                      <a:srgbClr val="FFFFFF"/>
                    </a:solidFill>
                  </a:tcPr>
                </a:tc>
                <a:tc>
                  <a:txBody>
                    <a:bodyPr/>
                    <a:lstStyle/>
                    <a:p>
                      <a:pPr algn="ctr"/>
                      <a:r>
                        <a:rPr sz="900">
                          <a:solidFill>
                            <a:srgbClr val="202020"/>
                          </a:solidFill>
                        </a:rPr>
                        <a:t>17 mahasiswa</a:t>
                      </a:r>
                    </a:p>
                  </a:txBody>
                  <a:tcPr>
                    <a:solidFill>
                      <a:srgbClr val="FFFFFF"/>
                    </a:solidFill>
                  </a:tcPr>
                </a:tc>
                <a:tc>
                  <a:txBody>
                    <a:bodyPr/>
                    <a:lstStyle/>
                    <a:p>
                      <a:pPr algn="ctr"/>
                      <a:r>
                        <a:rPr sz="900">
                          <a:solidFill>
                            <a:srgbClr val="202020"/>
                          </a:solidFill>
                        </a:rPr>
                        <a:t>Depan + Samping</a:t>
                      </a:r>
                    </a:p>
                  </a:txBody>
                  <a:tcPr>
                    <a:solidFill>
                      <a:srgbClr val="FFFFFF"/>
                    </a:solidFill>
                  </a:tcPr>
                </a:tc>
                <a:tc>
                  <a:txBody>
                    <a:bodyPr/>
                    <a:lstStyle/>
                    <a:p>
                      <a:pPr algn="ctr"/>
                      <a:r>
                        <a:rPr sz="900">
                          <a:solidFill>
                            <a:srgbClr val="202020"/>
                          </a:solidFill>
                        </a:rPr>
                        <a:t>November 2025</a:t>
                      </a:r>
                    </a:p>
                  </a:txBody>
                  <a:tcPr>
                    <a:solidFill>
                      <a:srgbClr val="FFFFFF"/>
                    </a:solidFill>
                  </a:tcPr>
                </a:tc>
              </a:tr>
              <a:tr h="342900">
                <a:tc>
                  <a:txBody>
                    <a:bodyPr/>
                    <a:lstStyle/>
                    <a:p>
                      <a:pPr algn="l"/>
                      <a:r>
                        <a:rPr sz="900">
                          <a:solidFill>
                            <a:srgbClr val="202020"/>
                          </a:solidFill>
                        </a:rPr>
                        <a:t>Total</a:t>
                      </a:r>
                    </a:p>
                  </a:txBody>
                  <a:tcPr>
                    <a:solidFill>
                      <a:srgbClr val="E8F0FE"/>
                    </a:solidFill>
                  </a:tcPr>
                </a:tc>
                <a:tc>
                  <a:txBody>
                    <a:bodyPr/>
                    <a:lstStyle/>
                    <a:p>
                      <a:pPr algn="ctr"/>
                      <a:r>
                        <a:rPr sz="900">
                          <a:solidFill>
                            <a:srgbClr val="202020"/>
                          </a:solidFill>
                        </a:rPr>
                        <a:t>37 mahasiswa</a:t>
                      </a:r>
                    </a:p>
                  </a:txBody>
                  <a:tcPr>
                    <a:solidFill>
                      <a:srgbClr val="E8F0FE"/>
                    </a:solidFill>
                  </a:tcPr>
                </a:tc>
                <a:tc>
                  <a:txBody>
                    <a:bodyPr/>
                    <a:lstStyle/>
                    <a:p>
                      <a:pPr algn="ctr"/>
                      <a:r>
                        <a:rPr sz="900">
                          <a:solidFill>
                            <a:srgbClr val="202020"/>
                          </a:solidFill>
                        </a:rPr>
                        <a:t/>
                      </a:r>
                    </a:p>
                  </a:txBody>
                  <a:tcPr>
                    <a:solidFill>
                      <a:srgbClr val="E8F0FE"/>
                    </a:solidFill>
                  </a:tcPr>
                </a:tc>
                <a:tc>
                  <a:txBody>
                    <a:bodyPr/>
                    <a:lstStyle/>
                    <a:p>
                      <a:pPr algn="ctr"/>
                      <a:r>
                        <a:rPr sz="900">
                          <a:solidFill>
                            <a:srgbClr val="202020"/>
                          </a:solidFill>
                        </a:rPr>
                        <a:t/>
                      </a:r>
                    </a:p>
                  </a:txBody>
                  <a:tcPr>
                    <a:solidFill>
                      <a:srgbClr val="E8F0FE"/>
                    </a:solidFill>
                  </a:tcPr>
                </a:tc>
              </a:tr>
            </a:tbl>
          </a:graphicData>
        </a:graphic>
      </p:graphicFrame>
      <p:sp>
        <p:nvSpPr>
          <p:cNvPr id="4" name="TextBox 3"/>
          <p:cNvSpPr txBox="1"/>
          <p:nvPr/>
        </p:nvSpPr>
        <p:spPr>
          <a:xfrm>
            <a:off x="457200" y="2651760"/>
            <a:ext cx="8229600" cy="1097280"/>
          </a:xfrm>
          <a:prstGeom prst="rect">
            <a:avLst/>
          </a:prstGeom>
          <a:noFill/>
        </p:spPr>
        <p:txBody>
          <a:bodyPr wrap="square">
            <a:spAutoFit/>
          </a:bodyPr>
          <a:lstStyle/>
          <a:p>
            <a:pPr>
              <a:defRPr sz="1100">
                <a:solidFill>
                  <a:srgbClr val="202020"/>
                </a:solidFill>
              </a:defRPr>
            </a:pPr>
            <a:r>
              <a:t>Catatan Batch 2: Awalnya direkam 20 mahasiswa, namun 3 file rekaman tidak tersimpan</a:t>
            </a:r>
          </a:p>
          <a:p>
            <a:pPr>
              <a:defRPr sz="1100">
                <a:solidFill>
                  <a:srgbClr val="202020"/>
                </a:solidFill>
              </a:defRPr>
            </a:pPr>
            <a:r>
              <a:t>di hardisk PC perekaman. Setelah ditelusuri, file gagal tersimpan saat proses recording.</a:t>
            </a:r>
          </a:p>
          <a:p>
            <a:pPr>
              <a:defRPr sz="1100">
                <a:solidFill>
                  <a:srgbClr val="202020"/>
                </a:solidFill>
              </a:defRPr>
            </a:pPr>
            <a:r>
              <a:t>Target proposal: 38 mahasiswa  |  Tersedia: 37 mahasiswa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Pipeline Preprocessing</a:t>
            </a:r>
          </a:p>
        </p:txBody>
      </p:sp>
      <p:graphicFrame>
        <p:nvGraphicFramePr>
          <p:cNvPr id="3" name="Table 2"/>
          <p:cNvGraphicFramePr>
            <a:graphicFrameLocks noGrp="1"/>
          </p:cNvGraphicFramePr>
          <p:nvPr/>
        </p:nvGraphicFramePr>
        <p:xfrm>
          <a:off x="457200" y="1097280"/>
          <a:ext cx="8229600" cy="2286000"/>
        </p:xfrm>
        <a:graphic>
          <a:graphicData uri="http://schemas.openxmlformats.org/drawingml/2006/table">
            <a:tbl>
              <a:tblPr firstRow="1" bandRow="1">
                <a:tableStyleId>{5C22544A-7EE6-4342-B048-85BDC9FD1C3A}</a:tableStyleId>
              </a:tblPr>
              <a:tblGrid>
                <a:gridCol w="2286000"/>
                <a:gridCol w="3657600"/>
                <a:gridCol w="2286000"/>
              </a:tblGrid>
              <a:tr h="457200">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Proses</a:t>
                      </a:r>
                    </a:p>
                  </a:txBody>
                  <a:tcPr>
                    <a:solidFill>
                      <a:srgbClr val="1A73E8"/>
                    </a:solidFill>
                  </a:tcPr>
                </a:tc>
                <a:tc>
                  <a:txBody>
                    <a:bodyPr/>
                    <a:lstStyle/>
                    <a:p>
                      <a:pPr algn="ctr"/>
                      <a:r>
                        <a:rPr sz="1000" b="1">
                          <a:solidFill>
                            <a:srgbClr val="FFFFFF"/>
                          </a:solidFill>
                        </a:rPr>
                        <a:t>Tool / Output</a:t>
                      </a:r>
                    </a:p>
                  </a:txBody>
                  <a:tcPr>
                    <a:solidFill>
                      <a:srgbClr val="1A73E8"/>
                    </a:solidFill>
                  </a:tcPr>
                </a:tc>
              </a:tr>
              <a:tr h="457200">
                <a:tc>
                  <a:txBody>
                    <a:bodyPr/>
                    <a:lstStyle/>
                    <a:p>
                      <a:pPr algn="l"/>
                      <a:r>
                        <a:rPr sz="1000">
                          <a:solidFill>
                            <a:srgbClr val="202020"/>
                          </a:solidFill>
                        </a:rPr>
                        <a:t>1. Ekstraksi Frame</a:t>
                      </a:r>
                    </a:p>
                  </a:txBody>
                  <a:tcPr>
                    <a:solidFill>
                      <a:srgbClr val="E8F0FE"/>
                    </a:solidFill>
                  </a:tcPr>
                </a:tc>
                <a:tc>
                  <a:txBody>
                    <a:bodyPr/>
                    <a:lstStyle/>
                    <a:p>
                      <a:pPr algn="ctr"/>
                      <a:r>
                        <a:rPr sz="1000">
                          <a:solidFill>
                            <a:srgbClr val="202020"/>
                          </a:solidFill>
                        </a:rPr>
                        <a:t>Berdasarkan timestamp emosi di database</a:t>
                      </a:r>
                    </a:p>
                  </a:txBody>
                  <a:tcPr>
                    <a:solidFill>
                      <a:srgbClr val="E8F0FE"/>
                    </a:solidFill>
                  </a:tcPr>
                </a:tc>
                <a:tc>
                  <a:txBody>
                    <a:bodyPr/>
                    <a:lstStyle/>
                    <a:p>
                      <a:pPr algn="ctr"/>
                      <a:r>
                        <a:rPr sz="1000">
                          <a:solidFill>
                            <a:srgbClr val="202020"/>
                          </a:solidFill>
                        </a:rPr>
                        <a:t>ffmpeg → frame berlabel</a:t>
                      </a:r>
                    </a:p>
                  </a:txBody>
                  <a:tcPr>
                    <a:solidFill>
                      <a:srgbClr val="E8F0FE"/>
                    </a:solidFill>
                  </a:tcPr>
                </a:tc>
              </a:tr>
              <a:tr h="457200">
                <a:tc>
                  <a:txBody>
                    <a:bodyPr/>
                    <a:lstStyle/>
                    <a:p>
                      <a:pPr algn="l"/>
                      <a:r>
                        <a:rPr sz="1000">
                          <a:solidFill>
                            <a:srgbClr val="202020"/>
                          </a:solidFill>
                        </a:rPr>
                        <a:t>2. Face Detection</a:t>
                      </a:r>
                    </a:p>
                  </a:txBody>
                  <a:tcPr>
                    <a:solidFill>
                      <a:srgbClr val="FFFFFF"/>
                    </a:solidFill>
                  </a:tcPr>
                </a:tc>
                <a:tc>
                  <a:txBody>
                    <a:bodyPr/>
                    <a:lstStyle/>
                    <a:p>
                      <a:pPr algn="ctr"/>
                      <a:r>
                        <a:rPr sz="1000">
                          <a:solidFill>
                            <a:srgbClr val="202020"/>
                          </a:solidFill>
                        </a:rPr>
                        <a:t>Deteksi &amp; crop wajah 224x224 px</a:t>
                      </a:r>
                    </a:p>
                  </a:txBody>
                  <a:tcPr>
                    <a:solidFill>
                      <a:srgbClr val="FFFFFF"/>
                    </a:solidFill>
                  </a:tcPr>
                </a:tc>
                <a:tc>
                  <a:txBody>
                    <a:bodyPr/>
                    <a:lstStyle/>
                    <a:p>
                      <a:pPr algn="ctr"/>
                      <a:r>
                        <a:rPr sz="1000">
                          <a:solidFill>
                            <a:srgbClr val="202020"/>
                          </a:solidFill>
                        </a:rPr>
                        <a:t>MediaPipe (bukan dlib)</a:t>
                      </a:r>
                    </a:p>
                  </a:txBody>
                  <a:tcPr>
                    <a:solidFill>
                      <a:srgbClr val="FFFFFF"/>
                    </a:solidFill>
                  </a:tcPr>
                </a:tc>
              </a:tr>
              <a:tr h="457200">
                <a:tc>
                  <a:txBody>
                    <a:bodyPr/>
                    <a:lstStyle/>
                    <a:p>
                      <a:pPr algn="l"/>
                      <a:r>
                        <a:rPr sz="1000">
                          <a:solidFill>
                            <a:srgbClr val="202020"/>
                          </a:solidFill>
                        </a:rPr>
                        <a:t>3. Landmark Extraction</a:t>
                      </a:r>
                    </a:p>
                  </a:txBody>
                  <a:tcPr>
                    <a:solidFill>
                      <a:srgbClr val="E8F0FE"/>
                    </a:solidFill>
                  </a:tcPr>
                </a:tc>
                <a:tc>
                  <a:txBody>
                    <a:bodyPr/>
                    <a:lstStyle/>
                    <a:p>
                      <a:pPr algn="ctr"/>
                      <a:r>
                        <a:rPr sz="1000">
                          <a:solidFill>
                            <a:srgbClr val="202020"/>
                          </a:solidFill>
                        </a:rPr>
                        <a:t>478 titik → map ke 68 titik standar</a:t>
                      </a:r>
                    </a:p>
                  </a:txBody>
                  <a:tcPr>
                    <a:solidFill>
                      <a:srgbClr val="E8F0FE"/>
                    </a:solidFill>
                  </a:tcPr>
                </a:tc>
                <a:tc>
                  <a:txBody>
                    <a:bodyPr/>
                    <a:lstStyle/>
                    <a:p>
                      <a:pPr algn="ctr"/>
                      <a:r>
                        <a:rPr sz="1000">
                          <a:solidFill>
                            <a:srgbClr val="202020"/>
                          </a:solidFill>
                        </a:rPr>
                        <a:t>68 titik → 136 fitur (x,y)</a:t>
                      </a:r>
                    </a:p>
                  </a:txBody>
                  <a:tcPr>
                    <a:solidFill>
                      <a:srgbClr val="E8F0FE"/>
                    </a:solidFill>
                  </a:tcPr>
                </a:tc>
              </a:tr>
              <a:tr h="457200">
                <a:tc>
                  <a:txBody>
                    <a:bodyPr/>
                    <a:lstStyle/>
                    <a:p>
                      <a:pPr algn="l"/>
                      <a:r>
                        <a:rPr sz="1000">
                          <a:solidFill>
                            <a:srgbClr val="202020"/>
                          </a:solidFill>
                        </a:rPr>
                        <a:t>4. Dataset Preparation</a:t>
                      </a:r>
                    </a:p>
                  </a:txBody>
                  <a:tcPr>
                    <a:solidFill>
                      <a:srgbClr val="FFFFFF"/>
                    </a:solidFill>
                  </a:tcPr>
                </a:tc>
                <a:tc>
                  <a:txBody>
                    <a:bodyPr/>
                    <a:lstStyle/>
                    <a:p>
                      <a:pPr algn="ctr"/>
                      <a:r>
                        <a:rPr sz="1000">
                          <a:solidFill>
                            <a:srgbClr val="202020"/>
                          </a:solidFill>
                        </a:rPr>
                        <a:t>Matching label + split train/val/test</a:t>
                      </a:r>
                    </a:p>
                  </a:txBody>
                  <a:tcPr>
                    <a:solidFill>
                      <a:srgbClr val="FFFFFF"/>
                    </a:solidFill>
                  </a:tcPr>
                </a:tc>
                <a:tc>
                  <a:txBody>
                    <a:bodyPr/>
                    <a:lstStyle/>
                    <a:p>
                      <a:pPr algn="ctr"/>
                      <a:r>
                        <a:rPr sz="1000">
                          <a:solidFill>
                            <a:srgbClr val="202020"/>
                          </a:solidFill>
                        </a:rPr>
                        <a:t>User-based split</a:t>
                      </a:r>
                    </a:p>
                  </a:txBody>
                  <a:tcPr>
                    <a:solidFill>
                      <a:srgbClr val="FFFFFF"/>
                    </a:solidFill>
                  </a:tcPr>
                </a:tc>
              </a:tr>
            </a:tbl>
          </a:graphicData>
        </a:graphic>
      </p:graphicFrame>
      <p:sp>
        <p:nvSpPr>
          <p:cNvPr id="4" name="TextBox 3"/>
          <p:cNvSpPr txBox="1"/>
          <p:nvPr/>
        </p:nvSpPr>
        <p:spPr>
          <a:xfrm>
            <a:off x="457200" y="3566160"/>
            <a:ext cx="8229600" cy="365760"/>
          </a:xfrm>
          <a:prstGeom prst="rect">
            <a:avLst/>
          </a:prstGeom>
          <a:noFill/>
        </p:spPr>
        <p:txBody>
          <a:bodyPr wrap="square">
            <a:spAutoFit/>
          </a:bodyPr>
          <a:lstStyle/>
          <a:p>
            <a:pPr>
              <a:defRPr sz="1000">
                <a:solidFill>
                  <a:srgbClr val="202020"/>
                </a:solidFill>
              </a:defRPr>
            </a:pPr>
            <a:r>
              <a:t>Perubahan dari proposal: dlib diganti MediaPipe karena dlib tidak support side view (batch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Preprocessing</a:t>
            </a:r>
          </a:p>
        </p:txBody>
      </p:sp>
      <p:graphicFrame>
        <p:nvGraphicFramePr>
          <p:cNvPr id="3" name="Table 2"/>
          <p:cNvGraphicFramePr>
            <a:graphicFrameLocks noGrp="1"/>
          </p:cNvGraphicFramePr>
          <p:nvPr/>
        </p:nvGraphicFramePr>
        <p:xfrm>
          <a:off x="457200" y="1097280"/>
          <a:ext cx="5486400" cy="2011680"/>
        </p:xfrm>
        <a:graphic>
          <a:graphicData uri="http://schemas.openxmlformats.org/drawingml/2006/table">
            <a:tbl>
              <a:tblPr firstRow="1" bandRow="1">
                <a:tableStyleId>{5C22544A-7EE6-4342-B048-85BDC9FD1C3A}</a:tableStyleId>
              </a:tblPr>
              <a:tblGrid>
                <a:gridCol w="2286000"/>
                <a:gridCol w="1097280"/>
                <a:gridCol w="1097280"/>
                <a:gridCol w="1005840"/>
              </a:tblGrid>
              <a:tr h="402336">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Batch 1</a:t>
                      </a:r>
                    </a:p>
                  </a:txBody>
                  <a:tcPr>
                    <a:solidFill>
                      <a:srgbClr val="1A73E8"/>
                    </a:solidFill>
                  </a:tcPr>
                </a:tc>
                <a:tc>
                  <a:txBody>
                    <a:bodyPr/>
                    <a:lstStyle/>
                    <a:p>
                      <a:pPr algn="ctr"/>
                      <a:r>
                        <a:rPr sz="1000" b="1">
                          <a:solidFill>
                            <a:srgbClr val="FFFFFF"/>
                          </a:solidFill>
                        </a:rPr>
                        <a:t>Batch 2</a:t>
                      </a:r>
                    </a:p>
                  </a:txBody>
                  <a:tcPr>
                    <a:solidFill>
                      <a:srgbClr val="1A73E8"/>
                    </a:solidFill>
                  </a:tcPr>
                </a:tc>
                <a:tc>
                  <a:txBody>
                    <a:bodyPr/>
                    <a:lstStyle/>
                    <a:p>
                      <a:pPr algn="ctr"/>
                      <a:r>
                        <a:rPr sz="1000" b="1">
                          <a:solidFill>
                            <a:srgbClr val="FFFFFF"/>
                          </a:solidFill>
                        </a:rPr>
                        <a:t>Total</a:t>
                      </a:r>
                    </a:p>
                  </a:txBody>
                  <a:tcPr>
                    <a:solidFill>
                      <a:srgbClr val="1A73E8"/>
                    </a:solidFill>
                  </a:tcPr>
                </a:tc>
              </a:tr>
              <a:tr h="402336">
                <a:tc>
                  <a:txBody>
                    <a:bodyPr/>
                    <a:lstStyle/>
                    <a:p>
                      <a:pPr algn="l"/>
                      <a:r>
                        <a:rPr sz="1000">
                          <a:solidFill>
                            <a:srgbClr val="202020"/>
                          </a:solidFill>
                        </a:rPr>
                        <a:t>Frame diekstrak</a:t>
                      </a:r>
                    </a:p>
                  </a:txBody>
                  <a:tcPr>
                    <a:solidFill>
                      <a:srgbClr val="E8F0FE"/>
                    </a:solidFill>
                  </a:tcPr>
                </a:tc>
                <a:tc>
                  <a:txBody>
                    <a:bodyPr/>
                    <a:lstStyle/>
                    <a:p>
                      <a:pPr algn="ctr"/>
                      <a:r>
                        <a:rPr sz="1000">
                          <a:solidFill>
                            <a:srgbClr val="202020"/>
                          </a:solidFill>
                        </a:rPr>
                        <a:t>3,849</a:t>
                      </a:r>
                    </a:p>
                  </a:txBody>
                  <a:tcPr>
                    <a:solidFill>
                      <a:srgbClr val="E8F0FE"/>
                    </a:solidFill>
                  </a:tcPr>
                </a:tc>
                <a:tc>
                  <a:txBody>
                    <a:bodyPr/>
                    <a:lstStyle/>
                    <a:p>
                      <a:pPr algn="ctr"/>
                      <a:r>
                        <a:rPr sz="1000">
                          <a:solidFill>
                            <a:srgbClr val="202020"/>
                          </a:solidFill>
                        </a:rPr>
                        <a:t>6,553</a:t>
                      </a:r>
                    </a:p>
                  </a:txBody>
                  <a:tcPr>
                    <a:solidFill>
                      <a:srgbClr val="E8F0FE"/>
                    </a:solidFill>
                  </a:tcPr>
                </a:tc>
                <a:tc>
                  <a:txBody>
                    <a:bodyPr/>
                    <a:lstStyle/>
                    <a:p>
                      <a:pPr algn="ctr"/>
                      <a:r>
                        <a:rPr sz="1000">
                          <a:solidFill>
                            <a:srgbClr val="202020"/>
                          </a:solidFill>
                        </a:rPr>
                        <a:t>10,402</a:t>
                      </a:r>
                    </a:p>
                  </a:txBody>
                  <a:tcPr>
                    <a:solidFill>
                      <a:srgbClr val="E8F0FE"/>
                    </a:solidFill>
                  </a:tcPr>
                </a:tc>
              </a:tr>
              <a:tr h="402336">
                <a:tc>
                  <a:txBody>
                    <a:bodyPr/>
                    <a:lstStyle/>
                    <a:p>
                      <a:pPr algn="l"/>
                      <a:r>
                        <a:rPr sz="1000">
                          <a:solidFill>
                            <a:srgbClr val="202020"/>
                          </a:solidFill>
                        </a:rPr>
                        <a:t>Face terdeteksi</a:t>
                      </a:r>
                    </a:p>
                  </a:txBody>
                  <a:tcPr>
                    <a:solidFill>
                      <a:srgbClr val="FFFFFF"/>
                    </a:solidFill>
                  </a:tcPr>
                </a:tc>
                <a:tc>
                  <a:txBody>
                    <a:bodyPr/>
                    <a:lstStyle/>
                    <a:p>
                      <a:pPr algn="ctr"/>
                      <a:r>
                        <a:rPr sz="1000">
                          <a:solidFill>
                            <a:srgbClr val="202020"/>
                          </a:solidFill>
                        </a:rPr>
                        <a:t>3,824</a:t>
                      </a:r>
                    </a:p>
                  </a:txBody>
                  <a:tcPr>
                    <a:solidFill>
                      <a:srgbClr val="FFFFFF"/>
                    </a:solidFill>
                  </a:tcPr>
                </a:tc>
                <a:tc>
                  <a:txBody>
                    <a:bodyPr/>
                    <a:lstStyle/>
                    <a:p>
                      <a:pPr algn="ctr"/>
                      <a:r>
                        <a:rPr sz="1000">
                          <a:solidFill>
                            <a:srgbClr val="202020"/>
                          </a:solidFill>
                        </a:rPr>
                        <a:t>6,070</a:t>
                      </a:r>
                    </a:p>
                  </a:txBody>
                  <a:tcPr>
                    <a:solidFill>
                      <a:srgbClr val="FFFFFF"/>
                    </a:solidFill>
                  </a:tcPr>
                </a:tc>
                <a:tc>
                  <a:txBody>
                    <a:bodyPr/>
                    <a:lstStyle/>
                    <a:p>
                      <a:pPr algn="ctr"/>
                      <a:r>
                        <a:rPr sz="1000">
                          <a:solidFill>
                            <a:srgbClr val="202020"/>
                          </a:solidFill>
                        </a:rPr>
                        <a:t>9,894</a:t>
                      </a:r>
                    </a:p>
                  </a:txBody>
                  <a:tcPr>
                    <a:solidFill>
                      <a:srgbClr val="FFFFFF"/>
                    </a:solidFill>
                  </a:tcPr>
                </a:tc>
              </a:tr>
              <a:tr h="402336">
                <a:tc>
                  <a:txBody>
                    <a:bodyPr/>
                    <a:lstStyle/>
                    <a:p>
                      <a:pPr algn="l"/>
                      <a:r>
                        <a:rPr sz="1000">
                          <a:solidFill>
                            <a:srgbClr val="202020"/>
                          </a:solidFill>
                        </a:rPr>
                        <a:t>Gagal deteksi</a:t>
                      </a:r>
                    </a:p>
                  </a:txBody>
                  <a:tcPr>
                    <a:solidFill>
                      <a:srgbClr val="E8F0FE"/>
                    </a:solidFill>
                  </a:tcPr>
                </a:tc>
                <a:tc>
                  <a:txBody>
                    <a:bodyPr/>
                    <a:lstStyle/>
                    <a:p>
                      <a:pPr algn="ctr"/>
                      <a:r>
                        <a:rPr sz="1000">
                          <a:solidFill>
                            <a:srgbClr val="202020"/>
                          </a:solidFill>
                        </a:rPr>
                        <a:t>25</a:t>
                      </a:r>
                    </a:p>
                  </a:txBody>
                  <a:tcPr>
                    <a:solidFill>
                      <a:srgbClr val="E8F0FE"/>
                    </a:solidFill>
                  </a:tcPr>
                </a:tc>
                <a:tc>
                  <a:txBody>
                    <a:bodyPr/>
                    <a:lstStyle/>
                    <a:p>
                      <a:pPr algn="ctr"/>
                      <a:r>
                        <a:rPr sz="1000">
                          <a:solidFill>
                            <a:srgbClr val="202020"/>
                          </a:solidFill>
                        </a:rPr>
                        <a:t>483</a:t>
                      </a:r>
                    </a:p>
                  </a:txBody>
                  <a:tcPr>
                    <a:solidFill>
                      <a:srgbClr val="E8F0FE"/>
                    </a:solidFill>
                  </a:tcPr>
                </a:tc>
                <a:tc>
                  <a:txBody>
                    <a:bodyPr/>
                    <a:lstStyle/>
                    <a:p>
                      <a:pPr algn="ctr"/>
                      <a:r>
                        <a:rPr sz="1000">
                          <a:solidFill>
                            <a:srgbClr val="202020"/>
                          </a:solidFill>
                        </a:rPr>
                        <a:t>508</a:t>
                      </a:r>
                    </a:p>
                  </a:txBody>
                  <a:tcPr>
                    <a:solidFill>
                      <a:srgbClr val="E8F0FE"/>
                    </a:solidFill>
                  </a:tcPr>
                </a:tc>
              </a:tr>
              <a:tr h="402336">
                <a:tc>
                  <a:txBody>
                    <a:bodyPr/>
                    <a:lstStyle/>
                    <a:p>
                      <a:pPr algn="l"/>
                      <a:r>
                        <a:rPr sz="1000">
                          <a:solidFill>
                            <a:srgbClr val="202020"/>
                          </a:solidFill>
                        </a:rPr>
                        <a:t>Detection rate</a:t>
                      </a:r>
                    </a:p>
                  </a:txBody>
                  <a:tcPr>
                    <a:solidFill>
                      <a:srgbClr val="FFFFFF"/>
                    </a:solidFill>
                  </a:tcPr>
                </a:tc>
                <a:tc>
                  <a:txBody>
                    <a:bodyPr/>
                    <a:lstStyle/>
                    <a:p>
                      <a:pPr algn="ctr"/>
                      <a:r>
                        <a:rPr sz="1000">
                          <a:solidFill>
                            <a:srgbClr val="202020"/>
                          </a:solidFill>
                        </a:rPr>
                        <a:t>99.4%</a:t>
                      </a:r>
                    </a:p>
                  </a:txBody>
                  <a:tcPr>
                    <a:solidFill>
                      <a:srgbClr val="FFFFFF"/>
                    </a:solidFill>
                  </a:tcPr>
                </a:tc>
                <a:tc>
                  <a:txBody>
                    <a:bodyPr/>
                    <a:lstStyle/>
                    <a:p>
                      <a:pPr algn="ctr"/>
                      <a:r>
                        <a:rPr sz="1000">
                          <a:solidFill>
                            <a:srgbClr val="202020"/>
                          </a:solidFill>
                        </a:rPr>
                        <a:t>92.6%</a:t>
                      </a:r>
                    </a:p>
                  </a:txBody>
                  <a:tcPr>
                    <a:solidFill>
                      <a:srgbClr val="FFFFFF"/>
                    </a:solidFill>
                  </a:tcPr>
                </a:tc>
                <a:tc>
                  <a:txBody>
                    <a:bodyPr/>
                    <a:lstStyle/>
                    <a:p>
                      <a:pPr algn="ctr"/>
                      <a:r>
                        <a:rPr sz="1000">
                          <a:solidFill>
                            <a:srgbClr val="202020"/>
                          </a:solidFill>
                        </a:rPr>
                        <a:t>95.1%</a:t>
                      </a:r>
                    </a:p>
                  </a:txBody>
                  <a:tcPr>
                    <a:solidFill>
                      <a:srgbClr val="FFFFFF"/>
                    </a:solidFill>
                  </a:tcPr>
                </a:tc>
              </a:tr>
            </a:tbl>
          </a:graphicData>
        </a:graphic>
      </p:graphicFrame>
      <p:sp>
        <p:nvSpPr>
          <p:cNvPr id="4" name="TextBox 3"/>
          <p:cNvSpPr txBox="1"/>
          <p:nvPr/>
        </p:nvSpPr>
        <p:spPr>
          <a:xfrm>
            <a:off x="457200" y="3291840"/>
            <a:ext cx="8229600" cy="914400"/>
          </a:xfrm>
          <a:prstGeom prst="rect">
            <a:avLst/>
          </a:prstGeom>
          <a:noFill/>
        </p:spPr>
        <p:txBody>
          <a:bodyPr wrap="square">
            <a:spAutoFit/>
          </a:bodyPr>
          <a:lstStyle/>
          <a:p>
            <a:pPr>
              <a:defRPr sz="1000">
                <a:solidFill>
                  <a:srgbClr val="202020"/>
                </a:solidFill>
              </a:defRPr>
            </a:pPr>
            <a:r>
              <a:t>Detail Batch 2:</a:t>
            </a:r>
          </a:p>
          <a:p>
            <a:pPr>
              <a:defRPr sz="1000">
                <a:solidFill>
                  <a:srgbClr val="202020"/>
                </a:solidFill>
              </a:defRPr>
            </a:pPr>
            <a:r>
              <a:t>  Front view: 3,275 frame  |  Side view: 3,278 frame</a:t>
            </a:r>
          </a:p>
          <a:p>
            <a:pPr>
              <a:defRPr sz="1000">
                <a:solidFill>
                  <a:srgbClr val="202020"/>
                </a:solidFill>
              </a:defRPr>
            </a:pPr>
            <a:r>
              <a:t>Kegagalan deteksi: wajah menunduk, keluar frame, tertutup tangan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Distribusi Emosi Dataset</a:t>
            </a:r>
          </a:p>
        </p:txBody>
      </p:sp>
      <p:graphicFrame>
        <p:nvGraphicFramePr>
          <p:cNvPr id="3" name="Table 2"/>
          <p:cNvGraphicFramePr>
            <a:graphicFrameLocks noGrp="1"/>
          </p:cNvGraphicFramePr>
          <p:nvPr/>
        </p:nvGraphicFramePr>
        <p:xfrm>
          <a:off x="457200" y="1097280"/>
          <a:ext cx="6400800" cy="3200400"/>
        </p:xfrm>
        <a:graphic>
          <a:graphicData uri="http://schemas.openxmlformats.org/drawingml/2006/table">
            <a:tbl>
              <a:tblPr firstRow="1" bandRow="1">
                <a:tableStyleId>{5C22544A-7EE6-4342-B048-85BDC9FD1C3A}</a:tableStyleId>
              </a:tblPr>
              <a:tblGrid>
                <a:gridCol w="1645920"/>
                <a:gridCol w="1097280"/>
                <a:gridCol w="1371600"/>
                <a:gridCol w="2286000"/>
              </a:tblGrid>
              <a:tr h="355600">
                <a:tc>
                  <a:txBody>
                    <a:bodyPr/>
                    <a:lstStyle/>
                    <a:p>
                      <a:pPr algn="ctr"/>
                      <a:r>
                        <a:rPr sz="1000" b="1">
                          <a:solidFill>
                            <a:srgbClr val="FFFFFF"/>
                          </a:solidFill>
                        </a:rPr>
                        <a:t>Emosi</a:t>
                      </a:r>
                    </a:p>
                  </a:txBody>
                  <a:tcPr>
                    <a:solidFill>
                      <a:srgbClr val="1A73E8"/>
                    </a:solidFill>
                  </a:tcPr>
                </a:tc>
                <a:tc>
                  <a:txBody>
                    <a:bodyPr/>
                    <a:lstStyle/>
                    <a:p>
                      <a:pPr algn="ctr"/>
                      <a:r>
                        <a:rPr sz="1000" b="1">
                          <a:solidFill>
                            <a:srgbClr val="FFFFFF"/>
                          </a:solidFill>
                        </a:rPr>
                        <a:t>Jumlah</a:t>
                      </a:r>
                    </a:p>
                  </a:txBody>
                  <a:tcPr>
                    <a:solidFill>
                      <a:srgbClr val="1A73E8"/>
                    </a:solidFill>
                  </a:tcPr>
                </a:tc>
                <a:tc>
                  <a:txBody>
                    <a:bodyPr/>
                    <a:lstStyle/>
                    <a:p>
                      <a:pPr algn="ctr"/>
                      <a:r>
                        <a:rPr sz="1000" b="1">
                          <a:solidFill>
                            <a:srgbClr val="FFFFFF"/>
                          </a:solidFill>
                        </a:rPr>
                        <a:t>Persentase</a:t>
                      </a:r>
                    </a:p>
                  </a:txBody>
                  <a:tcPr>
                    <a:solidFill>
                      <a:srgbClr val="1A73E8"/>
                    </a:solidFill>
                  </a:tcPr>
                </a:tc>
                <a:tc>
                  <a:txBody>
                    <a:bodyPr/>
                    <a:lstStyle/>
                    <a:p>
                      <a:pPr algn="ctr"/>
                      <a:r>
                        <a:rPr sz="1000" b="1">
                          <a:solidFill>
                            <a:srgbClr val="FFFFFF"/>
                          </a:solidFill>
                        </a:rPr>
                        <a:t>Keterangan</a:t>
                      </a:r>
                    </a:p>
                  </a:txBody>
                  <a:tcPr>
                    <a:solidFill>
                      <a:srgbClr val="1A73E8"/>
                    </a:solidFill>
                  </a:tcPr>
                </a:tc>
              </a:tr>
              <a:tr h="355600">
                <a:tc>
                  <a:txBody>
                    <a:bodyPr/>
                    <a:lstStyle/>
                    <a:p>
                      <a:pPr algn="l"/>
                      <a:r>
                        <a:rPr sz="1000">
                          <a:solidFill>
                            <a:srgbClr val="202020"/>
                          </a:solidFill>
                        </a:rPr>
                        <a:t>Neutral</a:t>
                      </a:r>
                    </a:p>
                  </a:txBody>
                  <a:tcPr>
                    <a:solidFill>
                      <a:srgbClr val="E8F0FE"/>
                    </a:solidFill>
                  </a:tcPr>
                </a:tc>
                <a:tc>
                  <a:txBody>
                    <a:bodyPr/>
                    <a:lstStyle/>
                    <a:p>
                      <a:pPr algn="ctr"/>
                      <a:r>
                        <a:rPr sz="1000">
                          <a:solidFill>
                            <a:srgbClr val="202020"/>
                          </a:solidFill>
                        </a:rPr>
                        <a:t>8,356</a:t>
                      </a:r>
                    </a:p>
                  </a:txBody>
                  <a:tcPr>
                    <a:solidFill>
                      <a:srgbClr val="E8F0FE"/>
                    </a:solidFill>
                  </a:tcPr>
                </a:tc>
                <a:tc>
                  <a:txBody>
                    <a:bodyPr/>
                    <a:lstStyle/>
                    <a:p>
                      <a:pPr algn="ctr"/>
                      <a:r>
                        <a:rPr sz="1000">
                          <a:solidFill>
                            <a:srgbClr val="202020"/>
                          </a:solidFill>
                        </a:rPr>
                        <a:t>84.5%</a:t>
                      </a:r>
                    </a:p>
                  </a:txBody>
                  <a:tcPr>
                    <a:solidFill>
                      <a:srgbClr val="E8F0FE"/>
                    </a:solidFill>
                  </a:tcPr>
                </a:tc>
                <a:tc>
                  <a:txBody>
                    <a:bodyPr/>
                    <a:lstStyle/>
                    <a:p>
                      <a:pPr algn="ctr"/>
                      <a:r>
                        <a:rPr sz="1000">
                          <a:solidFill>
                            <a:srgbClr val="202020"/>
                          </a:solidFill>
                        </a:rPr>
                        <a:t>Kelas mayoritas</a:t>
                      </a:r>
                    </a:p>
                  </a:txBody>
                  <a:tcPr>
                    <a:solidFill>
                      <a:srgbClr val="E8F0FE"/>
                    </a:solidFill>
                  </a:tcPr>
                </a:tc>
              </a:tr>
              <a:tr h="355600">
                <a:tc>
                  <a:txBody>
                    <a:bodyPr/>
                    <a:lstStyle/>
                    <a:p>
                      <a:pPr algn="l"/>
                      <a:r>
                        <a:rPr sz="1000">
                          <a:solidFill>
                            <a:srgbClr val="202020"/>
                          </a:solidFill>
                        </a:rPr>
                        <a:t>Happy</a:t>
                      </a:r>
                    </a:p>
                  </a:txBody>
                  <a:tcPr>
                    <a:solidFill>
                      <a:srgbClr val="FFFFFF"/>
                    </a:solidFill>
                  </a:tcPr>
                </a:tc>
                <a:tc>
                  <a:txBody>
                    <a:bodyPr/>
                    <a:lstStyle/>
                    <a:p>
                      <a:pPr algn="ctr"/>
                      <a:r>
                        <a:rPr sz="1000">
                          <a:solidFill>
                            <a:srgbClr val="202020"/>
                          </a:solidFill>
                        </a:rPr>
                        <a:t>783</a:t>
                      </a:r>
                    </a:p>
                  </a:txBody>
                  <a:tcPr>
                    <a:solidFill>
                      <a:srgbClr val="FFFFFF"/>
                    </a:solidFill>
                  </a:tcPr>
                </a:tc>
                <a:tc>
                  <a:txBody>
                    <a:bodyPr/>
                    <a:lstStyle/>
                    <a:p>
                      <a:pPr algn="ctr"/>
                      <a:r>
                        <a:rPr sz="1000">
                          <a:solidFill>
                            <a:srgbClr val="202020"/>
                          </a:solidFill>
                        </a:rPr>
                        <a:t>7.9%</a:t>
                      </a:r>
                    </a:p>
                  </a:txBody>
                  <a:tcPr>
                    <a:solidFill>
                      <a:srgbClr val="FFFFFF"/>
                    </a:solidFill>
                  </a:tcPr>
                </a:tc>
                <a:tc>
                  <a:txBody>
                    <a:bodyPr/>
                    <a:lstStyle/>
                    <a:p>
                      <a:pPr algn="ctr"/>
                      <a:r>
                        <a:rPr sz="1000">
                          <a:solidFill>
                            <a:srgbClr val="202020"/>
                          </a:solidFill>
                        </a:rPr>
                        <a:t/>
                      </a:r>
                    </a:p>
                  </a:txBody>
                  <a:tcPr>
                    <a:solidFill>
                      <a:srgbClr val="FFFFFF"/>
                    </a:solidFill>
                  </a:tcPr>
                </a:tc>
              </a:tr>
              <a:tr h="355600">
                <a:tc>
                  <a:txBody>
                    <a:bodyPr/>
                    <a:lstStyle/>
                    <a:p>
                      <a:pPr algn="l"/>
                      <a:r>
                        <a:rPr sz="1000">
                          <a:solidFill>
                            <a:srgbClr val="202020"/>
                          </a:solidFill>
                        </a:rPr>
                        <a:t>Sad</a:t>
                      </a:r>
                    </a:p>
                  </a:txBody>
                  <a:tcPr>
                    <a:solidFill>
                      <a:srgbClr val="E8F0FE"/>
                    </a:solidFill>
                  </a:tcPr>
                </a:tc>
                <a:tc>
                  <a:txBody>
                    <a:bodyPr/>
                    <a:lstStyle/>
                    <a:p>
                      <a:pPr algn="ctr"/>
                      <a:r>
                        <a:rPr sz="1000">
                          <a:solidFill>
                            <a:srgbClr val="202020"/>
                          </a:solidFill>
                        </a:rPr>
                        <a:t>576</a:t>
                      </a:r>
                    </a:p>
                  </a:txBody>
                  <a:tcPr>
                    <a:solidFill>
                      <a:srgbClr val="E8F0FE"/>
                    </a:solidFill>
                  </a:tcPr>
                </a:tc>
                <a:tc>
                  <a:txBody>
                    <a:bodyPr/>
                    <a:lstStyle/>
                    <a:p>
                      <a:pPr algn="ctr"/>
                      <a:r>
                        <a:rPr sz="1000">
                          <a:solidFill>
                            <a:srgbClr val="202020"/>
                          </a:solidFill>
                        </a:rPr>
                        <a:t>5.8%</a:t>
                      </a:r>
                    </a:p>
                  </a:txBody>
                  <a:tcPr>
                    <a:solidFill>
                      <a:srgbClr val="E8F0FE"/>
                    </a:solidFill>
                  </a:tcPr>
                </a:tc>
                <a:tc>
                  <a:txBody>
                    <a:bodyPr/>
                    <a:lstStyle/>
                    <a:p>
                      <a:pPr algn="ctr"/>
                      <a:r>
                        <a:rPr sz="1000">
                          <a:solidFill>
                            <a:srgbClr val="202020"/>
                          </a:solidFill>
                        </a:rPr>
                        <a:t/>
                      </a:r>
                    </a:p>
                  </a:txBody>
                  <a:tcPr>
                    <a:solidFill>
                      <a:srgbClr val="E8F0FE"/>
                    </a:solidFill>
                  </a:tcPr>
                </a:tc>
              </a:tr>
              <a:tr h="355600">
                <a:tc>
                  <a:txBody>
                    <a:bodyPr/>
                    <a:lstStyle/>
                    <a:p>
                      <a:pPr algn="l"/>
                      <a:r>
                        <a:rPr sz="1000">
                          <a:solidFill>
                            <a:srgbClr val="202020"/>
                          </a:solidFill>
                        </a:rPr>
                        <a:t>Surprised</a:t>
                      </a:r>
                    </a:p>
                  </a:txBody>
                  <a:tcPr>
                    <a:solidFill>
                      <a:srgbClr val="FFFFFF"/>
                    </a:solidFill>
                  </a:tcPr>
                </a:tc>
                <a:tc>
                  <a:txBody>
                    <a:bodyPr/>
                    <a:lstStyle/>
                    <a:p>
                      <a:pPr algn="ctr"/>
                      <a:r>
                        <a:rPr sz="1000">
                          <a:solidFill>
                            <a:srgbClr val="202020"/>
                          </a:solidFill>
                        </a:rPr>
                        <a:t>79</a:t>
                      </a:r>
                    </a:p>
                  </a:txBody>
                  <a:tcPr>
                    <a:solidFill>
                      <a:srgbClr val="FFFFFF"/>
                    </a:solidFill>
                  </a:tcPr>
                </a:tc>
                <a:tc>
                  <a:txBody>
                    <a:bodyPr/>
                    <a:lstStyle/>
                    <a:p>
                      <a:pPr algn="ctr"/>
                      <a:r>
                        <a:rPr sz="1000">
                          <a:solidFill>
                            <a:srgbClr val="202020"/>
                          </a:solidFill>
                        </a:rPr>
                        <a:t>0.8%</a:t>
                      </a:r>
                    </a:p>
                  </a:txBody>
                  <a:tcPr>
                    <a:solidFill>
                      <a:srgbClr val="FFFFFF"/>
                    </a:solidFill>
                  </a:tcPr>
                </a:tc>
                <a:tc>
                  <a:txBody>
                    <a:bodyPr/>
                    <a:lstStyle/>
                    <a:p>
                      <a:pPr algn="ctr"/>
                      <a:r>
                        <a:rPr sz="1000">
                          <a:solidFill>
                            <a:srgbClr val="202020"/>
                          </a:solidFill>
                        </a:rPr>
                        <a:t>Kelas langka</a:t>
                      </a:r>
                    </a:p>
                  </a:txBody>
                  <a:tcPr>
                    <a:solidFill>
                      <a:srgbClr val="FFFFFF"/>
                    </a:solidFill>
                  </a:tcPr>
                </a:tc>
              </a:tr>
              <a:tr h="355600">
                <a:tc>
                  <a:txBody>
                    <a:bodyPr/>
                    <a:lstStyle/>
                    <a:p>
                      <a:pPr algn="l"/>
                      <a:r>
                        <a:rPr sz="1000">
                          <a:solidFill>
                            <a:srgbClr val="202020"/>
                          </a:solidFill>
                        </a:rPr>
                        <a:t>Angry</a:t>
                      </a:r>
                    </a:p>
                  </a:txBody>
                  <a:tcPr>
                    <a:solidFill>
                      <a:srgbClr val="E8F0FE"/>
                    </a:solidFill>
                  </a:tcPr>
                </a:tc>
                <a:tc>
                  <a:txBody>
                    <a:bodyPr/>
                    <a:lstStyle/>
                    <a:p>
                      <a:pPr algn="ctr"/>
                      <a:r>
                        <a:rPr sz="1000">
                          <a:solidFill>
                            <a:srgbClr val="202020"/>
                          </a:solidFill>
                        </a:rPr>
                        <a:t>63</a:t>
                      </a:r>
                    </a:p>
                  </a:txBody>
                  <a:tcPr>
                    <a:solidFill>
                      <a:srgbClr val="E8F0FE"/>
                    </a:solidFill>
                  </a:tcPr>
                </a:tc>
                <a:tc>
                  <a:txBody>
                    <a:bodyPr/>
                    <a:lstStyle/>
                    <a:p>
                      <a:pPr algn="ctr"/>
                      <a:r>
                        <a:rPr sz="1000">
                          <a:solidFill>
                            <a:srgbClr val="202020"/>
                          </a:solidFill>
                        </a:rPr>
                        <a:t>0.6%</a:t>
                      </a:r>
                    </a:p>
                  </a:txBody>
                  <a:tcPr>
                    <a:solidFill>
                      <a:srgbClr val="E8F0FE"/>
                    </a:solidFill>
                  </a:tcPr>
                </a:tc>
                <a:tc>
                  <a:txBody>
                    <a:bodyPr/>
                    <a:lstStyle/>
                    <a:p>
                      <a:pPr algn="ctr"/>
                      <a:r>
                        <a:rPr sz="1000">
                          <a:solidFill>
                            <a:srgbClr val="202020"/>
                          </a:solidFill>
                        </a:rPr>
                        <a:t>Kelas langka</a:t>
                      </a:r>
                    </a:p>
                  </a:txBody>
                  <a:tcPr>
                    <a:solidFill>
                      <a:srgbClr val="E8F0FE"/>
                    </a:solidFill>
                  </a:tcPr>
                </a:tc>
              </a:tr>
              <a:tr h="355600">
                <a:tc>
                  <a:txBody>
                    <a:bodyPr/>
                    <a:lstStyle/>
                    <a:p>
                      <a:pPr algn="l"/>
                      <a:r>
                        <a:rPr sz="1000">
                          <a:solidFill>
                            <a:srgbClr val="202020"/>
                          </a:solidFill>
                        </a:rPr>
                        <a:t>Disgusted</a:t>
                      </a:r>
                    </a:p>
                  </a:txBody>
                  <a:tcPr>
                    <a:solidFill>
                      <a:srgbClr val="FFFFFF"/>
                    </a:solidFill>
                  </a:tcPr>
                </a:tc>
                <a:tc>
                  <a:txBody>
                    <a:bodyPr/>
                    <a:lstStyle/>
                    <a:p>
                      <a:pPr algn="ctr"/>
                      <a:r>
                        <a:rPr sz="1000">
                          <a:solidFill>
                            <a:srgbClr val="202020"/>
                          </a:solidFill>
                        </a:rPr>
                        <a:t>24</a:t>
                      </a:r>
                    </a:p>
                  </a:txBody>
                  <a:tcPr>
                    <a:solidFill>
                      <a:srgbClr val="FFFFFF"/>
                    </a:solidFill>
                  </a:tcPr>
                </a:tc>
                <a:tc>
                  <a:txBody>
                    <a:bodyPr/>
                    <a:lstStyle/>
                    <a:p>
                      <a:pPr algn="ctr"/>
                      <a:r>
                        <a:rPr sz="1000">
                          <a:solidFill>
                            <a:srgbClr val="202020"/>
                          </a:solidFill>
                        </a:rPr>
                        <a:t>0.2%</a:t>
                      </a:r>
                    </a:p>
                  </a:txBody>
                  <a:tcPr>
                    <a:solidFill>
                      <a:srgbClr val="FFFFFF"/>
                    </a:solidFill>
                  </a:tcPr>
                </a:tc>
                <a:tc>
                  <a:txBody>
                    <a:bodyPr/>
                    <a:lstStyle/>
                    <a:p>
                      <a:pPr algn="ctr"/>
                      <a:r>
                        <a:rPr sz="1000">
                          <a:solidFill>
                            <a:srgbClr val="202020"/>
                          </a:solidFill>
                        </a:rPr>
                        <a:t>Kelas sangat langka</a:t>
                      </a:r>
                    </a:p>
                  </a:txBody>
                  <a:tcPr>
                    <a:solidFill>
                      <a:srgbClr val="FFFFFF"/>
                    </a:solidFill>
                  </a:tcPr>
                </a:tc>
              </a:tr>
              <a:tr h="355600">
                <a:tc>
                  <a:txBody>
                    <a:bodyPr/>
                    <a:lstStyle/>
                    <a:p>
                      <a:pPr algn="l"/>
                      <a:r>
                        <a:rPr sz="1000">
                          <a:solidFill>
                            <a:srgbClr val="202020"/>
                          </a:solidFill>
                        </a:rPr>
                        <a:t>Fearful</a:t>
                      </a:r>
                    </a:p>
                  </a:txBody>
                  <a:tcPr>
                    <a:solidFill>
                      <a:srgbClr val="E8F0FE"/>
                    </a:solidFill>
                  </a:tcPr>
                </a:tc>
                <a:tc>
                  <a:txBody>
                    <a:bodyPr/>
                    <a:lstStyle/>
                    <a:p>
                      <a:pPr algn="ctr"/>
                      <a:r>
                        <a:rPr sz="1000">
                          <a:solidFill>
                            <a:srgbClr val="202020"/>
                          </a:solidFill>
                        </a:rPr>
                        <a:t>13</a:t>
                      </a:r>
                    </a:p>
                  </a:txBody>
                  <a:tcPr>
                    <a:solidFill>
                      <a:srgbClr val="E8F0FE"/>
                    </a:solidFill>
                  </a:tcPr>
                </a:tc>
                <a:tc>
                  <a:txBody>
                    <a:bodyPr/>
                    <a:lstStyle/>
                    <a:p>
                      <a:pPr algn="ctr"/>
                      <a:r>
                        <a:rPr sz="1000">
                          <a:solidFill>
                            <a:srgbClr val="202020"/>
                          </a:solidFill>
                        </a:rPr>
                        <a:t>0.1%</a:t>
                      </a:r>
                    </a:p>
                  </a:txBody>
                  <a:tcPr>
                    <a:solidFill>
                      <a:srgbClr val="E8F0FE"/>
                    </a:solidFill>
                  </a:tcPr>
                </a:tc>
                <a:tc>
                  <a:txBody>
                    <a:bodyPr/>
                    <a:lstStyle/>
                    <a:p>
                      <a:pPr algn="ctr"/>
                      <a:r>
                        <a:rPr sz="1000">
                          <a:solidFill>
                            <a:srgbClr val="202020"/>
                          </a:solidFill>
                        </a:rPr>
                        <a:t>Kelas sangat langka</a:t>
                      </a:r>
                    </a:p>
                  </a:txBody>
                  <a:tcPr>
                    <a:solidFill>
                      <a:srgbClr val="E8F0FE"/>
                    </a:solidFill>
                  </a:tcPr>
                </a:tc>
              </a:tr>
              <a:tr h="355600">
                <a:tc>
                  <a:txBody>
                    <a:bodyPr/>
                    <a:lstStyle/>
                    <a:p>
                      <a:pPr algn="l"/>
                      <a:r>
                        <a:rPr sz="1000">
                          <a:solidFill>
                            <a:srgbClr val="202020"/>
                          </a:solidFill>
                        </a:rPr>
                        <a:t>Total</a:t>
                      </a:r>
                    </a:p>
                  </a:txBody>
                  <a:tcPr>
                    <a:solidFill>
                      <a:srgbClr val="FFFFFF"/>
                    </a:solidFill>
                  </a:tcPr>
                </a:tc>
                <a:tc>
                  <a:txBody>
                    <a:bodyPr/>
                    <a:lstStyle/>
                    <a:p>
                      <a:pPr algn="ctr"/>
                      <a:r>
                        <a:rPr sz="1000">
                          <a:solidFill>
                            <a:srgbClr val="202020"/>
                          </a:solidFill>
                        </a:rPr>
                        <a:t>9,894</a:t>
                      </a:r>
                    </a:p>
                  </a:txBody>
                  <a:tcPr>
                    <a:solidFill>
                      <a:srgbClr val="FFFFFF"/>
                    </a:solidFill>
                  </a:tcPr>
                </a:tc>
                <a:tc>
                  <a:txBody>
                    <a:bodyPr/>
                    <a:lstStyle/>
                    <a:p>
                      <a:pPr algn="ctr"/>
                      <a:r>
                        <a:rPr sz="1000">
                          <a:solidFill>
                            <a:srgbClr val="202020"/>
                          </a:solidFill>
                        </a:rPr>
                        <a:t>100%</a:t>
                      </a:r>
                    </a:p>
                  </a:txBody>
                  <a:tcPr>
                    <a:solidFill>
                      <a:srgbClr val="FFFFFF"/>
                    </a:solidFill>
                  </a:tcPr>
                </a:tc>
                <a:tc>
                  <a:txBody>
                    <a:bodyPr/>
                    <a:lstStyle/>
                    <a:p>
                      <a:pPr algn="ctr"/>
                      <a:r>
                        <a:rPr sz="1000">
                          <a:solidFill>
                            <a:srgbClr val="202020"/>
                          </a:solidFill>
                        </a:rPr>
                        <a:t/>
                      </a:r>
                    </a:p>
                  </a:txBody>
                  <a:tcPr>
                    <a:solidFill>
                      <a:srgbClr val="FFFFFF"/>
                    </a:solidFill>
                  </a:tcPr>
                </a:tc>
              </a:tr>
            </a:tbl>
          </a:graphicData>
        </a:graphic>
      </p:graphicFrame>
      <p:sp>
        <p:nvSpPr>
          <p:cNvPr id="4" name="TextBox 3"/>
          <p:cNvSpPr txBox="1"/>
          <p:nvPr/>
        </p:nvSpPr>
        <p:spPr>
          <a:xfrm>
            <a:off x="6949440" y="1371600"/>
            <a:ext cx="2011680" cy="1828800"/>
          </a:xfrm>
          <a:prstGeom prst="rect">
            <a:avLst/>
          </a:prstGeom>
          <a:noFill/>
        </p:spPr>
        <p:txBody>
          <a:bodyPr wrap="square">
            <a:spAutoFit/>
          </a:bodyPr>
          <a:lstStyle/>
          <a:p>
            <a:pPr>
              <a:defRPr sz="900">
                <a:solidFill>
                  <a:srgbClr val="202020"/>
                </a:solidFill>
              </a:defRPr>
            </a:pPr>
            <a:r>
              <a:t>Sangat imbalanced: neutral mendominasi 84.5%</a:t>
            </a:r>
          </a:p>
          <a:p>
            <a:pPr>
              <a:defRPr sz="900">
                <a:solidFill>
                  <a:srgbClr val="202020"/>
                </a:solidFill>
              </a:defRPr>
            </a:pPr>
            <a:r>
              <a:t>Konsisten dengan literatur — mahasiswa fokus coding cenderung netral (Coto et al., 2022)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Penanganan Class Imbalance — 3 Skenario Perbandingan</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1828800"/>
                <a:gridCol w="3657600"/>
                <a:gridCol w="1828800"/>
                <a:gridCol w="914400"/>
              </a:tblGrid>
              <a:tr h="342900">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Dataset Train</a:t>
                      </a:r>
                    </a:p>
                  </a:txBody>
                  <a:tcPr>
                    <a:solidFill>
                      <a:srgbClr val="1A73E8"/>
                    </a:solidFill>
                  </a:tcPr>
                </a:tc>
                <a:tc>
                  <a:txBody>
                    <a:bodyPr/>
                    <a:lstStyle/>
                    <a:p>
                      <a:pPr algn="ctr"/>
                      <a:r>
                        <a:rPr sz="1000" b="1">
                          <a:solidFill>
                            <a:srgbClr val="FFFFFF"/>
                          </a:solidFill>
                        </a:rPr>
                        <a:t>Metrik</a:t>
                      </a:r>
                    </a:p>
                  </a:txBody>
                  <a:tcPr>
                    <a:solidFill>
                      <a:srgbClr val="1A73E8"/>
                    </a:solidFill>
                  </a:tcPr>
                </a:tc>
              </a:tr>
              <a:tr h="342900">
                <a:tc>
                  <a:txBody>
                    <a:bodyPr/>
                    <a:lstStyle/>
                    <a:p>
                      <a:pPr algn="l"/>
                      <a:r>
                        <a:rPr sz="1000">
                          <a:solidFill>
                            <a:srgbClr val="202020"/>
                          </a:solidFill>
                        </a:rPr>
                        <a:t>B1 — Baseline</a:t>
                      </a:r>
                    </a:p>
                  </a:txBody>
                  <a:tcPr>
                    <a:solidFill>
                      <a:srgbClr val="E8F0FE"/>
                    </a:solidFill>
                  </a:tcPr>
                </a:tc>
                <a:tc>
                  <a:txBody>
                    <a:bodyPr/>
                    <a:lstStyle/>
                    <a:p>
                      <a:pPr algn="ctr"/>
                      <a:r>
                        <a:rPr sz="1000">
                          <a:solidFill>
                            <a:srgbClr val="202020"/>
                          </a:solidFill>
                        </a:rPr>
                        <a:t>Tanpa penanganan</a:t>
                      </a:r>
                    </a:p>
                  </a:txBody>
                  <a:tcPr>
                    <a:solidFill>
                      <a:srgbClr val="E8F0FE"/>
                    </a:solidFill>
                  </a:tcPr>
                </a:tc>
                <a:tc>
                  <a:txBody>
                    <a:bodyPr/>
                    <a:lstStyle/>
                    <a:p>
                      <a:pPr algn="ctr"/>
                      <a:r>
                        <a:rPr sz="1000">
                          <a:solidFill>
                            <a:srgbClr val="202020"/>
                          </a:solidFill>
                        </a:rPr>
                        <a:t>7,064 samples</a:t>
                      </a:r>
                    </a:p>
                  </a:txBody>
                  <a:tcPr>
                    <a:solidFill>
                      <a:srgbClr val="E8F0FE"/>
                    </a:solidFill>
                  </a:tcPr>
                </a:tc>
                <a:tc>
                  <a:txBody>
                    <a:bodyPr/>
                    <a:lstStyle/>
                    <a:p>
                      <a:pPr algn="ctr"/>
                      <a:r>
                        <a:rPr sz="1000">
                          <a:solidFill>
                            <a:srgbClr val="202020"/>
                          </a:solidFill>
                        </a:rPr>
                        <a:t>Macro F1</a:t>
                      </a:r>
                    </a:p>
                  </a:txBody>
                  <a:tcPr>
                    <a:solidFill>
                      <a:srgbClr val="E8F0FE"/>
                    </a:solidFill>
                  </a:tcPr>
                </a:tc>
              </a:tr>
              <a:tr h="342900">
                <a:tc>
                  <a:txBody>
                    <a:bodyPr/>
                    <a:lstStyle/>
                    <a:p>
                      <a:pPr algn="l"/>
                      <a:r>
                        <a:rPr sz="1000">
                          <a:solidFill>
                            <a:srgbClr val="202020"/>
                          </a:solidFill>
                        </a:rPr>
                        <a:t>B2 — Class Weights</a:t>
                      </a:r>
                    </a:p>
                  </a:txBody>
                  <a:tcPr>
                    <a:solidFill>
                      <a:srgbClr val="FFFFFF"/>
                    </a:solidFill>
                  </a:tcPr>
                </a:tc>
                <a:tc>
                  <a:txBody>
                    <a:bodyPr/>
                    <a:lstStyle/>
                    <a:p>
                      <a:pPr algn="ctr"/>
                      <a:r>
                        <a:rPr sz="1000">
                          <a:solidFill>
                            <a:srgbClr val="202020"/>
                          </a:solidFill>
                        </a:rPr>
                        <a:t>Weighted cross-entropy (Cui et al., 2019)</a:t>
                      </a:r>
                    </a:p>
                  </a:txBody>
                  <a:tcPr>
                    <a:solidFill>
                      <a:srgbClr val="FFFFFF"/>
                    </a:solidFill>
                  </a:tcPr>
                </a:tc>
                <a:tc>
                  <a:txBody>
                    <a:bodyPr/>
                    <a:lstStyle/>
                    <a:p>
                      <a:pPr algn="ctr"/>
                      <a:r>
                        <a:rPr sz="1000">
                          <a:solidFill>
                            <a:srgbClr val="202020"/>
                          </a:solidFill>
                        </a:rPr>
                        <a:t>7,064 samples</a:t>
                      </a:r>
                    </a:p>
                  </a:txBody>
                  <a:tcPr>
                    <a:solidFill>
                      <a:srgbClr val="FFFFFF"/>
                    </a:solidFill>
                  </a:tcPr>
                </a:tc>
                <a:tc>
                  <a:txBody>
                    <a:bodyPr/>
                    <a:lstStyle/>
                    <a:p>
                      <a:pPr algn="ctr"/>
                      <a:r>
                        <a:rPr sz="1000">
                          <a:solidFill>
                            <a:srgbClr val="202020"/>
                          </a:solidFill>
                        </a:rPr>
                        <a:t>Macro F1</a:t>
                      </a:r>
                    </a:p>
                  </a:txBody>
                  <a:tcPr>
                    <a:solidFill>
                      <a:srgbClr val="FFFFFF"/>
                    </a:solidFill>
                  </a:tcPr>
                </a:tc>
              </a:tr>
              <a:tr h="342900">
                <a:tc>
                  <a:txBody>
                    <a:bodyPr/>
                    <a:lstStyle/>
                    <a:p>
                      <a:pPr algn="l"/>
                      <a:r>
                        <a:rPr sz="1000">
                          <a:solidFill>
                            <a:srgbClr val="202020"/>
                          </a:solidFill>
                        </a:rPr>
                        <a:t>B3 — Weights + Aug</a:t>
                      </a:r>
                    </a:p>
                  </a:txBody>
                  <a:tcPr>
                    <a:solidFill>
                      <a:srgbClr val="E8F0FE"/>
                    </a:solidFill>
                  </a:tcPr>
                </a:tc>
                <a:tc>
                  <a:txBody>
                    <a:bodyPr/>
                    <a:lstStyle/>
                    <a:p>
                      <a:pPr algn="ctr"/>
                      <a:r>
                        <a:rPr sz="1000">
                          <a:solidFill>
                            <a:srgbClr val="202020"/>
                          </a:solidFill>
                        </a:rPr>
                        <a:t>Class weights + augmentasi minoritas</a:t>
                      </a:r>
                    </a:p>
                  </a:txBody>
                  <a:tcPr>
                    <a:solidFill>
                      <a:srgbClr val="E8F0FE"/>
                    </a:solidFill>
                  </a:tcPr>
                </a:tc>
                <a:tc>
                  <a:txBody>
                    <a:bodyPr/>
                    <a:lstStyle/>
                    <a:p>
                      <a:pPr algn="ctr"/>
                      <a:r>
                        <a:rPr sz="1000">
                          <a:solidFill>
                            <a:srgbClr val="202020"/>
                          </a:solidFill>
                        </a:rPr>
                        <a:t>7,519 samples (+455)</a:t>
                      </a:r>
                    </a:p>
                  </a:txBody>
                  <a:tcPr>
                    <a:solidFill>
                      <a:srgbClr val="E8F0FE"/>
                    </a:solidFill>
                  </a:tcPr>
                </a:tc>
                <a:tc>
                  <a:txBody>
                    <a:bodyPr/>
                    <a:lstStyle/>
                    <a:p>
                      <a:pPr algn="ctr"/>
                      <a:r>
                        <a:rPr sz="1000">
                          <a:solidFill>
                            <a:srgbClr val="202020"/>
                          </a:solidFill>
                        </a:rPr>
                        <a:t>Macro F1</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2743200"/>
          <a:ext cx="6400800" cy="2011680"/>
        </p:xfrm>
        <a:graphic>
          <a:graphicData uri="http://schemas.openxmlformats.org/drawingml/2006/table">
            <a:tbl>
              <a:tblPr firstRow="1" bandRow="1">
                <a:tableStyleId>{5C22544A-7EE6-4342-B048-85BDC9FD1C3A}</a:tableStyleId>
              </a:tblPr>
              <a:tblGrid>
                <a:gridCol w="1371600"/>
                <a:gridCol w="1097280"/>
                <a:gridCol w="1828800"/>
                <a:gridCol w="1097280"/>
                <a:gridCol w="1005840"/>
              </a:tblGrid>
              <a:tr h="402336">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Original</a:t>
                      </a:r>
                    </a:p>
                  </a:txBody>
                  <a:tcPr>
                    <a:solidFill>
                      <a:srgbClr val="1A73E8"/>
                    </a:solidFill>
                  </a:tcPr>
                </a:tc>
                <a:tc>
                  <a:txBody>
                    <a:bodyPr/>
                    <a:lstStyle/>
                    <a:p>
                      <a:pPr algn="ctr"/>
                      <a:r>
                        <a:rPr sz="900" b="1">
                          <a:solidFill>
                            <a:srgbClr val="FFFFFF"/>
                          </a:solidFill>
                        </a:rPr>
                        <a:t>Setelah Augmentasi</a:t>
                      </a:r>
                    </a:p>
                  </a:txBody>
                  <a:tcPr>
                    <a:solidFill>
                      <a:srgbClr val="1A73E8"/>
                    </a:solidFill>
                  </a:tcPr>
                </a:tc>
                <a:tc>
                  <a:txBody>
                    <a:bodyPr/>
                    <a:lstStyle/>
                    <a:p>
                      <a:pPr algn="ctr"/>
                      <a:r>
                        <a:rPr sz="900" b="1">
                          <a:solidFill>
                            <a:srgbClr val="FFFFFF"/>
                          </a:solidFill>
                        </a:rPr>
                        <a:t>Ditambah</a:t>
                      </a:r>
                    </a:p>
                  </a:txBody>
                  <a:tcPr>
                    <a:solidFill>
                      <a:srgbClr val="1A73E8"/>
                    </a:solidFill>
                  </a:tcPr>
                </a:tc>
                <a:tc>
                  <a:txBody>
                    <a:bodyPr/>
                    <a:lstStyle/>
                    <a:p>
                      <a:pPr algn="ctr"/>
                      <a:r>
                        <a:rPr sz="900" b="1">
                          <a:solidFill>
                            <a:srgbClr val="FFFFFF"/>
                          </a:solidFill>
                        </a:rPr>
                        <a:t>Weight (B2)</a:t>
                      </a:r>
                    </a:p>
                  </a:txBody>
                  <a:tcPr>
                    <a:solidFill>
                      <a:srgbClr val="1A73E8"/>
                    </a:solidFill>
                  </a:tcPr>
                </a:tc>
              </a:tr>
              <a:tr h="402336">
                <a:tc>
                  <a:txBody>
                    <a:bodyPr/>
                    <a:lstStyle/>
                    <a:p>
                      <a:pPr algn="l"/>
                      <a:r>
                        <a:rPr sz="900">
                          <a:solidFill>
                            <a:srgbClr val="202020"/>
                          </a:solidFill>
                        </a:rPr>
                        <a:t>Angry</a:t>
                      </a:r>
                    </a:p>
                  </a:txBody>
                  <a:tcPr>
                    <a:solidFill>
                      <a:srgbClr val="E8F0FE"/>
                    </a:solidFill>
                  </a:tcPr>
                </a:tc>
                <a:tc>
                  <a:txBody>
                    <a:bodyPr/>
                    <a:lstStyle/>
                    <a:p>
                      <a:pPr algn="ctr"/>
                      <a:r>
                        <a:rPr sz="900">
                          <a:solidFill>
                            <a:srgbClr val="202020"/>
                          </a:solidFill>
                        </a:rPr>
                        <a:t>48</a:t>
                      </a:r>
                    </a:p>
                  </a:txBody>
                  <a:tcPr>
                    <a:solidFill>
                      <a:srgbClr val="E8F0FE"/>
                    </a:solidFill>
                  </a:tcPr>
                </a:tc>
                <a:tc>
                  <a:txBody>
                    <a:bodyPr/>
                    <a:lstStyle/>
                    <a:p>
                      <a:pPr algn="ctr"/>
                      <a:r>
                        <a:rPr sz="900">
                          <a:solidFill>
                            <a:srgbClr val="202020"/>
                          </a:solidFill>
                        </a:rPr>
                        <a:t>150</a:t>
                      </a:r>
                    </a:p>
                  </a:txBody>
                  <a:tcPr>
                    <a:solidFill>
                      <a:srgbClr val="E8F0FE"/>
                    </a:solidFill>
                  </a:tcPr>
                </a:tc>
                <a:tc>
                  <a:txBody>
                    <a:bodyPr/>
                    <a:lstStyle/>
                    <a:p>
                      <a:pPr algn="ctr"/>
                      <a:r>
                        <a:rPr sz="900">
                          <a:solidFill>
                            <a:srgbClr val="202020"/>
                          </a:solidFill>
                        </a:rPr>
                        <a:t>+102</a:t>
                      </a:r>
                    </a:p>
                  </a:txBody>
                  <a:tcPr>
                    <a:solidFill>
                      <a:srgbClr val="E8F0FE"/>
                    </a:solidFill>
                  </a:tcPr>
                </a:tc>
                <a:tc>
                  <a:txBody>
                    <a:bodyPr/>
                    <a:lstStyle/>
                    <a:p>
                      <a:pPr algn="ctr"/>
                      <a:r>
                        <a:rPr sz="900">
                          <a:solidFill>
                            <a:srgbClr val="202020"/>
                          </a:solidFill>
                        </a:rPr>
                        <a:t>21.3x</a:t>
                      </a:r>
                    </a:p>
                  </a:txBody>
                  <a:tcPr>
                    <a:solidFill>
                      <a:srgbClr val="E8F0FE"/>
                    </a:solidFill>
                  </a:tcPr>
                </a:tc>
              </a:tr>
              <a:tr h="402336">
                <a:tc>
                  <a:txBody>
                    <a:bodyPr/>
                    <a:lstStyle/>
                    <a:p>
                      <a:pPr algn="l"/>
                      <a:r>
                        <a:rPr sz="900">
                          <a:solidFill>
                            <a:srgbClr val="202020"/>
                          </a:solidFill>
                        </a:rPr>
                        <a:t>Fearful</a:t>
                      </a:r>
                    </a:p>
                  </a:txBody>
                  <a:tcPr>
                    <a:solidFill>
                      <a:srgbClr val="FFFFFF"/>
                    </a:solidFill>
                  </a:tcPr>
                </a:tc>
                <a:tc>
                  <a:txBody>
                    <a:bodyPr/>
                    <a:lstStyle/>
                    <a:p>
                      <a:pPr algn="ctr"/>
                      <a:r>
                        <a:rPr sz="900">
                          <a:solidFill>
                            <a:srgbClr val="202020"/>
                          </a:solidFill>
                        </a:rPr>
                        <a:t>8</a:t>
                      </a:r>
                    </a:p>
                  </a:txBody>
                  <a:tcPr>
                    <a:solidFill>
                      <a:srgbClr val="FFFFFF"/>
                    </a:solidFill>
                  </a:tcPr>
                </a:tc>
                <a:tc>
                  <a:txBody>
                    <a:bodyPr/>
                    <a:lstStyle/>
                    <a:p>
                      <a:pPr algn="ctr"/>
                      <a:r>
                        <a:rPr sz="900">
                          <a:solidFill>
                            <a:srgbClr val="202020"/>
                          </a:solidFill>
                        </a:rPr>
                        <a:t>150</a:t>
                      </a:r>
                    </a:p>
                  </a:txBody>
                  <a:tcPr>
                    <a:solidFill>
                      <a:srgbClr val="FFFFFF"/>
                    </a:solidFill>
                  </a:tcPr>
                </a:tc>
                <a:tc>
                  <a:txBody>
                    <a:bodyPr/>
                    <a:lstStyle/>
                    <a:p>
                      <a:pPr algn="ctr"/>
                      <a:r>
                        <a:rPr sz="900">
                          <a:solidFill>
                            <a:srgbClr val="202020"/>
                          </a:solidFill>
                        </a:rPr>
                        <a:t>+142</a:t>
                      </a:r>
                    </a:p>
                  </a:txBody>
                  <a:tcPr>
                    <a:solidFill>
                      <a:srgbClr val="FFFFFF"/>
                    </a:solidFill>
                  </a:tcPr>
                </a:tc>
                <a:tc>
                  <a:txBody>
                    <a:bodyPr/>
                    <a:lstStyle/>
                    <a:p>
                      <a:pPr algn="ctr"/>
                      <a:r>
                        <a:rPr sz="900">
                          <a:solidFill>
                            <a:srgbClr val="202020"/>
                          </a:solidFill>
                        </a:rPr>
                        <a:t>125.0x</a:t>
                      </a:r>
                    </a:p>
                  </a:txBody>
                  <a:tcPr>
                    <a:solidFill>
                      <a:srgbClr val="FFFFFF"/>
                    </a:solidFill>
                  </a:tcPr>
                </a:tc>
              </a:tr>
              <a:tr h="402336">
                <a:tc>
                  <a:txBody>
                    <a:bodyPr/>
                    <a:lstStyle/>
                    <a:p>
                      <a:pPr algn="l"/>
                      <a:r>
                        <a:rPr sz="900">
                          <a:solidFill>
                            <a:srgbClr val="202020"/>
                          </a:solidFill>
                        </a:rPr>
                        <a:t>Disgusted</a:t>
                      </a:r>
                    </a:p>
                  </a:txBody>
                  <a:tcPr>
                    <a:solidFill>
                      <a:srgbClr val="E8F0FE"/>
                    </a:solidFill>
                  </a:tcPr>
                </a:tc>
                <a:tc>
                  <a:txBody>
                    <a:bodyPr/>
                    <a:lstStyle/>
                    <a:p>
                      <a:pPr algn="ctr"/>
                      <a:r>
                        <a:rPr sz="900">
                          <a:solidFill>
                            <a:srgbClr val="202020"/>
                          </a:solidFill>
                        </a:rPr>
                        <a:t>19</a:t>
                      </a:r>
                    </a:p>
                  </a:txBody>
                  <a:tcPr>
                    <a:solidFill>
                      <a:srgbClr val="E8F0FE"/>
                    </a:solidFill>
                  </a:tcPr>
                </a:tc>
                <a:tc>
                  <a:txBody>
                    <a:bodyPr/>
                    <a:lstStyle/>
                    <a:p>
                      <a:pPr algn="ctr"/>
                      <a:r>
                        <a:rPr sz="900">
                          <a:solidFill>
                            <a:srgbClr val="202020"/>
                          </a:solidFill>
                        </a:rPr>
                        <a:t>150</a:t>
                      </a:r>
                    </a:p>
                  </a:txBody>
                  <a:tcPr>
                    <a:solidFill>
                      <a:srgbClr val="E8F0FE"/>
                    </a:solidFill>
                  </a:tcPr>
                </a:tc>
                <a:tc>
                  <a:txBody>
                    <a:bodyPr/>
                    <a:lstStyle/>
                    <a:p>
                      <a:pPr algn="ctr"/>
                      <a:r>
                        <a:rPr sz="900">
                          <a:solidFill>
                            <a:srgbClr val="202020"/>
                          </a:solidFill>
                        </a:rPr>
                        <a:t>+131</a:t>
                      </a:r>
                    </a:p>
                  </a:txBody>
                  <a:tcPr>
                    <a:solidFill>
                      <a:srgbClr val="E8F0FE"/>
                    </a:solidFill>
                  </a:tcPr>
                </a:tc>
                <a:tc>
                  <a:txBody>
                    <a:bodyPr/>
                    <a:lstStyle/>
                    <a:p>
                      <a:pPr algn="ctr"/>
                      <a:r>
                        <a:rPr sz="900">
                          <a:solidFill>
                            <a:srgbClr val="202020"/>
                          </a:solidFill>
                        </a:rPr>
                        <a:t>52.9x</a:t>
                      </a:r>
                    </a:p>
                  </a:txBody>
                  <a:tcPr>
                    <a:solidFill>
                      <a:srgbClr val="E8F0FE"/>
                    </a:solidFill>
                  </a:tcPr>
                </a:tc>
              </a:tr>
              <a:tr h="402336">
                <a:tc>
                  <a:txBody>
                    <a:bodyPr/>
                    <a:lstStyle/>
                    <a:p>
                      <a:pPr algn="l"/>
                      <a:r>
                        <a:rPr sz="900">
                          <a:solidFill>
                            <a:srgbClr val="202020"/>
                          </a:solidFill>
                        </a:rPr>
                        <a:t>Surprised</a:t>
                      </a:r>
                    </a:p>
                  </a:txBody>
                  <a:tcPr>
                    <a:solidFill>
                      <a:srgbClr val="FFFFFF"/>
                    </a:solidFill>
                  </a:tcPr>
                </a:tc>
                <a:tc>
                  <a:txBody>
                    <a:bodyPr/>
                    <a:lstStyle/>
                    <a:p>
                      <a:pPr algn="ctr"/>
                      <a:r>
                        <a:rPr sz="900">
                          <a:solidFill>
                            <a:srgbClr val="202020"/>
                          </a:solidFill>
                        </a:rPr>
                        <a:t>70</a:t>
                      </a:r>
                    </a:p>
                  </a:txBody>
                  <a:tcPr>
                    <a:solidFill>
                      <a:srgbClr val="FFFFFF"/>
                    </a:solidFill>
                  </a:tcPr>
                </a:tc>
                <a:tc>
                  <a:txBody>
                    <a:bodyPr/>
                    <a:lstStyle/>
                    <a:p>
                      <a:pPr algn="ctr"/>
                      <a:r>
                        <a:rPr sz="900">
                          <a:solidFill>
                            <a:srgbClr val="202020"/>
                          </a:solidFill>
                        </a:rPr>
                        <a:t>150</a:t>
                      </a:r>
                    </a:p>
                  </a:txBody>
                  <a:tcPr>
                    <a:solidFill>
                      <a:srgbClr val="FFFFFF"/>
                    </a:solidFill>
                  </a:tcPr>
                </a:tc>
                <a:tc>
                  <a:txBody>
                    <a:bodyPr/>
                    <a:lstStyle/>
                    <a:p>
                      <a:pPr algn="ctr"/>
                      <a:r>
                        <a:rPr sz="900">
                          <a:solidFill>
                            <a:srgbClr val="202020"/>
                          </a:solidFill>
                        </a:rPr>
                        <a:t>+80</a:t>
                      </a:r>
                    </a:p>
                  </a:txBody>
                  <a:tcPr>
                    <a:solidFill>
                      <a:srgbClr val="FFFFFF"/>
                    </a:solidFill>
                  </a:tcPr>
                </a:tc>
                <a:tc>
                  <a:txBody>
                    <a:bodyPr/>
                    <a:lstStyle/>
                    <a:p>
                      <a:pPr algn="ctr"/>
                      <a:r>
                        <a:rPr sz="900">
                          <a:solidFill>
                            <a:srgbClr val="202020"/>
                          </a:solidFill>
                        </a:rPr>
                        <a:t>14.7x</a:t>
                      </a:r>
                    </a:p>
                  </a:txBody>
                  <a:tcPr>
                    <a:solidFill>
                      <a:srgbClr val="FFFFFF"/>
                    </a:solidFill>
                  </a:tcPr>
                </a:tc>
              </a:tr>
            </a:tbl>
          </a:graphicData>
        </a:graphic>
      </p:graphicFrame>
      <p:sp>
        <p:nvSpPr>
          <p:cNvPr id="5" name="TextBox 4"/>
          <p:cNvSpPr txBox="1"/>
          <p:nvPr/>
        </p:nvSpPr>
        <p:spPr>
          <a:xfrm>
            <a:off x="7040880" y="2743200"/>
            <a:ext cx="1828800" cy="1828800"/>
          </a:xfrm>
          <a:prstGeom prst="rect">
            <a:avLst/>
          </a:prstGeom>
          <a:noFill/>
        </p:spPr>
        <p:txBody>
          <a:bodyPr wrap="square">
            <a:spAutoFit/>
          </a:bodyPr>
          <a:lstStyle/>
          <a:p>
            <a:pPr>
              <a:defRPr sz="900">
                <a:solidFill>
                  <a:srgbClr val="202020"/>
                </a:solidFill>
              </a:defRPr>
            </a:pPr>
            <a:r>
              <a:t>Augmentasi: flip horizontal,</a:t>
            </a:r>
          </a:p>
          <a:p>
            <a:pPr>
              <a:defRPr sz="900">
                <a:solidFill>
                  <a:srgbClr val="202020"/>
                </a:solidFill>
              </a:defRPr>
            </a:pPr>
            <a:r>
              <a:t>rotasi ±15°, brightness.</a:t>
            </a:r>
          </a:p>
          <a:p>
            <a:pPr>
              <a:defRPr sz="900">
                <a:solidFill>
                  <a:srgbClr val="202020"/>
                </a:solidFill>
              </a:defRPr>
            </a:pPr>
            <a:r>
              <a:t>Hanya train set — val/test</a:t>
            </a:r>
          </a:p>
          <a:p>
            <a:pPr>
              <a:defRPr sz="900">
                <a:solidFill>
                  <a:srgbClr val="202020"/>
                </a:solidFill>
              </a:defRPr>
            </a:pPr>
            <a:r>
              <a:t>tetap original (evaluasi fair)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Split Dataset — User-Based Split</a:t>
            </a:r>
          </a:p>
        </p:txBody>
      </p:sp>
      <p:graphicFrame>
        <p:nvGraphicFramePr>
          <p:cNvPr id="3" name="Table 2"/>
          <p:cNvGraphicFramePr>
            <a:graphicFrameLocks noGrp="1"/>
          </p:cNvGraphicFramePr>
          <p:nvPr/>
        </p:nvGraphicFramePr>
        <p:xfrm>
          <a:off x="457200" y="1097280"/>
          <a:ext cx="4572000" cy="1828800"/>
        </p:xfrm>
        <a:graphic>
          <a:graphicData uri="http://schemas.openxmlformats.org/drawingml/2006/table">
            <a:tbl>
              <a:tblPr firstRow="1" bandRow="1">
                <a:tableStyleId>{5C22544A-7EE6-4342-B048-85BDC9FD1C3A}</a:tableStyleId>
              </a:tblPr>
              <a:tblGrid>
                <a:gridCol w="1371600"/>
                <a:gridCol w="1097280"/>
                <a:gridCol w="914400"/>
                <a:gridCol w="1188720"/>
              </a:tblGrid>
              <a:tr h="365760">
                <a:tc>
                  <a:txBody>
                    <a:bodyPr/>
                    <a:lstStyle/>
                    <a:p>
                      <a:pPr algn="ctr"/>
                      <a:r>
                        <a:rPr sz="1000" b="1">
                          <a:solidFill>
                            <a:srgbClr val="FFFFFF"/>
                          </a:solidFill>
                        </a:rPr>
                        <a:t>Split</a:t>
                      </a:r>
                    </a:p>
                  </a:txBody>
                  <a:tcPr>
                    <a:solidFill>
                      <a:srgbClr val="1A73E8"/>
                    </a:solidFill>
                  </a:tcPr>
                </a:tc>
                <a:tc>
                  <a:txBody>
                    <a:bodyPr/>
                    <a:lstStyle/>
                    <a:p>
                      <a:pPr algn="ctr"/>
                      <a:r>
                        <a:rPr sz="1000" b="1">
                          <a:solidFill>
                            <a:srgbClr val="FFFFFF"/>
                          </a:solidFill>
                        </a:rPr>
                        <a:t>Samples</a:t>
                      </a:r>
                    </a:p>
                  </a:txBody>
                  <a:tcPr>
                    <a:solidFill>
                      <a:srgbClr val="1A73E8"/>
                    </a:solidFill>
                  </a:tcPr>
                </a:tc>
                <a:tc>
                  <a:txBody>
                    <a:bodyPr/>
                    <a:lstStyle/>
                    <a:p>
                      <a:pPr algn="ctr"/>
                      <a:r>
                        <a:rPr sz="1000" b="1">
                          <a:solidFill>
                            <a:srgbClr val="FFFFFF"/>
                          </a:solidFill>
                        </a:rPr>
                        <a:t>Users</a:t>
                      </a:r>
                    </a:p>
                  </a:txBody>
                  <a:tcPr>
                    <a:solidFill>
                      <a:srgbClr val="1A73E8"/>
                    </a:solidFill>
                  </a:tcPr>
                </a:tc>
                <a:tc>
                  <a:txBody>
                    <a:bodyPr/>
                    <a:lstStyle/>
                    <a:p>
                      <a:pPr algn="ctr"/>
                      <a:r>
                        <a:rPr sz="1000" b="1">
                          <a:solidFill>
                            <a:srgbClr val="FFFFFF"/>
                          </a:solidFill>
                        </a:rPr>
                        <a:t>Persentase</a:t>
                      </a:r>
                    </a:p>
                  </a:txBody>
                  <a:tcPr>
                    <a:solidFill>
                      <a:srgbClr val="1A73E8"/>
                    </a:solidFill>
                  </a:tcPr>
                </a:tc>
              </a:tr>
              <a:tr h="365760">
                <a:tc>
                  <a:txBody>
                    <a:bodyPr/>
                    <a:lstStyle/>
                    <a:p>
                      <a:pPr algn="l"/>
                      <a:r>
                        <a:rPr sz="1000">
                          <a:solidFill>
                            <a:srgbClr val="202020"/>
                          </a:solidFill>
                        </a:rPr>
                        <a:t>Train</a:t>
                      </a:r>
                    </a:p>
                  </a:txBody>
                  <a:tcPr>
                    <a:solidFill>
                      <a:srgbClr val="E8F0FE"/>
                    </a:solidFill>
                  </a:tcPr>
                </a:tc>
                <a:tc>
                  <a:txBody>
                    <a:bodyPr/>
                    <a:lstStyle/>
                    <a:p>
                      <a:pPr algn="ctr"/>
                      <a:r>
                        <a:rPr sz="1000">
                          <a:solidFill>
                            <a:srgbClr val="202020"/>
                          </a:solidFill>
                        </a:rPr>
                        <a:t>7,064</a:t>
                      </a:r>
                    </a:p>
                  </a:txBody>
                  <a:tcPr>
                    <a:solidFill>
                      <a:srgbClr val="E8F0FE"/>
                    </a:solidFill>
                  </a:tcPr>
                </a:tc>
                <a:tc>
                  <a:txBody>
                    <a:bodyPr/>
                    <a:lstStyle/>
                    <a:p>
                      <a:pPr algn="ctr"/>
                      <a:r>
                        <a:rPr sz="1000">
                          <a:solidFill>
                            <a:srgbClr val="202020"/>
                          </a:solidFill>
                        </a:rPr>
                        <a:t>29</a:t>
                      </a:r>
                    </a:p>
                  </a:txBody>
                  <a:tcPr>
                    <a:solidFill>
                      <a:srgbClr val="E8F0FE"/>
                    </a:solidFill>
                  </a:tcPr>
                </a:tc>
                <a:tc>
                  <a:txBody>
                    <a:bodyPr/>
                    <a:lstStyle/>
                    <a:p>
                      <a:pPr algn="ctr"/>
                      <a:r>
                        <a:rPr sz="1000">
                          <a:solidFill>
                            <a:srgbClr val="202020"/>
                          </a:solidFill>
                        </a:rPr>
                        <a:t>71.4%</a:t>
                      </a:r>
                    </a:p>
                  </a:txBody>
                  <a:tcPr>
                    <a:solidFill>
                      <a:srgbClr val="E8F0FE"/>
                    </a:solidFill>
                  </a:tcPr>
                </a:tc>
              </a:tr>
              <a:tr h="365760">
                <a:tc>
                  <a:txBody>
                    <a:bodyPr/>
                    <a:lstStyle/>
                    <a:p>
                      <a:pPr algn="l"/>
                      <a:r>
                        <a:rPr sz="1000">
                          <a:solidFill>
                            <a:srgbClr val="202020"/>
                          </a:solidFill>
                        </a:rPr>
                        <a:t>Validation</a:t>
                      </a:r>
                    </a:p>
                  </a:txBody>
                  <a:tcPr>
                    <a:solidFill>
                      <a:srgbClr val="FFFFFF"/>
                    </a:solidFill>
                  </a:tcPr>
                </a:tc>
                <a:tc>
                  <a:txBody>
                    <a:bodyPr/>
                    <a:lstStyle/>
                    <a:p>
                      <a:pPr algn="ctr"/>
                      <a:r>
                        <a:rPr sz="1000">
                          <a:solidFill>
                            <a:srgbClr val="202020"/>
                          </a:solidFill>
                        </a:rPr>
                        <a:t>1,174</a:t>
                      </a:r>
                    </a:p>
                  </a:txBody>
                  <a:tcPr>
                    <a:solidFill>
                      <a:srgbClr val="FFFFFF"/>
                    </a:solidFill>
                  </a:tcPr>
                </a:tc>
                <a:tc>
                  <a:txBody>
                    <a:bodyPr/>
                    <a:lstStyle/>
                    <a:p>
                      <a:pPr algn="ctr"/>
                      <a:r>
                        <a:rPr sz="1000">
                          <a:solidFill>
                            <a:srgbClr val="202020"/>
                          </a:solidFill>
                        </a:rPr>
                        <a:t>3</a:t>
                      </a:r>
                    </a:p>
                  </a:txBody>
                  <a:tcPr>
                    <a:solidFill>
                      <a:srgbClr val="FFFFFF"/>
                    </a:solidFill>
                  </a:tcPr>
                </a:tc>
                <a:tc>
                  <a:txBody>
                    <a:bodyPr/>
                    <a:lstStyle/>
                    <a:p>
                      <a:pPr algn="ctr"/>
                      <a:r>
                        <a:rPr sz="1000">
                          <a:solidFill>
                            <a:srgbClr val="202020"/>
                          </a:solidFill>
                        </a:rPr>
                        <a:t>11.9%</a:t>
                      </a:r>
                    </a:p>
                  </a:txBody>
                  <a:tcPr>
                    <a:solidFill>
                      <a:srgbClr val="FFFFFF"/>
                    </a:solidFill>
                  </a:tcPr>
                </a:tc>
              </a:tr>
              <a:tr h="365760">
                <a:tc>
                  <a:txBody>
                    <a:bodyPr/>
                    <a:lstStyle/>
                    <a:p>
                      <a:pPr algn="l"/>
                      <a:r>
                        <a:rPr sz="1000">
                          <a:solidFill>
                            <a:srgbClr val="202020"/>
                          </a:solidFill>
                        </a:rPr>
                        <a:t>Test</a:t>
                      </a:r>
                    </a:p>
                  </a:txBody>
                  <a:tcPr>
                    <a:solidFill>
                      <a:srgbClr val="E8F0FE"/>
                    </a:solidFill>
                  </a:tcPr>
                </a:tc>
                <a:tc>
                  <a:txBody>
                    <a:bodyPr/>
                    <a:lstStyle/>
                    <a:p>
                      <a:pPr algn="ctr"/>
                      <a:r>
                        <a:rPr sz="1000">
                          <a:solidFill>
                            <a:srgbClr val="202020"/>
                          </a:solidFill>
                        </a:rPr>
                        <a:t>1,656</a:t>
                      </a:r>
                    </a:p>
                  </a:txBody>
                  <a:tcPr>
                    <a:solidFill>
                      <a:srgbClr val="E8F0FE"/>
                    </a:solidFill>
                  </a:tcPr>
                </a:tc>
                <a:tc>
                  <a:txBody>
                    <a:bodyPr/>
                    <a:lstStyle/>
                    <a:p>
                      <a:pPr algn="ctr"/>
                      <a:r>
                        <a:rPr sz="1000">
                          <a:solidFill>
                            <a:srgbClr val="202020"/>
                          </a:solidFill>
                        </a:rPr>
                        <a:t>5</a:t>
                      </a:r>
                    </a:p>
                  </a:txBody>
                  <a:tcPr>
                    <a:solidFill>
                      <a:srgbClr val="E8F0FE"/>
                    </a:solidFill>
                  </a:tcPr>
                </a:tc>
                <a:tc>
                  <a:txBody>
                    <a:bodyPr/>
                    <a:lstStyle/>
                    <a:p>
                      <a:pPr algn="ctr"/>
                      <a:r>
                        <a:rPr sz="1000">
                          <a:solidFill>
                            <a:srgbClr val="202020"/>
                          </a:solidFill>
                        </a:rPr>
                        <a:t>16.7%</a:t>
                      </a:r>
                    </a:p>
                  </a:txBody>
                  <a:tcPr>
                    <a:solidFill>
                      <a:srgbClr val="E8F0FE"/>
                    </a:solidFill>
                  </a:tcPr>
                </a:tc>
              </a:tr>
              <a:tr h="365760">
                <a:tc>
                  <a:txBody>
                    <a:bodyPr/>
                    <a:lstStyle/>
                    <a:p>
                      <a:pPr algn="l"/>
                      <a:r>
                        <a:rPr sz="1000">
                          <a:solidFill>
                            <a:srgbClr val="202020"/>
                          </a:solidFill>
                        </a:rPr>
                        <a:t>Total</a:t>
                      </a:r>
                    </a:p>
                  </a:txBody>
                  <a:tcPr>
                    <a:solidFill>
                      <a:srgbClr val="FFFFFF"/>
                    </a:solidFill>
                  </a:tcPr>
                </a:tc>
                <a:tc>
                  <a:txBody>
                    <a:bodyPr/>
                    <a:lstStyle/>
                    <a:p>
                      <a:pPr algn="ctr"/>
                      <a:r>
                        <a:rPr sz="1000">
                          <a:solidFill>
                            <a:srgbClr val="202020"/>
                          </a:solidFill>
                        </a:rPr>
                        <a:t>9,894</a:t>
                      </a:r>
                    </a:p>
                  </a:txBody>
                  <a:tcPr>
                    <a:solidFill>
                      <a:srgbClr val="FFFFFF"/>
                    </a:solidFill>
                  </a:tcPr>
                </a:tc>
                <a:tc>
                  <a:txBody>
                    <a:bodyPr/>
                    <a:lstStyle/>
                    <a:p>
                      <a:pPr algn="ctr"/>
                      <a:r>
                        <a:rPr sz="1000">
                          <a:solidFill>
                            <a:srgbClr val="202020"/>
                          </a:solidFill>
                        </a:rPr>
                        <a:t>37</a:t>
                      </a:r>
                    </a:p>
                  </a:txBody>
                  <a:tcPr>
                    <a:solidFill>
                      <a:srgbClr val="FFFFFF"/>
                    </a:solidFill>
                  </a:tcPr>
                </a:tc>
                <a:tc>
                  <a:txBody>
                    <a:bodyPr/>
                    <a:lstStyle/>
                    <a:p>
                      <a:pPr algn="ctr"/>
                      <a:r>
                        <a:rPr sz="1000">
                          <a:solidFill>
                            <a:srgbClr val="202020"/>
                          </a:solidFill>
                        </a:rPr>
                        <a:t>100%</a:t>
                      </a:r>
                    </a:p>
                  </a:txBody>
                  <a:tcPr>
                    <a:solidFill>
                      <a:srgbClr val="FFFFFF"/>
                    </a:solidFill>
                  </a:tcPr>
                </a:tc>
              </a:tr>
            </a:tbl>
          </a:graphicData>
        </a:graphic>
      </p:graphicFrame>
      <p:graphicFrame>
        <p:nvGraphicFramePr>
          <p:cNvPr id="4" name="Table 3"/>
          <p:cNvGraphicFramePr>
            <a:graphicFrameLocks noGrp="1"/>
          </p:cNvGraphicFramePr>
          <p:nvPr/>
        </p:nvGraphicFramePr>
        <p:xfrm>
          <a:off x="5212080" y="1097280"/>
          <a:ext cx="3657600" cy="3200400"/>
        </p:xfrm>
        <a:graphic>
          <a:graphicData uri="http://schemas.openxmlformats.org/drawingml/2006/table">
            <a:tbl>
              <a:tblPr firstRow="1" bandRow="1">
                <a:tableStyleId>{5C22544A-7EE6-4342-B048-85BDC9FD1C3A}</a:tableStyleId>
              </a:tblPr>
              <a:tblGrid>
                <a:gridCol w="1371600"/>
                <a:gridCol w="822960"/>
                <a:gridCol w="731520"/>
                <a:gridCol w="731520"/>
              </a:tblGrid>
              <a:tr h="400050">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Train</a:t>
                      </a:r>
                    </a:p>
                  </a:txBody>
                  <a:tcPr>
                    <a:solidFill>
                      <a:srgbClr val="1A73E8"/>
                    </a:solidFill>
                  </a:tcPr>
                </a:tc>
                <a:tc>
                  <a:txBody>
                    <a:bodyPr/>
                    <a:lstStyle/>
                    <a:p>
                      <a:pPr algn="ctr"/>
                      <a:r>
                        <a:rPr sz="900" b="1">
                          <a:solidFill>
                            <a:srgbClr val="FFFFFF"/>
                          </a:solidFill>
                        </a:rPr>
                        <a:t>Val</a:t>
                      </a:r>
                    </a:p>
                  </a:txBody>
                  <a:tcPr>
                    <a:solidFill>
                      <a:srgbClr val="1A73E8"/>
                    </a:solidFill>
                  </a:tcPr>
                </a:tc>
                <a:tc>
                  <a:txBody>
                    <a:bodyPr/>
                    <a:lstStyle/>
                    <a:p>
                      <a:pPr algn="ctr"/>
                      <a:r>
                        <a:rPr sz="900" b="1">
                          <a:solidFill>
                            <a:srgbClr val="FFFFFF"/>
                          </a:solidFill>
                        </a:rPr>
                        <a:t>Test</a:t>
                      </a:r>
                    </a:p>
                  </a:txBody>
                  <a:tcPr>
                    <a:solidFill>
                      <a:srgbClr val="1A73E8"/>
                    </a:solidFill>
                  </a:tcPr>
                </a:tc>
              </a:tr>
              <a:tr h="400050">
                <a:tc>
                  <a:txBody>
                    <a:bodyPr/>
                    <a:lstStyle/>
                    <a:p>
                      <a:pPr algn="l"/>
                      <a:r>
                        <a:rPr sz="900">
                          <a:solidFill>
                            <a:srgbClr val="202020"/>
                          </a:solidFill>
                        </a:rPr>
                        <a:t>Neutral</a:t>
                      </a:r>
                    </a:p>
                  </a:txBody>
                  <a:tcPr>
                    <a:solidFill>
                      <a:srgbClr val="E8F0FE"/>
                    </a:solidFill>
                  </a:tcPr>
                </a:tc>
                <a:tc>
                  <a:txBody>
                    <a:bodyPr/>
                    <a:lstStyle/>
                    <a:p>
                      <a:pPr algn="ctr"/>
                      <a:r>
                        <a:rPr sz="900">
                          <a:solidFill>
                            <a:srgbClr val="202020"/>
                          </a:solidFill>
                        </a:rPr>
                        <a:t>5,678</a:t>
                      </a:r>
                    </a:p>
                  </a:txBody>
                  <a:tcPr>
                    <a:solidFill>
                      <a:srgbClr val="E8F0FE"/>
                    </a:solidFill>
                  </a:tcPr>
                </a:tc>
                <a:tc>
                  <a:txBody>
                    <a:bodyPr/>
                    <a:lstStyle/>
                    <a:p>
                      <a:pPr algn="ctr"/>
                      <a:r>
                        <a:rPr sz="900">
                          <a:solidFill>
                            <a:srgbClr val="202020"/>
                          </a:solidFill>
                        </a:rPr>
                        <a:t>1,090</a:t>
                      </a:r>
                    </a:p>
                  </a:txBody>
                  <a:tcPr>
                    <a:solidFill>
                      <a:srgbClr val="E8F0FE"/>
                    </a:solidFill>
                  </a:tcPr>
                </a:tc>
                <a:tc>
                  <a:txBody>
                    <a:bodyPr/>
                    <a:lstStyle/>
                    <a:p>
                      <a:pPr algn="ctr"/>
                      <a:r>
                        <a:rPr sz="900">
                          <a:solidFill>
                            <a:srgbClr val="202020"/>
                          </a:solidFill>
                        </a:rPr>
                        <a:t>1,588</a:t>
                      </a:r>
                    </a:p>
                  </a:txBody>
                  <a:tcPr>
                    <a:solidFill>
                      <a:srgbClr val="E8F0FE"/>
                    </a:solidFill>
                  </a:tcPr>
                </a:tc>
              </a:tr>
              <a:tr h="400050">
                <a:tc>
                  <a:txBody>
                    <a:bodyPr/>
                    <a:lstStyle/>
                    <a:p>
                      <a:pPr algn="l"/>
                      <a:r>
                        <a:rPr sz="900">
                          <a:solidFill>
                            <a:srgbClr val="202020"/>
                          </a:solidFill>
                        </a:rPr>
                        <a:t>Happy</a:t>
                      </a:r>
                    </a:p>
                  </a:txBody>
                  <a:tcPr>
                    <a:solidFill>
                      <a:srgbClr val="FFFFFF"/>
                    </a:solidFill>
                  </a:tcPr>
                </a:tc>
                <a:tc>
                  <a:txBody>
                    <a:bodyPr/>
                    <a:lstStyle/>
                    <a:p>
                      <a:pPr algn="ctr"/>
                      <a:r>
                        <a:rPr sz="900">
                          <a:solidFill>
                            <a:srgbClr val="202020"/>
                          </a:solidFill>
                        </a:rPr>
                        <a:t>575</a:t>
                      </a:r>
                    </a:p>
                  </a:txBody>
                  <a:tcPr>
                    <a:solidFill>
                      <a:srgbClr val="FFFFFF"/>
                    </a:solidFill>
                  </a:tcPr>
                </a:tc>
                <a:tc>
                  <a:txBody>
                    <a:bodyPr/>
                    <a:lstStyle/>
                    <a:p>
                      <a:pPr algn="ctr"/>
                      <a:r>
                        <a:rPr sz="900">
                          <a:solidFill>
                            <a:srgbClr val="202020"/>
                          </a:solidFill>
                        </a:rPr>
                        <a:t>22</a:t>
                      </a:r>
                    </a:p>
                  </a:txBody>
                  <a:tcPr>
                    <a:solidFill>
                      <a:srgbClr val="FFFFFF"/>
                    </a:solidFill>
                  </a:tcPr>
                </a:tc>
                <a:tc>
                  <a:txBody>
                    <a:bodyPr/>
                    <a:lstStyle/>
                    <a:p>
                      <a:pPr algn="ctr"/>
                      <a:r>
                        <a:rPr sz="900">
                          <a:solidFill>
                            <a:srgbClr val="202020"/>
                          </a:solidFill>
                        </a:rPr>
                        <a:t>10</a:t>
                      </a:r>
                    </a:p>
                  </a:txBody>
                  <a:tcPr>
                    <a:solidFill>
                      <a:srgbClr val="FFFFFF"/>
                    </a:solidFill>
                  </a:tcPr>
                </a:tc>
              </a:tr>
              <a:tr h="400050">
                <a:tc>
                  <a:txBody>
                    <a:bodyPr/>
                    <a:lstStyle/>
                    <a:p>
                      <a:pPr algn="l"/>
                      <a:r>
                        <a:rPr sz="900">
                          <a:solidFill>
                            <a:srgbClr val="202020"/>
                          </a:solidFill>
                        </a:rPr>
                        <a:t>Sad</a:t>
                      </a:r>
                    </a:p>
                  </a:txBody>
                  <a:tcPr>
                    <a:solidFill>
                      <a:srgbClr val="E8F0FE"/>
                    </a:solidFill>
                  </a:tcPr>
                </a:tc>
                <a:tc>
                  <a:txBody>
                    <a:bodyPr/>
                    <a:lstStyle/>
                    <a:p>
                      <a:pPr algn="ctr"/>
                      <a:r>
                        <a:rPr sz="900">
                          <a:solidFill>
                            <a:srgbClr val="202020"/>
                          </a:solidFill>
                        </a:rPr>
                        <a:t>402</a:t>
                      </a:r>
                    </a:p>
                  </a:txBody>
                  <a:tcPr>
                    <a:solidFill>
                      <a:srgbClr val="E8F0FE"/>
                    </a:solidFill>
                  </a:tcPr>
                </a:tc>
                <a:tc>
                  <a:txBody>
                    <a:bodyPr/>
                    <a:lstStyle/>
                    <a:p>
                      <a:pPr algn="ctr"/>
                      <a:r>
                        <a:rPr sz="900">
                          <a:solidFill>
                            <a:srgbClr val="202020"/>
                          </a:solidFill>
                        </a:rPr>
                        <a:t>48</a:t>
                      </a:r>
                    </a:p>
                  </a:txBody>
                  <a:tcPr>
                    <a:solidFill>
                      <a:srgbClr val="E8F0FE"/>
                    </a:solidFill>
                  </a:tcPr>
                </a:tc>
                <a:tc>
                  <a:txBody>
                    <a:bodyPr/>
                    <a:lstStyle/>
                    <a:p>
                      <a:pPr algn="ctr"/>
                      <a:r>
                        <a:rPr sz="900">
                          <a:solidFill>
                            <a:srgbClr val="202020"/>
                          </a:solidFill>
                        </a:rPr>
                        <a:t>38</a:t>
                      </a:r>
                    </a:p>
                  </a:txBody>
                  <a:tcPr>
                    <a:solidFill>
                      <a:srgbClr val="E8F0FE"/>
                    </a:solidFill>
                  </a:tcPr>
                </a:tc>
              </a:tr>
              <a:tr h="400050">
                <a:tc>
                  <a:txBody>
                    <a:bodyPr/>
                    <a:lstStyle/>
                    <a:p>
                      <a:pPr algn="l"/>
                      <a:r>
                        <a:rPr sz="900">
                          <a:solidFill>
                            <a:srgbClr val="202020"/>
                          </a:solidFill>
                        </a:rPr>
                        <a:t>Angry</a:t>
                      </a:r>
                    </a:p>
                  </a:txBody>
                  <a:tcPr>
                    <a:solidFill>
                      <a:srgbClr val="FFFFFF"/>
                    </a:solidFill>
                  </a:tcPr>
                </a:tc>
                <a:tc>
                  <a:txBody>
                    <a:bodyPr/>
                    <a:lstStyle/>
                    <a:p>
                      <a:pPr algn="ctr"/>
                      <a:r>
                        <a:rPr sz="900">
                          <a:solidFill>
                            <a:srgbClr val="202020"/>
                          </a:solidFill>
                        </a:rPr>
                        <a:t>43</a:t>
                      </a:r>
                    </a:p>
                  </a:txBody>
                  <a:tcPr>
                    <a:solidFill>
                      <a:srgbClr val="FFFFFF"/>
                    </a:solidFill>
                  </a:tcPr>
                </a:tc>
                <a:tc>
                  <a:txBody>
                    <a:bodyPr/>
                    <a:lstStyle/>
                    <a:p>
                      <a:pPr algn="ctr"/>
                      <a:r>
                        <a:rPr sz="900">
                          <a:solidFill>
                            <a:srgbClr val="202020"/>
                          </a:solidFill>
                        </a:rPr>
                        <a:t>2</a:t>
                      </a:r>
                    </a:p>
                  </a:txBody>
                  <a:tcPr>
                    <a:solidFill>
                      <a:srgbClr val="FFFFFF"/>
                    </a:solidFill>
                  </a:tcPr>
                </a:tc>
                <a:tc>
                  <a:txBody>
                    <a:bodyPr/>
                    <a:lstStyle/>
                    <a:p>
                      <a:pPr algn="ctr"/>
                      <a:r>
                        <a:rPr sz="900">
                          <a:solidFill>
                            <a:srgbClr val="202020"/>
                          </a:solidFill>
                        </a:rPr>
                        <a:t>13</a:t>
                      </a:r>
                    </a:p>
                  </a:txBody>
                  <a:tcPr>
                    <a:solidFill>
                      <a:srgbClr val="FFFFFF"/>
                    </a:solidFill>
                  </a:tcPr>
                </a:tc>
              </a:tr>
              <a:tr h="400050">
                <a:tc>
                  <a:txBody>
                    <a:bodyPr/>
                    <a:lstStyle/>
                    <a:p>
                      <a:pPr algn="l"/>
                      <a:r>
                        <a:rPr sz="900">
                          <a:solidFill>
                            <a:srgbClr val="202020"/>
                          </a:solidFill>
                        </a:rPr>
                        <a:t>Fearful</a:t>
                      </a:r>
                    </a:p>
                  </a:txBody>
                  <a:tcPr>
                    <a:solidFill>
                      <a:srgbClr val="E8F0FE"/>
                    </a:solidFill>
                  </a:tcPr>
                </a:tc>
                <a:tc>
                  <a:txBody>
                    <a:bodyPr/>
                    <a:lstStyle/>
                    <a:p>
                      <a:pPr algn="ctr"/>
                      <a:r>
                        <a:rPr sz="900">
                          <a:solidFill>
                            <a:srgbClr val="202020"/>
                          </a:solidFill>
                        </a:rPr>
                        <a:t>7</a:t>
                      </a:r>
                    </a:p>
                  </a:txBody>
                  <a:tcPr>
                    <a:solidFill>
                      <a:srgbClr val="E8F0FE"/>
                    </a:solidFill>
                  </a:tcPr>
                </a:tc>
                <a:tc>
                  <a:txBody>
                    <a:bodyPr/>
                    <a:lstStyle/>
                    <a:p>
                      <a:pPr algn="ctr"/>
                      <a:r>
                        <a:rPr sz="900">
                          <a:solidFill>
                            <a:srgbClr val="202020"/>
                          </a:solidFill>
                        </a:rPr>
                        <a:t>4</a:t>
                      </a:r>
                    </a:p>
                  </a:txBody>
                  <a:tcPr>
                    <a:solidFill>
                      <a:srgbClr val="E8F0FE"/>
                    </a:solidFill>
                  </a:tcPr>
                </a:tc>
                <a:tc>
                  <a:txBody>
                    <a:bodyPr/>
                    <a:lstStyle/>
                    <a:p>
                      <a:pPr algn="ctr"/>
                      <a:r>
                        <a:rPr sz="900">
                          <a:solidFill>
                            <a:srgbClr val="202020"/>
                          </a:solidFill>
                        </a:rPr>
                        <a:t>1</a:t>
                      </a:r>
                    </a:p>
                  </a:txBody>
                  <a:tcPr>
                    <a:solidFill>
                      <a:srgbClr val="E8F0FE"/>
                    </a:solidFill>
                  </a:tcPr>
                </a:tc>
              </a:tr>
              <a:tr h="400050">
                <a:tc>
                  <a:txBody>
                    <a:bodyPr/>
                    <a:lstStyle/>
                    <a:p>
                      <a:pPr algn="l"/>
                      <a:r>
                        <a:rPr sz="900">
                          <a:solidFill>
                            <a:srgbClr val="202020"/>
                          </a:solidFill>
                        </a:rPr>
                        <a:t>Disgusted</a:t>
                      </a:r>
                    </a:p>
                  </a:txBody>
                  <a:tcPr>
                    <a:solidFill>
                      <a:srgbClr val="FFFFFF"/>
                    </a:solidFill>
                  </a:tcPr>
                </a:tc>
                <a:tc>
                  <a:txBody>
                    <a:bodyPr/>
                    <a:lstStyle/>
                    <a:p>
                      <a:pPr algn="ctr"/>
                      <a:r>
                        <a:rPr sz="900">
                          <a:solidFill>
                            <a:srgbClr val="202020"/>
                          </a:solidFill>
                        </a:rPr>
                        <a:t>19</a:t>
                      </a:r>
                    </a:p>
                  </a:txBody>
                  <a:tcPr>
                    <a:solidFill>
                      <a:srgbClr val="FFFFFF"/>
                    </a:solidFill>
                  </a:tcPr>
                </a:tc>
                <a:tc>
                  <a:txBody>
                    <a:bodyPr/>
                    <a:lstStyle/>
                    <a:p>
                      <a:pPr algn="ctr"/>
                      <a:r>
                        <a:rPr sz="900">
                          <a:solidFill>
                            <a:srgbClr val="202020"/>
                          </a:solidFill>
                        </a:rPr>
                        <a:t>2</a:t>
                      </a:r>
                    </a:p>
                  </a:txBody>
                  <a:tcPr>
                    <a:solidFill>
                      <a:srgbClr val="FFFFFF"/>
                    </a:solidFill>
                  </a:tcPr>
                </a:tc>
                <a:tc>
                  <a:txBody>
                    <a:bodyPr/>
                    <a:lstStyle/>
                    <a:p>
                      <a:pPr algn="ctr"/>
                      <a:r>
                        <a:rPr sz="900">
                          <a:solidFill>
                            <a:srgbClr val="202020"/>
                          </a:solidFill>
                        </a:rPr>
                        <a:t>3</a:t>
                      </a:r>
                    </a:p>
                  </a:txBody>
                  <a:tcPr>
                    <a:solidFill>
                      <a:srgbClr val="FFFFFF"/>
                    </a:solidFill>
                  </a:tcPr>
                </a:tc>
              </a:tr>
              <a:tr h="400050">
                <a:tc>
                  <a:txBody>
                    <a:bodyPr/>
                    <a:lstStyle/>
                    <a:p>
                      <a:pPr algn="l"/>
                      <a:r>
                        <a:rPr sz="900">
                          <a:solidFill>
                            <a:srgbClr val="202020"/>
                          </a:solidFill>
                        </a:rPr>
                        <a:t>Surprised</a:t>
                      </a:r>
                    </a:p>
                  </a:txBody>
                  <a:tcPr>
                    <a:solidFill>
                      <a:srgbClr val="E8F0FE"/>
                    </a:solidFill>
                  </a:tcPr>
                </a:tc>
                <a:tc>
                  <a:txBody>
                    <a:bodyPr/>
                    <a:lstStyle/>
                    <a:p>
                      <a:pPr algn="ctr"/>
                      <a:r>
                        <a:rPr sz="900">
                          <a:solidFill>
                            <a:srgbClr val="202020"/>
                          </a:solidFill>
                        </a:rPr>
                        <a:t>39</a:t>
                      </a:r>
                    </a:p>
                  </a:txBody>
                  <a:tcPr>
                    <a:solidFill>
                      <a:srgbClr val="E8F0FE"/>
                    </a:solidFill>
                  </a:tcPr>
                </a:tc>
                <a:tc>
                  <a:txBody>
                    <a:bodyPr/>
                    <a:lstStyle/>
                    <a:p>
                      <a:pPr algn="ctr"/>
                      <a:r>
                        <a:rPr sz="900">
                          <a:solidFill>
                            <a:srgbClr val="202020"/>
                          </a:solidFill>
                        </a:rPr>
                        <a:t>6</a:t>
                      </a:r>
                    </a:p>
                  </a:txBody>
                  <a:tcPr>
                    <a:solidFill>
                      <a:srgbClr val="E8F0FE"/>
                    </a:solidFill>
                  </a:tcPr>
                </a:tc>
                <a:tc>
                  <a:txBody>
                    <a:bodyPr/>
                    <a:lstStyle/>
                    <a:p>
                      <a:pPr algn="ctr"/>
                      <a:r>
                        <a:rPr sz="900">
                          <a:solidFill>
                            <a:srgbClr val="202020"/>
                          </a:solidFill>
                        </a:rPr>
                        <a:t>3</a:t>
                      </a:r>
                    </a:p>
                  </a:txBody>
                  <a:tcPr>
                    <a:solidFill>
                      <a:srgbClr val="E8F0FE"/>
                    </a:solidFill>
                  </a:tcPr>
                </a:tc>
              </a:tr>
            </a:tbl>
          </a:graphicData>
        </a:graphic>
      </p:graphicFrame>
      <p:sp>
        <p:nvSpPr>
          <p:cNvPr id="5" name="TextBox 4"/>
          <p:cNvSpPr txBox="1"/>
          <p:nvPr/>
        </p:nvSpPr>
        <p:spPr>
          <a:xfrm>
            <a:off x="457200" y="3108960"/>
            <a:ext cx="4572000" cy="1280160"/>
          </a:xfrm>
          <a:prstGeom prst="rect">
            <a:avLst/>
          </a:prstGeom>
          <a:noFill/>
        </p:spPr>
        <p:txBody>
          <a:bodyPr wrap="square">
            <a:spAutoFit/>
          </a:bodyPr>
          <a:lstStyle/>
          <a:p>
            <a:pPr>
              <a:defRPr sz="900">
                <a:solidFill>
                  <a:srgbClr val="202020"/>
                </a:solidFill>
              </a:defRPr>
            </a:pPr>
            <a:r>
              <a:t>Split by user: mencegah data leaking (model tidak "menghafal" wajah)</a:t>
            </a:r>
          </a:p>
          <a:p>
            <a:pPr>
              <a:defRPr sz="900">
                <a:solidFill>
                  <a:srgbClr val="202020"/>
                </a:solidFill>
              </a:defRPr>
            </a:pPr>
            <a:r>
              <a:t>Rasio 71/12/17 normal untuk user-based split (standar: 70/10-15/15-20)</a:t>
            </a:r>
          </a:p>
          <a:p>
            <a:pPr>
              <a:defRPr sz="900">
                <a:solidFill>
                  <a:srgbClr val="202020"/>
                </a:solidFill>
              </a:defRPr>
            </a:pPr>
            <a:r>
              <a:t>Smart distribution: semua 7 emosi terwakili di setiap split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Detail Split per Batch (Front-Only)</a:t>
            </a:r>
          </a:p>
        </p:txBody>
      </p:sp>
      <p:graphicFrame>
        <p:nvGraphicFramePr>
          <p:cNvPr id="3" name="Table 2"/>
          <p:cNvGraphicFramePr>
            <a:graphicFrameLocks noGrp="1"/>
          </p:cNvGraphicFramePr>
          <p:nvPr/>
        </p:nvGraphicFramePr>
        <p:xfrm>
          <a:off x="274320" y="731520"/>
          <a:ext cx="8595360" cy="1188720"/>
        </p:xfrm>
        <a:graphic>
          <a:graphicData uri="http://schemas.openxmlformats.org/drawingml/2006/table">
            <a:tbl>
              <a:tblPr firstRow="1" bandRow="1"/>
              <a:tblGrid>
                <a:gridCol w="2011680"/>
                <a:gridCol w="1828800"/>
                <a:gridCol w="1645920"/>
                <a:gridCol w="1645920"/>
                <a:gridCol w="1463040"/>
              </a:tblGrid>
              <a:tr h="297180">
                <a:tc>
                  <a:txBody>
                    <a:bodyPr/>
                    <a:lstStyle/>
                    <a:p>
                      <a:pPr algn="ctr"/>
                      <a:r>
                        <a:rPr sz="1000" b="1">
                          <a:solidFill>
                            <a:srgbClr val="FFFFFF"/>
                          </a:solidFill>
                        </a:rPr>
                        <a:t/>
                      </a:r>
                    </a:p>
                  </a:txBody>
                  <a:tcPr>
                    <a:solidFill>
                      <a:srgbClr val="1A73E8"/>
                    </a:solidFill>
                  </a:tcPr>
                </a:tc>
                <a:tc>
                  <a:txBody>
                    <a:bodyPr/>
                    <a:lstStyle/>
                    <a:p>
                      <a:pPr algn="ctr"/>
                      <a:r>
                        <a:rPr sz="1000" b="1">
                          <a:solidFill>
                            <a:srgbClr val="FFFFFF"/>
                          </a:solidFill>
                        </a:rPr>
                        <a:t>Train</a:t>
                      </a:r>
                    </a:p>
                  </a:txBody>
                  <a:tcPr>
                    <a:solidFill>
                      <a:srgbClr val="1A73E8"/>
                    </a:solidFill>
                  </a:tcPr>
                </a:tc>
                <a:tc>
                  <a:txBody>
                    <a:bodyPr/>
                    <a:lstStyle/>
                    <a:p>
                      <a:pPr algn="ctr"/>
                      <a:r>
                        <a:rPr sz="1000" b="1">
                          <a:solidFill>
                            <a:srgbClr val="FFFFFF"/>
                          </a:solidFill>
                        </a:rPr>
                        <a:t>Val</a:t>
                      </a:r>
                    </a:p>
                  </a:txBody>
                  <a:tcPr>
                    <a:solidFill>
                      <a:srgbClr val="1A73E8"/>
                    </a:solidFill>
                  </a:tcPr>
                </a:tc>
                <a:tc>
                  <a:txBody>
                    <a:bodyPr/>
                    <a:lstStyle/>
                    <a:p>
                      <a:pPr algn="ctr"/>
                      <a:r>
                        <a:rPr sz="1000" b="1">
                          <a:solidFill>
                            <a:srgbClr val="FFFFFF"/>
                          </a:solidFill>
                        </a:rPr>
                        <a:t>Test</a:t>
                      </a:r>
                    </a:p>
                  </a:txBody>
                  <a:tcPr>
                    <a:solidFill>
                      <a:srgbClr val="1A73E8"/>
                    </a:solidFill>
                  </a:tcPr>
                </a:tc>
                <a:tc>
                  <a:txBody>
                    <a:bodyPr/>
                    <a:lstStyle/>
                    <a:p>
                      <a:pPr algn="ctr"/>
                      <a:r>
                        <a:rPr sz="1000" b="1">
                          <a:solidFill>
                            <a:srgbClr val="FFFFFF"/>
                          </a:solidFill>
                        </a:rPr>
                        <a:t>Total</a:t>
                      </a:r>
                    </a:p>
                  </a:txBody>
                  <a:tcPr>
                    <a:solidFill>
                      <a:srgbClr val="1A73E8"/>
                    </a:solidFill>
                  </a:tcPr>
                </a:tc>
              </a:tr>
              <a:tr h="297180">
                <a:tc>
                  <a:txBody>
                    <a:bodyPr/>
                    <a:lstStyle/>
                    <a:p>
                      <a:pPr algn="l"/>
                      <a:r>
                        <a:rPr sz="1000" b="1">
                          <a:solidFill>
                            <a:srgbClr val="202020"/>
                          </a:solidFill>
                        </a:rPr>
                        <a:t>Batch 1 (20 user)</a:t>
                      </a:r>
                    </a:p>
                  </a:txBody>
                  <a:tcPr>
                    <a:solidFill>
                      <a:srgbClr val="E8F0FE"/>
                    </a:solidFill>
                  </a:tcPr>
                </a:tc>
                <a:tc>
                  <a:txBody>
                    <a:bodyPr/>
                    <a:lstStyle/>
                    <a:p>
                      <a:pPr algn="ctr"/>
                      <a:r>
                        <a:rPr sz="1000" b="0">
                          <a:solidFill>
                            <a:srgbClr val="202020"/>
                          </a:solidFill>
                        </a:rPr>
                        <a:t>18 user (3,334)</a:t>
                      </a:r>
                    </a:p>
                  </a:txBody>
                  <a:tcPr>
                    <a:solidFill>
                      <a:srgbClr val="E8F0FE"/>
                    </a:solidFill>
                  </a:tcPr>
                </a:tc>
                <a:tc>
                  <a:txBody>
                    <a:bodyPr/>
                    <a:lstStyle/>
                    <a:p>
                      <a:pPr algn="ctr"/>
                      <a:r>
                        <a:rPr sz="1000" b="0">
                          <a:solidFill>
                            <a:srgbClr val="202020"/>
                          </a:solidFill>
                        </a:rPr>
                        <a:t>1 user (232)</a:t>
                      </a:r>
                    </a:p>
                  </a:txBody>
                  <a:tcPr>
                    <a:solidFill>
                      <a:srgbClr val="E8F0FE"/>
                    </a:solidFill>
                  </a:tcPr>
                </a:tc>
                <a:tc>
                  <a:txBody>
                    <a:bodyPr/>
                    <a:lstStyle/>
                    <a:p>
                      <a:pPr algn="ctr"/>
                      <a:r>
                        <a:rPr sz="1000" b="0">
                          <a:solidFill>
                            <a:srgbClr val="202020"/>
                          </a:solidFill>
                        </a:rPr>
                        <a:t>1 user (258)</a:t>
                      </a:r>
                    </a:p>
                  </a:txBody>
                  <a:tcPr>
                    <a:solidFill>
                      <a:srgbClr val="E8F0FE"/>
                    </a:solidFill>
                  </a:tcPr>
                </a:tc>
                <a:tc>
                  <a:txBody>
                    <a:bodyPr/>
                    <a:lstStyle/>
                    <a:p>
                      <a:pPr algn="ctr"/>
                      <a:r>
                        <a:rPr sz="1000" b="0">
                          <a:solidFill>
                            <a:srgbClr val="202020"/>
                          </a:solidFill>
                        </a:rPr>
                        <a:t>20 user (3,824)</a:t>
                      </a:r>
                    </a:p>
                  </a:txBody>
                  <a:tcPr>
                    <a:solidFill>
                      <a:srgbClr val="E8F0FE"/>
                    </a:solidFill>
                  </a:tcPr>
                </a:tc>
              </a:tr>
              <a:tr h="297180">
                <a:tc>
                  <a:txBody>
                    <a:bodyPr/>
                    <a:lstStyle/>
                    <a:p>
                      <a:pPr algn="l"/>
                      <a:r>
                        <a:rPr sz="1000" b="1">
                          <a:solidFill>
                            <a:srgbClr val="202020"/>
                          </a:solidFill>
                        </a:rPr>
                        <a:t>Batch 2 (17 user)</a:t>
                      </a:r>
                    </a:p>
                  </a:txBody>
                  <a:tcPr>
                    <a:solidFill>
                      <a:srgbClr val="FFFFFF"/>
                    </a:solidFill>
                  </a:tcPr>
                </a:tc>
                <a:tc>
                  <a:txBody>
                    <a:bodyPr/>
                    <a:lstStyle/>
                    <a:p>
                      <a:pPr algn="ctr"/>
                      <a:r>
                        <a:rPr sz="1000" b="0">
                          <a:solidFill>
                            <a:srgbClr val="202020"/>
                          </a:solidFill>
                        </a:rPr>
                        <a:t>11 user (2,014)</a:t>
                      </a:r>
                    </a:p>
                  </a:txBody>
                  <a:tcPr>
                    <a:solidFill>
                      <a:srgbClr val="FFFFFF"/>
                    </a:solidFill>
                  </a:tcPr>
                </a:tc>
                <a:tc>
                  <a:txBody>
                    <a:bodyPr/>
                    <a:lstStyle/>
                    <a:p>
                      <a:pPr algn="ctr"/>
                      <a:r>
                        <a:rPr sz="1000" b="0">
                          <a:solidFill>
                            <a:srgbClr val="202020"/>
                          </a:solidFill>
                        </a:rPr>
                        <a:t>2 user (475)</a:t>
                      </a:r>
                    </a:p>
                  </a:txBody>
                  <a:tcPr>
                    <a:solidFill>
                      <a:srgbClr val="FFFFFF"/>
                    </a:solidFill>
                  </a:tcPr>
                </a:tc>
                <a:tc>
                  <a:txBody>
                    <a:bodyPr/>
                    <a:lstStyle/>
                    <a:p>
                      <a:pPr algn="ctr"/>
                      <a:r>
                        <a:rPr sz="1000" b="0">
                          <a:solidFill>
                            <a:srgbClr val="202020"/>
                          </a:solidFill>
                        </a:rPr>
                        <a:t>4 user (778)</a:t>
                      </a:r>
                    </a:p>
                  </a:txBody>
                  <a:tcPr>
                    <a:solidFill>
                      <a:srgbClr val="FFFFFF"/>
                    </a:solidFill>
                  </a:tcPr>
                </a:tc>
                <a:tc>
                  <a:txBody>
                    <a:bodyPr/>
                    <a:lstStyle/>
                    <a:p>
                      <a:pPr algn="ctr"/>
                      <a:r>
                        <a:rPr sz="1000" b="0">
                          <a:solidFill>
                            <a:srgbClr val="202020"/>
                          </a:solidFill>
                        </a:rPr>
                        <a:t>17 user (3,267)</a:t>
                      </a:r>
                    </a:p>
                  </a:txBody>
                  <a:tcPr>
                    <a:solidFill>
                      <a:srgbClr val="FFFFFF"/>
                    </a:solidFill>
                  </a:tcPr>
                </a:tc>
              </a:tr>
              <a:tr h="297180">
                <a:tc>
                  <a:txBody>
                    <a:bodyPr/>
                    <a:lstStyle/>
                    <a:p>
                      <a:pPr algn="l"/>
                      <a:r>
                        <a:rPr sz="1000" b="1">
                          <a:solidFill>
                            <a:srgbClr val="202020"/>
                          </a:solidFill>
                        </a:rPr>
                        <a:t>Total</a:t>
                      </a:r>
                    </a:p>
                  </a:txBody>
                  <a:tcPr>
                    <a:solidFill>
                      <a:srgbClr val="E8F0FE"/>
                    </a:solidFill>
                  </a:tcPr>
                </a:tc>
                <a:tc>
                  <a:txBody>
                    <a:bodyPr/>
                    <a:lstStyle/>
                    <a:p>
                      <a:pPr algn="ctr"/>
                      <a:r>
                        <a:rPr sz="1000" b="1">
                          <a:solidFill>
                            <a:srgbClr val="202020"/>
                          </a:solidFill>
                        </a:rPr>
                        <a:t>29 user (5,348)</a:t>
                      </a:r>
                    </a:p>
                  </a:txBody>
                  <a:tcPr>
                    <a:solidFill>
                      <a:srgbClr val="E8F0FE"/>
                    </a:solidFill>
                  </a:tcPr>
                </a:tc>
                <a:tc>
                  <a:txBody>
                    <a:bodyPr/>
                    <a:lstStyle/>
                    <a:p>
                      <a:pPr algn="ctr"/>
                      <a:r>
                        <a:rPr sz="1000" b="1">
                          <a:solidFill>
                            <a:srgbClr val="202020"/>
                          </a:solidFill>
                        </a:rPr>
                        <a:t>3 user (707)</a:t>
                      </a:r>
                    </a:p>
                  </a:txBody>
                  <a:tcPr>
                    <a:solidFill>
                      <a:srgbClr val="E8F0FE"/>
                    </a:solidFill>
                  </a:tcPr>
                </a:tc>
                <a:tc>
                  <a:txBody>
                    <a:bodyPr/>
                    <a:lstStyle/>
                    <a:p>
                      <a:pPr algn="ctr"/>
                      <a:r>
                        <a:rPr sz="1000" b="1">
                          <a:solidFill>
                            <a:srgbClr val="202020"/>
                          </a:solidFill>
                        </a:rPr>
                        <a:t>5 user (1,036)</a:t>
                      </a:r>
                    </a:p>
                  </a:txBody>
                  <a:tcPr>
                    <a:solidFill>
                      <a:srgbClr val="E8F0FE"/>
                    </a:solidFill>
                  </a:tcPr>
                </a:tc>
                <a:tc>
                  <a:txBody>
                    <a:bodyPr/>
                    <a:lstStyle/>
                    <a:p>
                      <a:pPr algn="ctr"/>
                      <a:r>
                        <a:rPr sz="1000" b="1">
                          <a:solidFill>
                            <a:srgbClr val="202020"/>
                          </a:solidFill>
                        </a:rPr>
                        <a:t>37 user (7,091)</a:t>
                      </a:r>
                    </a:p>
                  </a:txBody>
                  <a:tcPr>
                    <a:solidFill>
                      <a:srgbClr val="E8F0FE"/>
                    </a:solidFill>
                  </a:tcPr>
                </a:tc>
              </a:tr>
            </a:tbl>
          </a:graphicData>
        </a:graphic>
      </p:graphicFrame>
      <p:sp>
        <p:nvSpPr>
          <p:cNvPr id="4" name="TextBox 3"/>
          <p:cNvSpPr txBox="1"/>
          <p:nvPr/>
        </p:nvSpPr>
        <p:spPr>
          <a:xfrm>
            <a:off x="274320" y="2057400"/>
            <a:ext cx="8595360" cy="2011680"/>
          </a:xfrm>
          <a:prstGeom prst="rect">
            <a:avLst/>
          </a:prstGeom>
          <a:solidFill>
            <a:srgbClr val="F1F3F4"/>
          </a:solidFill>
        </p:spPr>
        <p:txBody>
          <a:bodyPr wrap="square">
            <a:spAutoFit/>
          </a:bodyPr>
          <a:lstStyle/>
          <a:p>
            <a:pPr algn="l"/>
            <a:r>
              <a:rPr sz="1000" b="1" i="0">
                <a:solidFill>
                  <a:srgbClr val="202020"/>
                </a:solidFill>
              </a:rPr>
              <a:t>Detail User ID per Split:</a:t>
            </a:r>
          </a:p>
          <a:p>
            <a:pPr algn="l"/>
            <a:r>
              <a:rPr sz="400" b="0" i="0"/>
              <a:t/>
            </a:r>
          </a:p>
          <a:p>
            <a:pPr algn="l"/>
            <a:r>
              <a:rPr sz="950" b="1" i="0">
                <a:solidFill>
                  <a:srgbClr val="1A73E8"/>
                </a:solidFill>
              </a:rPr>
              <a:t>Train (29 user):</a:t>
            </a:r>
          </a:p>
          <a:p>
            <a:pPr algn="l"/>
            <a:r>
              <a:rPr sz="900" b="0" i="0">
                <a:solidFill>
                  <a:srgbClr val="202020"/>
                </a:solidFill>
              </a:rPr>
              <a:t>  Batch 1: 97, 99, 100, 101, 102, 103, 104, 106, 107, 108, 109, 110, 113, 114, 115, 116, 117, 118</a:t>
            </a:r>
          </a:p>
          <a:p>
            <a:pPr algn="l"/>
            <a:r>
              <a:rPr sz="900" b="0" i="0">
                <a:solidFill>
                  <a:srgbClr val="202020"/>
                </a:solidFill>
              </a:rPr>
              <a:t>  Batch 2: 200, 201, 203, 205, 208, 210, 211, 212, 213, 215, 216</a:t>
            </a:r>
          </a:p>
          <a:p>
            <a:pPr algn="l"/>
            <a:r>
              <a:rPr sz="400" b="0" i="0"/>
              <a:t/>
            </a:r>
          </a:p>
          <a:p>
            <a:pPr algn="l"/>
            <a:r>
              <a:rPr sz="950" b="1" i="0">
                <a:solidFill>
                  <a:srgbClr val="1A73E8"/>
                </a:solidFill>
              </a:rPr>
              <a:t>Validation (3 user):</a:t>
            </a:r>
          </a:p>
          <a:p>
            <a:pPr algn="l"/>
            <a:r>
              <a:rPr sz="900" b="0" i="0">
                <a:solidFill>
                  <a:srgbClr val="202020"/>
                </a:solidFill>
              </a:rPr>
              <a:t>  Batch 1: 112  |  Batch 2: 207, 214</a:t>
            </a:r>
          </a:p>
          <a:p>
            <a:pPr algn="l"/>
            <a:r>
              <a:rPr sz="400" b="0" i="0"/>
              <a:t/>
            </a:r>
          </a:p>
          <a:p>
            <a:pPr algn="l"/>
            <a:r>
              <a:rPr sz="950" b="1" i="0">
                <a:solidFill>
                  <a:srgbClr val="1A73E8"/>
                </a:solidFill>
              </a:rPr>
              <a:t>Test (5 user):</a:t>
            </a:r>
          </a:p>
          <a:p>
            <a:pPr algn="l"/>
            <a:r>
              <a:rPr sz="900" b="0" i="0">
                <a:solidFill>
                  <a:srgbClr val="202020"/>
                </a:solidFill>
              </a:rPr>
              <a:t>  Batch 1: 111  |  Batch 2: 197, 202, 206, 209</a:t>
            </a:r>
          </a:p>
        </p:txBody>
      </p:sp>
      <p:sp>
        <p:nvSpPr>
          <p:cNvPr id="5" name="TextBox 4"/>
          <p:cNvSpPr txBox="1"/>
          <p:nvPr/>
        </p:nvSpPr>
        <p:spPr>
          <a:xfrm>
            <a:off x="274320" y="4160520"/>
            <a:ext cx="8595360" cy="320040"/>
          </a:xfrm>
          <a:prstGeom prst="rect">
            <a:avLst/>
          </a:prstGeom>
          <a:noFill/>
        </p:spPr>
        <p:txBody>
          <a:bodyPr wrap="none">
            <a:spAutoFit/>
          </a:bodyPr>
          <a:lstStyle/>
          <a:p>
            <a:pPr algn="ctr"/>
            <a:r>
              <a:rPr sz="850" b="0" i="1">
                <a:solidFill>
                  <a:srgbClr val="666666"/>
                </a:solidFill>
              </a:rPr>
              <a:t>Split identik untuk eksperimen front+side dan front-only (user yang sama di setiap split)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Validasi Ahli Psikologi</a:t>
            </a:r>
          </a:p>
        </p:txBody>
      </p:sp>
      <p:graphicFrame>
        <p:nvGraphicFramePr>
          <p:cNvPr id="3" name="Table 2"/>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57200"/>
                <a:gridCol w="1371600"/>
                <a:gridCol w="4572000"/>
                <a:gridCol w="1828800"/>
              </a:tblGrid>
              <a:tr h="365760">
                <a:tc>
                  <a:txBody>
                    <a:bodyPr/>
                    <a:lstStyle/>
                    <a:p>
                      <a:pPr algn="ctr"/>
                      <a:r>
                        <a:rPr sz="1000" b="1">
                          <a:solidFill>
                            <a:srgbClr val="FFFFFF"/>
                          </a:solidFill>
                        </a:rPr>
                        <a:t>Opsi</a:t>
                      </a:r>
                    </a:p>
                  </a:txBody>
                  <a:tcPr>
                    <a:solidFill>
                      <a:srgbClr val="1A73E8"/>
                    </a:solidFill>
                  </a:tcPr>
                </a:tc>
                <a:tc>
                  <a:txBody>
                    <a:bodyPr/>
                    <a:lstStyle/>
                    <a:p>
                      <a:pPr algn="ctr"/>
                      <a:r>
                        <a:rPr sz="1000" b="1">
                          <a:solidFill>
                            <a:srgbClr val="FFFFFF"/>
                          </a:solidFill>
                        </a:rPr>
                        <a:t>Total Sample</a:t>
                      </a:r>
                    </a:p>
                  </a:txBody>
                  <a:tcPr>
                    <a:solidFill>
                      <a:srgbClr val="1A73E8"/>
                    </a:solidFill>
                  </a:tcPr>
                </a:tc>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Estimasi Waktu</a:t>
                      </a:r>
                    </a:p>
                  </a:txBody>
                  <a:tcPr>
                    <a:solidFill>
                      <a:srgbClr val="1A73E8"/>
                    </a:solidFill>
                  </a:tcPr>
                </a:tc>
              </a:tr>
              <a:tr h="365760">
                <a:tc>
                  <a:txBody>
                    <a:bodyPr/>
                    <a:lstStyle/>
                    <a:p>
                      <a:pPr algn="l"/>
                      <a:r>
                        <a:rPr sz="1000">
                          <a:solidFill>
                            <a:srgbClr val="202020"/>
                          </a:solidFill>
                        </a:rPr>
                        <a:t>A</a:t>
                      </a:r>
                    </a:p>
                  </a:txBody>
                  <a:tcPr>
                    <a:solidFill>
                      <a:srgbClr val="E8F0FE"/>
                    </a:solidFill>
                  </a:tcPr>
                </a:tc>
                <a:tc>
                  <a:txBody>
                    <a:bodyPr/>
                    <a:lstStyle/>
                    <a:p>
                      <a:pPr algn="ctr"/>
                      <a:r>
                        <a:rPr sz="1000">
                          <a:solidFill>
                            <a:srgbClr val="202020"/>
                          </a:solidFill>
                        </a:rPr>
                        <a:t>1,938</a:t>
                      </a:r>
                    </a:p>
                  </a:txBody>
                  <a:tcPr>
                    <a:solidFill>
                      <a:srgbClr val="E8F0FE"/>
                    </a:solidFill>
                  </a:tcPr>
                </a:tc>
                <a:tc>
                  <a:txBody>
                    <a:bodyPr/>
                    <a:lstStyle/>
                    <a:p>
                      <a:pPr algn="ctr"/>
                      <a:r>
                        <a:rPr sz="1000">
                          <a:solidFill>
                            <a:srgbClr val="202020"/>
                          </a:solidFill>
                        </a:rPr>
                        <a:t>Semua non-neutral + 400 neutral</a:t>
                      </a:r>
                    </a:p>
                  </a:txBody>
                  <a:tcPr>
                    <a:solidFill>
                      <a:srgbClr val="E8F0FE"/>
                    </a:solidFill>
                  </a:tcPr>
                </a:tc>
                <a:tc>
                  <a:txBody>
                    <a:bodyPr/>
                    <a:lstStyle/>
                    <a:p>
                      <a:pPr algn="ctr"/>
                      <a:r>
                        <a:rPr sz="1000">
                          <a:solidFill>
                            <a:srgbClr val="202020"/>
                          </a:solidFill>
                        </a:rPr>
                        <a:t>~8 jam</a:t>
                      </a:r>
                    </a:p>
                  </a:txBody>
                  <a:tcPr>
                    <a:solidFill>
                      <a:srgbClr val="E8F0FE"/>
                    </a:solidFill>
                  </a:tcPr>
                </a:tc>
              </a:tr>
              <a:tr h="365760">
                <a:tc>
                  <a:txBody>
                    <a:bodyPr/>
                    <a:lstStyle/>
                    <a:p>
                      <a:pPr algn="l"/>
                      <a:r>
                        <a:rPr sz="1000">
                          <a:solidFill>
                            <a:srgbClr val="202020"/>
                          </a:solidFill>
                        </a:rPr>
                        <a:t>B</a:t>
                      </a:r>
                    </a:p>
                  </a:txBody>
                  <a:tcPr>
                    <a:solidFill>
                      <a:srgbClr val="FFFFFF"/>
                    </a:solidFill>
                  </a:tcPr>
                </a:tc>
                <a:tc>
                  <a:txBody>
                    <a:bodyPr/>
                    <a:lstStyle/>
                    <a:p>
                      <a:pPr algn="ctr"/>
                      <a:r>
                        <a:rPr sz="1000">
                          <a:solidFill>
                            <a:srgbClr val="202020"/>
                          </a:solidFill>
                        </a:rPr>
                        <a:t>1,067</a:t>
                      </a:r>
                    </a:p>
                  </a:txBody>
                  <a:tcPr>
                    <a:solidFill>
                      <a:srgbClr val="FFFFFF"/>
                    </a:solidFill>
                  </a:tcPr>
                </a:tc>
                <a:tc>
                  <a:txBody>
                    <a:bodyPr/>
                    <a:lstStyle/>
                    <a:p>
                      <a:pPr algn="ctr"/>
                      <a:r>
                        <a:rPr sz="1000">
                          <a:solidFill>
                            <a:srgbClr val="202020"/>
                          </a:solidFill>
                        </a:rPr>
                        <a:t>Stratified 10% per kelas (min. 30)</a:t>
                      </a:r>
                    </a:p>
                  </a:txBody>
                  <a:tcPr>
                    <a:solidFill>
                      <a:srgbClr val="FFFFFF"/>
                    </a:solidFill>
                  </a:tcPr>
                </a:tc>
                <a:tc>
                  <a:txBody>
                    <a:bodyPr/>
                    <a:lstStyle/>
                    <a:p>
                      <a:pPr algn="ctr"/>
                      <a:r>
                        <a:rPr sz="1000">
                          <a:solidFill>
                            <a:srgbClr val="202020"/>
                          </a:solidFill>
                        </a:rPr>
                        <a:t>~4 jam</a:t>
                      </a:r>
                    </a:p>
                  </a:txBody>
                  <a:tcPr>
                    <a:solidFill>
                      <a:srgbClr val="FFFFFF"/>
                    </a:solidFill>
                  </a:tcPr>
                </a:tc>
              </a:tr>
              <a:tr h="365760">
                <a:tc>
                  <a:txBody>
                    <a:bodyPr/>
                    <a:lstStyle/>
                    <a:p>
                      <a:pPr algn="l"/>
                      <a:r>
                        <a:rPr sz="1000">
                          <a:solidFill>
                            <a:srgbClr val="202020"/>
                          </a:solidFill>
                        </a:rPr>
                        <a:t>C</a:t>
                      </a:r>
                    </a:p>
                  </a:txBody>
                  <a:tcPr>
                    <a:solidFill>
                      <a:srgbClr val="E8F0FE"/>
                    </a:solidFill>
                  </a:tcPr>
                </a:tc>
                <a:tc>
                  <a:txBody>
                    <a:bodyPr/>
                    <a:lstStyle/>
                    <a:p>
                      <a:pPr algn="ctr"/>
                      <a:r>
                        <a:rPr sz="1000">
                          <a:solidFill>
                            <a:srgbClr val="202020"/>
                          </a:solidFill>
                        </a:rPr>
                        <a:t>583</a:t>
                      </a:r>
                    </a:p>
                  </a:txBody>
                  <a:tcPr>
                    <a:solidFill>
                      <a:srgbClr val="E8F0FE"/>
                    </a:solidFill>
                  </a:tcPr>
                </a:tc>
                <a:tc>
                  <a:txBody>
                    <a:bodyPr/>
                    <a:lstStyle/>
                    <a:p>
                      <a:pPr algn="ctr"/>
                      <a:r>
                        <a:rPr sz="1000">
                          <a:solidFill>
                            <a:srgbClr val="202020"/>
                          </a:solidFill>
                        </a:rPr>
                        <a:t>Stratified 5% per kelas (min. 30)</a:t>
                      </a:r>
                    </a:p>
                  </a:txBody>
                  <a:tcPr>
                    <a:solidFill>
                      <a:srgbClr val="E8F0FE"/>
                    </a:solidFill>
                  </a:tcPr>
                </a:tc>
                <a:tc>
                  <a:txBody>
                    <a:bodyPr/>
                    <a:lstStyle/>
                    <a:p>
                      <a:pPr algn="ctr"/>
                      <a:r>
                        <a:rPr sz="1000">
                          <a:solidFill>
                            <a:srgbClr val="202020"/>
                          </a:solidFill>
                        </a:rPr>
                        <a:t>~2 jam</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2743200"/>
          <a:ext cx="8229600" cy="2103120"/>
        </p:xfrm>
        <a:graphic>
          <a:graphicData uri="http://schemas.openxmlformats.org/drawingml/2006/table">
            <a:tbl>
              <a:tblPr firstRow="1" bandRow="1">
                <a:tableStyleId>{5C22544A-7EE6-4342-B048-85BDC9FD1C3A}</a:tableStyleId>
              </a:tblPr>
              <a:tblGrid>
                <a:gridCol w="6858000"/>
                <a:gridCol w="1371600"/>
              </a:tblGrid>
              <a:tr h="300445">
                <a:tc>
                  <a:txBody>
                    <a:bodyPr/>
                    <a:lstStyle/>
                    <a:p>
                      <a:pPr algn="ctr"/>
                      <a:r>
                        <a:rPr sz="1000" b="1">
                          <a:solidFill>
                            <a:srgbClr val="FFFFFF"/>
                          </a:solidFill>
                        </a:rPr>
                        <a:t>Fitur Web Tool (Streamlit)</a:t>
                      </a:r>
                    </a:p>
                  </a:txBody>
                  <a:tcPr>
                    <a:solidFill>
                      <a:srgbClr val="1A73E8"/>
                    </a:solidFill>
                  </a:tcPr>
                </a:tc>
                <a:tc>
                  <a:txBody>
                    <a:bodyPr/>
                    <a:lstStyle/>
                    <a:p>
                      <a:pPr algn="ctr"/>
                      <a:r>
                        <a:rPr sz="1000" b="1">
                          <a:solidFill>
                            <a:srgbClr val="FFFFFF"/>
                          </a:solidFill>
                        </a:rPr>
                        <a:t>Status</a:t>
                      </a:r>
                    </a:p>
                  </a:txBody>
                  <a:tcPr>
                    <a:solidFill>
                      <a:srgbClr val="1A73E8"/>
                    </a:solidFill>
                  </a:tcPr>
                </a:tc>
              </a:tr>
              <a:tr h="300445">
                <a:tc>
                  <a:txBody>
                    <a:bodyPr/>
                    <a:lstStyle/>
                    <a:p>
                      <a:pPr algn="l"/>
                      <a:r>
                        <a:rPr sz="900">
                          <a:solidFill>
                            <a:srgbClr val="202020"/>
                          </a:solidFill>
                        </a:rPr>
                        <a:t>Tampilkan gambar wajah + label + confidence score</a:t>
                      </a:r>
                    </a:p>
                  </a:txBody>
                  <a:tcPr>
                    <a:solidFill>
                      <a:srgbClr val="E8F0FE"/>
                    </a:solidFill>
                  </a:tcPr>
                </a:tc>
                <a:tc>
                  <a:txBody>
                    <a:bodyPr/>
                    <a:lstStyle/>
                    <a:p>
                      <a:pPr algn="ctr"/>
                      <a:r>
                        <a:rPr sz="900">
                          <a:solidFill>
                            <a:srgbClr val="202020"/>
                          </a:solidFill>
                        </a:rPr>
                        <a:t>Selesai</a:t>
                      </a:r>
                    </a:p>
                  </a:txBody>
                  <a:tcPr>
                    <a:solidFill>
                      <a:srgbClr val="E8F0FE"/>
                    </a:solidFill>
                  </a:tcPr>
                </a:tc>
              </a:tr>
              <a:tr h="300445">
                <a:tc>
                  <a:txBody>
                    <a:bodyPr/>
                    <a:lstStyle/>
                    <a:p>
                      <a:pPr algn="l"/>
                      <a:r>
                        <a:rPr sz="900">
                          <a:solidFill>
                            <a:srgbClr val="202020"/>
                          </a:solidFill>
                        </a:rPr>
                        <a:t>Klik Setuju / pilih emosi yang benar</a:t>
                      </a:r>
                    </a:p>
                  </a:txBody>
                  <a:tcPr>
                    <a:solidFill>
                      <a:srgbClr val="FFFFFF"/>
                    </a:solidFill>
                  </a:tcPr>
                </a:tc>
                <a:tc>
                  <a:txBody>
                    <a:bodyPr/>
                    <a:lstStyle/>
                    <a:p>
                      <a:pPr algn="ctr"/>
                      <a:r>
                        <a:rPr sz="900">
                          <a:solidFill>
                            <a:srgbClr val="202020"/>
                          </a:solidFill>
                        </a:rPr>
                        <a:t>Selesai</a:t>
                      </a:r>
                    </a:p>
                  </a:txBody>
                  <a:tcPr>
                    <a:solidFill>
                      <a:srgbClr val="FFFFFF"/>
                    </a:solidFill>
                  </a:tcPr>
                </a:tc>
              </a:tr>
              <a:tr h="300445">
                <a:tc>
                  <a:txBody>
                    <a:bodyPr/>
                    <a:lstStyle/>
                    <a:p>
                      <a:pPr algn="l"/>
                      <a:r>
                        <a:rPr sz="900">
                          <a:solidFill>
                            <a:srgbClr val="202020"/>
                          </a:solidFill>
                        </a:rPr>
                        <a:t>Multi-validator, progress terpisah per ahli</a:t>
                      </a:r>
                    </a:p>
                  </a:txBody>
                  <a:tcPr>
                    <a:solidFill>
                      <a:srgbClr val="E8F0FE"/>
                    </a:solidFill>
                  </a:tcPr>
                </a:tc>
                <a:tc>
                  <a:txBody>
                    <a:bodyPr/>
                    <a:lstStyle/>
                    <a:p>
                      <a:pPr algn="ctr"/>
                      <a:r>
                        <a:rPr sz="900">
                          <a:solidFill>
                            <a:srgbClr val="202020"/>
                          </a:solidFill>
                        </a:rPr>
                        <a:t>Selesai</a:t>
                      </a:r>
                    </a:p>
                  </a:txBody>
                  <a:tcPr>
                    <a:solidFill>
                      <a:srgbClr val="E8F0FE"/>
                    </a:solidFill>
                  </a:tcPr>
                </a:tc>
              </a:tr>
              <a:tr h="300445">
                <a:tc>
                  <a:txBody>
                    <a:bodyPr/>
                    <a:lstStyle/>
                    <a:p>
                      <a:pPr algn="l"/>
                      <a:r>
                        <a:rPr sz="900">
                          <a:solidFill>
                            <a:srgbClr val="202020"/>
                          </a:solidFill>
                        </a:rPr>
                        <a:t>Auto-hitung Cohen's Kappa &amp; inter-rater agreement</a:t>
                      </a:r>
                    </a:p>
                  </a:txBody>
                  <a:tcPr>
                    <a:solidFill>
                      <a:srgbClr val="FFFFFF"/>
                    </a:solidFill>
                  </a:tcPr>
                </a:tc>
                <a:tc>
                  <a:txBody>
                    <a:bodyPr/>
                    <a:lstStyle/>
                    <a:p>
                      <a:pPr algn="ctr"/>
                      <a:r>
                        <a:rPr sz="900">
                          <a:solidFill>
                            <a:srgbClr val="202020"/>
                          </a:solidFill>
                        </a:rPr>
                        <a:t>Selesai</a:t>
                      </a:r>
                    </a:p>
                  </a:txBody>
                  <a:tcPr>
                    <a:solidFill>
                      <a:srgbClr val="FFFFFF"/>
                    </a:solidFill>
                  </a:tcPr>
                </a:tc>
              </a:tr>
              <a:tr h="300445">
                <a:tc>
                  <a:txBody>
                    <a:bodyPr/>
                    <a:lstStyle/>
                    <a:p>
                      <a:pPr algn="l"/>
                      <a:r>
                        <a:rPr sz="900">
                          <a:solidFill>
                            <a:srgbClr val="202020"/>
                          </a:solidFill>
                        </a:rPr>
                        <a:t>Download hasil CSV</a:t>
                      </a:r>
                    </a:p>
                  </a:txBody>
                  <a:tcPr>
                    <a:solidFill>
                      <a:srgbClr val="E8F0FE"/>
                    </a:solidFill>
                  </a:tcPr>
                </a:tc>
                <a:tc>
                  <a:txBody>
                    <a:bodyPr/>
                    <a:lstStyle/>
                    <a:p>
                      <a:pPr algn="ctr"/>
                      <a:r>
                        <a:rPr sz="900">
                          <a:solidFill>
                            <a:srgbClr val="202020"/>
                          </a:solidFill>
                        </a:rPr>
                        <a:t>Selesai</a:t>
                      </a:r>
                    </a:p>
                  </a:txBody>
                  <a:tcPr>
                    <a:solidFill>
                      <a:srgbClr val="E8F0FE"/>
                    </a:solidFill>
                  </a:tcPr>
                </a:tc>
              </a:tr>
              <a:tr h="300450">
                <a:tc>
                  <a:txBody>
                    <a:bodyPr/>
                    <a:lstStyle/>
                    <a:p>
                      <a:pPr algn="l"/>
                      <a:r>
                        <a:rPr sz="900">
                          <a:solidFill>
                            <a:srgbClr val="202020"/>
                          </a:solidFill>
                        </a:rPr>
                        <a:t>Deploy online (Streamlit Cloud) — tanpa instalasi</a:t>
                      </a:r>
                    </a:p>
                  </a:txBody>
                  <a:tcPr>
                    <a:solidFill>
                      <a:srgbClr val="FFFFFF"/>
                    </a:solidFill>
                  </a:tcPr>
                </a:tc>
                <a:tc>
                  <a:txBody>
                    <a:bodyPr/>
                    <a:lstStyle/>
                    <a:p>
                      <a:pPr algn="ctr"/>
                      <a:r>
                        <a:rPr sz="900">
                          <a:solidFill>
                            <a:srgbClr val="202020"/>
                          </a:solidFill>
                        </a:rPr>
                        <a:t>Siap deploy</a:t>
                      </a:r>
                    </a:p>
                  </a:txBody>
                  <a:tcPr>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Pendekatan Validasi: Expert (146 Sampel) + Self-Supervised Learning</a:t>
            </a:r>
          </a:p>
        </p:txBody>
      </p:sp>
      <p:sp>
        <p:nvSpPr>
          <p:cNvPr id="3" name="TextBox 2"/>
          <p:cNvSpPr txBox="1"/>
          <p:nvPr/>
        </p:nvSpPr>
        <p:spPr>
          <a:xfrm>
            <a:off x="228600" y="777240"/>
            <a:ext cx="1920240" cy="777240"/>
          </a:xfrm>
          <a:prstGeom prst="rect">
            <a:avLst/>
          </a:prstGeom>
          <a:solidFill>
            <a:srgbClr val="1A73E8"/>
          </a:solidFill>
        </p:spPr>
        <p:txBody>
          <a:bodyPr wrap="square">
            <a:spAutoFit/>
          </a:bodyPr>
          <a:lstStyle/>
          <a:p>
            <a:pPr algn="ctr"/>
            <a:r>
              <a:rPr sz="1000" b="1" i="0">
                <a:solidFill>
                  <a:srgbClr val="FFFFFF"/>
                </a:solidFill>
              </a:rPr>
              <a:t>Total Dataset</a:t>
            </a:r>
          </a:p>
          <a:p>
            <a:pPr algn="ctr"/>
            <a:r>
              <a:rPr sz="950" b="0" i="0">
                <a:solidFill>
                  <a:srgbClr val="FFFFFF"/>
                </a:solidFill>
              </a:rPr>
              <a:t>9,894 sampel</a:t>
            </a:r>
          </a:p>
        </p:txBody>
      </p:sp>
      <p:sp>
        <p:nvSpPr>
          <p:cNvPr id="4" name="TextBox 3"/>
          <p:cNvSpPr txBox="1"/>
          <p:nvPr/>
        </p:nvSpPr>
        <p:spPr>
          <a:xfrm>
            <a:off x="2194560" y="914400"/>
            <a:ext cx="365760" cy="457200"/>
          </a:xfrm>
          <a:prstGeom prst="rect">
            <a:avLst/>
          </a:prstGeom>
          <a:noFill/>
        </p:spPr>
        <p:txBody>
          <a:bodyPr wrap="none">
            <a:spAutoFit/>
          </a:bodyPr>
          <a:lstStyle/>
          <a:p>
            <a:pPr algn="ctr"/>
            <a:r>
              <a:rPr sz="1600" b="1" i="0">
                <a:solidFill>
                  <a:srgbClr val="202020"/>
                </a:solidFill>
              </a:rPr>
              <a:t>&gt;</a:t>
            </a:r>
          </a:p>
        </p:txBody>
      </p:sp>
      <p:sp>
        <p:nvSpPr>
          <p:cNvPr id="5" name="TextBox 4"/>
          <p:cNvSpPr txBox="1"/>
          <p:nvPr/>
        </p:nvSpPr>
        <p:spPr>
          <a:xfrm>
            <a:off x="2606040" y="777240"/>
            <a:ext cx="2377440" cy="777240"/>
          </a:xfrm>
          <a:prstGeom prst="rect">
            <a:avLst/>
          </a:prstGeom>
          <a:solidFill>
            <a:srgbClr val="E65100"/>
          </a:solidFill>
        </p:spPr>
        <p:txBody>
          <a:bodyPr wrap="square">
            <a:spAutoFit/>
          </a:bodyPr>
          <a:lstStyle/>
          <a:p>
            <a:pPr algn="ctr"/>
            <a:r>
              <a:rPr sz="1000" b="1" i="0">
                <a:solidFill>
                  <a:srgbClr val="FFFFFF"/>
                </a:solidFill>
              </a:rPr>
              <a:t>Validasi Ahli</a:t>
            </a:r>
          </a:p>
          <a:p>
            <a:pPr algn="ctr"/>
            <a:r>
              <a:rPr sz="950" b="0" i="0">
                <a:solidFill>
                  <a:srgbClr val="FFFFFF"/>
                </a:solidFill>
              </a:rPr>
              <a:t>146 sampel (1.5%)</a:t>
            </a:r>
          </a:p>
          <a:p>
            <a:pPr algn="ctr"/>
            <a:r>
              <a:rPr sz="950" b="0" i="0">
                <a:solidFill>
                  <a:srgbClr val="FFFFFF"/>
                </a:solidFill>
              </a:rPr>
              <a:t>3 validator psikologi</a:t>
            </a:r>
          </a:p>
        </p:txBody>
      </p:sp>
      <p:sp>
        <p:nvSpPr>
          <p:cNvPr id="6" name="TextBox 5"/>
          <p:cNvSpPr txBox="1"/>
          <p:nvPr/>
        </p:nvSpPr>
        <p:spPr>
          <a:xfrm>
            <a:off x="5029200" y="914400"/>
            <a:ext cx="365760" cy="457200"/>
          </a:xfrm>
          <a:prstGeom prst="rect">
            <a:avLst/>
          </a:prstGeom>
          <a:noFill/>
        </p:spPr>
        <p:txBody>
          <a:bodyPr wrap="none">
            <a:spAutoFit/>
          </a:bodyPr>
          <a:lstStyle/>
          <a:p>
            <a:pPr algn="ctr"/>
            <a:r>
              <a:rPr sz="1600" b="1" i="0">
                <a:solidFill>
                  <a:srgbClr val="202020"/>
                </a:solidFill>
              </a:rPr>
              <a:t>&gt;</a:t>
            </a:r>
          </a:p>
        </p:txBody>
      </p:sp>
      <p:sp>
        <p:nvSpPr>
          <p:cNvPr id="7" name="TextBox 6"/>
          <p:cNvSpPr txBox="1"/>
          <p:nvPr/>
        </p:nvSpPr>
        <p:spPr>
          <a:xfrm>
            <a:off x="5440680" y="777240"/>
            <a:ext cx="2377440" cy="777240"/>
          </a:xfrm>
          <a:prstGeom prst="rect">
            <a:avLst/>
          </a:prstGeom>
          <a:solidFill>
            <a:srgbClr val="0F9D58"/>
          </a:solidFill>
        </p:spPr>
        <p:txBody>
          <a:bodyPr wrap="square">
            <a:spAutoFit/>
          </a:bodyPr>
          <a:lstStyle/>
          <a:p>
            <a:pPr algn="ctr"/>
            <a:r>
              <a:rPr sz="1000" b="1" i="0">
                <a:solidFill>
                  <a:srgbClr val="FFFFFF"/>
                </a:solidFill>
              </a:rPr>
              <a:t>SSL Verification</a:t>
            </a:r>
          </a:p>
          <a:p>
            <a:pPr algn="ctr"/>
            <a:r>
              <a:rPr sz="950" b="0" i="0">
                <a:solidFill>
                  <a:srgbClr val="FFFFFF"/>
                </a:solidFill>
              </a:rPr>
              <a:t>~9,748 sampel (98.5%)</a:t>
            </a:r>
          </a:p>
          <a:p>
            <a:pPr algn="ctr"/>
            <a:r>
              <a:rPr sz="950" b="0" i="0">
                <a:solidFill>
                  <a:srgbClr val="FFFFFF"/>
                </a:solidFill>
              </a:rPr>
              <a:t>ResNet18 embedding</a:t>
            </a:r>
          </a:p>
        </p:txBody>
      </p:sp>
      <p:sp>
        <p:nvSpPr>
          <p:cNvPr id="8" name="TextBox 7"/>
          <p:cNvSpPr txBox="1"/>
          <p:nvPr/>
        </p:nvSpPr>
        <p:spPr>
          <a:xfrm>
            <a:off x="7863840" y="914400"/>
            <a:ext cx="320040" cy="457200"/>
          </a:xfrm>
          <a:prstGeom prst="rect">
            <a:avLst/>
          </a:prstGeom>
          <a:noFill/>
        </p:spPr>
        <p:txBody>
          <a:bodyPr wrap="none">
            <a:spAutoFit/>
          </a:bodyPr>
          <a:lstStyle/>
          <a:p>
            <a:pPr algn="ctr"/>
            <a:r>
              <a:rPr sz="1600" b="1" i="0">
                <a:solidFill>
                  <a:srgbClr val="202020"/>
                </a:solidFill>
              </a:rPr>
              <a:t>&gt;</a:t>
            </a:r>
          </a:p>
        </p:txBody>
      </p:sp>
      <p:sp>
        <p:nvSpPr>
          <p:cNvPr id="9" name="TextBox 8"/>
          <p:cNvSpPr txBox="1"/>
          <p:nvPr/>
        </p:nvSpPr>
        <p:spPr>
          <a:xfrm>
            <a:off x="8211312" y="804672"/>
            <a:ext cx="822960" cy="685800"/>
          </a:xfrm>
          <a:prstGeom prst="rect">
            <a:avLst/>
          </a:prstGeom>
          <a:solidFill>
            <a:srgbClr val="E8F0FE"/>
          </a:solidFill>
        </p:spPr>
        <p:txBody>
          <a:bodyPr wrap="square">
            <a:spAutoFit/>
          </a:bodyPr>
          <a:lstStyle/>
          <a:p>
            <a:pPr algn="ctr"/>
            <a:r>
              <a:rPr sz="850" b="1" i="0">
                <a:solidFill>
                  <a:srgbClr val="202020"/>
                </a:solidFill>
              </a:rPr>
              <a:t>Dataset Valid</a:t>
            </a:r>
          </a:p>
        </p:txBody>
      </p:sp>
      <p:sp>
        <p:nvSpPr>
          <p:cNvPr id="10" name="TextBox 9"/>
          <p:cNvSpPr txBox="1"/>
          <p:nvPr/>
        </p:nvSpPr>
        <p:spPr>
          <a:xfrm>
            <a:off x="228600" y="1627632"/>
            <a:ext cx="8778240" cy="256032"/>
          </a:xfrm>
          <a:prstGeom prst="rect">
            <a:avLst/>
          </a:prstGeom>
          <a:noFill/>
        </p:spPr>
        <p:txBody>
          <a:bodyPr wrap="none">
            <a:spAutoFit/>
          </a:bodyPr>
          <a:lstStyle/>
          <a:p>
            <a:pPr algn="ctr"/>
            <a:r>
              <a:rPr sz="800" b="0" i="1">
                <a:solidFill>
                  <a:srgbClr val="666666"/>
                </a:solidFill>
              </a:rPr>
              <a:t>Mengacu MER2024 (Lian et al., 2024, ACM MM): standar 1% labeled + 99% SSL untuk emotion recognition</a:t>
            </a:r>
          </a:p>
        </p:txBody>
      </p:sp>
      <p:sp>
        <p:nvSpPr>
          <p:cNvPr id="11" name="TextBox 10"/>
          <p:cNvSpPr txBox="1"/>
          <p:nvPr/>
        </p:nvSpPr>
        <p:spPr>
          <a:xfrm>
            <a:off x="228600" y="1965960"/>
            <a:ext cx="5212080" cy="292608"/>
          </a:xfrm>
          <a:prstGeom prst="rect">
            <a:avLst/>
          </a:prstGeom>
          <a:noFill/>
        </p:spPr>
        <p:txBody>
          <a:bodyPr wrap="none">
            <a:spAutoFit/>
          </a:bodyPr>
          <a:lstStyle/>
          <a:p>
            <a:pPr algn="l"/>
            <a:r>
              <a:rPr sz="1000" b="1" i="0">
                <a:solidFill>
                  <a:srgbClr val="202020"/>
                </a:solidFill>
              </a:rPr>
              <a:t>Perbandingan dengan MER2024 (Benchmark Resmi)</a:t>
            </a:r>
          </a:p>
        </p:txBody>
      </p:sp>
      <p:graphicFrame>
        <p:nvGraphicFramePr>
          <p:cNvPr id="12" name="Table 11"/>
          <p:cNvGraphicFramePr>
            <a:graphicFrameLocks noGrp="1"/>
          </p:cNvGraphicFramePr>
          <p:nvPr/>
        </p:nvGraphicFramePr>
        <p:xfrm>
          <a:off x="228600" y="2304288"/>
          <a:ext cx="5212080" cy="2377440"/>
        </p:xfrm>
        <a:graphic>
          <a:graphicData uri="http://schemas.openxmlformats.org/drawingml/2006/table">
            <a:tbl>
              <a:tblPr firstRow="1" bandRow="1"/>
              <a:tblGrid>
                <a:gridCol w="2194560"/>
                <a:gridCol w="1508760"/>
                <a:gridCol w="1508760"/>
              </a:tblGrid>
              <a:tr h="339634">
                <a:tc>
                  <a:txBody>
                    <a:bodyPr/>
                    <a:lstStyle/>
                    <a:p>
                      <a:pPr algn="ctr"/>
                      <a:r>
                        <a:rPr sz="950" b="1">
                          <a:solidFill>
                            <a:srgbClr val="FFFFFF"/>
                          </a:solidFill>
                        </a:rPr>
                        <a:t>Aspek</a:t>
                      </a:r>
                    </a:p>
                  </a:txBody>
                  <a:tcPr>
                    <a:solidFill>
                      <a:srgbClr val="1A73E8"/>
                    </a:solidFill>
                  </a:tcPr>
                </a:tc>
                <a:tc>
                  <a:txBody>
                    <a:bodyPr/>
                    <a:lstStyle/>
                    <a:p>
                      <a:pPr algn="ctr"/>
                      <a:r>
                        <a:rPr sz="950" b="1">
                          <a:solidFill>
                            <a:srgbClr val="FFFFFF"/>
                          </a:solidFill>
                        </a:rPr>
                        <a:t>MER2024</a:t>
                      </a:r>
                    </a:p>
                  </a:txBody>
                  <a:tcPr>
                    <a:solidFill>
                      <a:srgbClr val="1A73E8"/>
                    </a:solidFill>
                  </a:tcPr>
                </a:tc>
                <a:tc>
                  <a:txBody>
                    <a:bodyPr/>
                    <a:lstStyle/>
                    <a:p>
                      <a:pPr algn="ctr"/>
                      <a:r>
                        <a:rPr sz="950" b="1">
                          <a:solidFill>
                            <a:srgbClr val="FFFFFF"/>
                          </a:solidFill>
                        </a:rPr>
                        <a:t>Penelitian Ini</a:t>
                      </a:r>
                    </a:p>
                  </a:txBody>
                  <a:tcPr>
                    <a:solidFill>
                      <a:srgbClr val="1A73E8"/>
                    </a:solidFill>
                  </a:tcPr>
                </a:tc>
              </a:tr>
              <a:tr h="339634">
                <a:tc>
                  <a:txBody>
                    <a:bodyPr/>
                    <a:lstStyle/>
                    <a:p>
                      <a:pPr algn="l"/>
                      <a:r>
                        <a:rPr sz="900" b="1">
                          <a:solidFill>
                            <a:srgbClr val="202020"/>
                          </a:solidFill>
                        </a:rPr>
                        <a:t>Total sampel</a:t>
                      </a:r>
                    </a:p>
                  </a:txBody>
                  <a:tcPr>
                    <a:solidFill>
                      <a:srgbClr val="E8F0FE"/>
                    </a:solidFill>
                  </a:tcPr>
                </a:tc>
                <a:tc>
                  <a:txBody>
                    <a:bodyPr/>
                    <a:lstStyle/>
                    <a:p>
                      <a:pPr algn="ctr"/>
                      <a:r>
                        <a:rPr sz="900" b="0">
                          <a:solidFill>
                            <a:srgbClr val="202020"/>
                          </a:solidFill>
                        </a:rPr>
                        <a:t>115,595</a:t>
                      </a:r>
                    </a:p>
                  </a:txBody>
                  <a:tcPr>
                    <a:solidFill>
                      <a:srgbClr val="E8F0FE"/>
                    </a:solidFill>
                  </a:tcPr>
                </a:tc>
                <a:tc>
                  <a:txBody>
                    <a:bodyPr/>
                    <a:lstStyle/>
                    <a:p>
                      <a:pPr algn="ctr"/>
                      <a:r>
                        <a:rPr sz="900" b="0">
                          <a:solidFill>
                            <a:srgbClr val="202020"/>
                          </a:solidFill>
                        </a:rPr>
                        <a:t>9,894</a:t>
                      </a:r>
                    </a:p>
                  </a:txBody>
                  <a:tcPr>
                    <a:solidFill>
                      <a:srgbClr val="E8F0FE"/>
                    </a:solidFill>
                  </a:tcPr>
                </a:tc>
              </a:tr>
              <a:tr h="339634">
                <a:tc>
                  <a:txBody>
                    <a:bodyPr/>
                    <a:lstStyle/>
                    <a:p>
                      <a:pPr algn="l"/>
                      <a:r>
                        <a:rPr sz="900" b="1">
                          <a:solidFill>
                            <a:srgbClr val="202020"/>
                          </a:solidFill>
                        </a:rPr>
                        <a:t>Labeled (divalidasi ahli)</a:t>
                      </a:r>
                    </a:p>
                  </a:txBody>
                  <a:tcPr>
                    <a:solidFill>
                      <a:srgbClr val="FFFFFF"/>
                    </a:solidFill>
                  </a:tcPr>
                </a:tc>
                <a:tc>
                  <a:txBody>
                    <a:bodyPr/>
                    <a:lstStyle/>
                    <a:p>
                      <a:pPr algn="ctr"/>
                      <a:r>
                        <a:rPr sz="900" b="0">
                          <a:solidFill>
                            <a:srgbClr val="202020"/>
                          </a:solidFill>
                        </a:rPr>
                        <a:t>1,169 (1%)</a:t>
                      </a:r>
                    </a:p>
                  </a:txBody>
                  <a:tcPr>
                    <a:solidFill>
                      <a:srgbClr val="FFFFFF"/>
                    </a:solidFill>
                  </a:tcPr>
                </a:tc>
                <a:tc>
                  <a:txBody>
                    <a:bodyPr/>
                    <a:lstStyle/>
                    <a:p>
                      <a:pPr algn="ctr"/>
                      <a:r>
                        <a:rPr sz="900" b="0">
                          <a:solidFill>
                            <a:srgbClr val="202020"/>
                          </a:solidFill>
                        </a:rPr>
                        <a:t>146 (1.5%)</a:t>
                      </a:r>
                    </a:p>
                  </a:txBody>
                  <a:tcPr>
                    <a:solidFill>
                      <a:srgbClr val="FFFFFF"/>
                    </a:solidFill>
                  </a:tcPr>
                </a:tc>
              </a:tr>
              <a:tr h="339634">
                <a:tc>
                  <a:txBody>
                    <a:bodyPr/>
                    <a:lstStyle/>
                    <a:p>
                      <a:pPr algn="l"/>
                      <a:r>
                        <a:rPr sz="900" b="1">
                          <a:solidFill>
                            <a:srgbClr val="202020"/>
                          </a:solidFill>
                        </a:rPr>
                        <a:t>Unlabeled (SSL)</a:t>
                      </a:r>
                    </a:p>
                  </a:txBody>
                  <a:tcPr>
                    <a:solidFill>
                      <a:srgbClr val="E8F0FE"/>
                    </a:solidFill>
                  </a:tcPr>
                </a:tc>
                <a:tc>
                  <a:txBody>
                    <a:bodyPr/>
                    <a:lstStyle/>
                    <a:p>
                      <a:pPr algn="ctr"/>
                      <a:r>
                        <a:rPr sz="900" b="0">
                          <a:solidFill>
                            <a:srgbClr val="202020"/>
                          </a:solidFill>
                        </a:rPr>
                        <a:t>114,426 (99%)</a:t>
                      </a:r>
                    </a:p>
                  </a:txBody>
                  <a:tcPr>
                    <a:solidFill>
                      <a:srgbClr val="E8F0FE"/>
                    </a:solidFill>
                  </a:tcPr>
                </a:tc>
                <a:tc>
                  <a:txBody>
                    <a:bodyPr/>
                    <a:lstStyle/>
                    <a:p>
                      <a:pPr algn="ctr"/>
                      <a:r>
                        <a:rPr sz="900" b="0">
                          <a:solidFill>
                            <a:srgbClr val="202020"/>
                          </a:solidFill>
                        </a:rPr>
                        <a:t>~9,748 (98.5%)</a:t>
                      </a:r>
                    </a:p>
                  </a:txBody>
                  <a:tcPr>
                    <a:solidFill>
                      <a:srgbClr val="E8F0FE"/>
                    </a:solidFill>
                  </a:tcPr>
                </a:tc>
              </a:tr>
              <a:tr h="339634">
                <a:tc>
                  <a:txBody>
                    <a:bodyPr/>
                    <a:lstStyle/>
                    <a:p>
                      <a:pPr algn="l"/>
                      <a:r>
                        <a:rPr sz="900" b="1">
                          <a:solidFill>
                            <a:srgbClr val="202020"/>
                          </a:solidFill>
                        </a:rPr>
                        <a:t>Jumlah anotator</a:t>
                      </a:r>
                    </a:p>
                  </a:txBody>
                  <a:tcPr>
                    <a:solidFill>
                      <a:srgbClr val="FFFFFF"/>
                    </a:solidFill>
                  </a:tcPr>
                </a:tc>
                <a:tc>
                  <a:txBody>
                    <a:bodyPr/>
                    <a:lstStyle/>
                    <a:p>
                      <a:pPr algn="ctr"/>
                      <a:r>
                        <a:rPr sz="900" b="0">
                          <a:solidFill>
                            <a:srgbClr val="202020"/>
                          </a:solidFill>
                        </a:rPr>
                        <a:t>5 orang</a:t>
                      </a:r>
                    </a:p>
                  </a:txBody>
                  <a:tcPr>
                    <a:solidFill>
                      <a:srgbClr val="FFFFFF"/>
                    </a:solidFill>
                  </a:tcPr>
                </a:tc>
                <a:tc>
                  <a:txBody>
                    <a:bodyPr/>
                    <a:lstStyle/>
                    <a:p>
                      <a:pPr algn="ctr"/>
                      <a:r>
                        <a:rPr sz="900" b="0">
                          <a:solidFill>
                            <a:srgbClr val="202020"/>
                          </a:solidFill>
                        </a:rPr>
                        <a:t>3 orang</a:t>
                      </a:r>
                    </a:p>
                  </a:txBody>
                  <a:tcPr>
                    <a:solidFill>
                      <a:srgbClr val="FFFFFF"/>
                    </a:solidFill>
                  </a:tcPr>
                </a:tc>
              </a:tr>
              <a:tr h="339634">
                <a:tc>
                  <a:txBody>
                    <a:bodyPr/>
                    <a:lstStyle/>
                    <a:p>
                      <a:pPr algn="l"/>
                      <a:r>
                        <a:rPr sz="900" b="1">
                          <a:solidFill>
                            <a:srgbClr val="202020"/>
                          </a:solidFill>
                        </a:rPr>
                        <a:t>Threshold agreement</a:t>
                      </a:r>
                    </a:p>
                  </a:txBody>
                  <a:tcPr>
                    <a:solidFill>
                      <a:srgbClr val="E8F0FE"/>
                    </a:solidFill>
                  </a:tcPr>
                </a:tc>
                <a:tc>
                  <a:txBody>
                    <a:bodyPr/>
                    <a:lstStyle/>
                    <a:p>
                      <a:pPr algn="ctr"/>
                      <a:r>
                        <a:rPr sz="900" b="0">
                          <a:solidFill>
                            <a:srgbClr val="202020"/>
                          </a:solidFill>
                        </a:rPr>
                        <a:t>4/5 = 80%</a:t>
                      </a:r>
                    </a:p>
                  </a:txBody>
                  <a:tcPr>
                    <a:solidFill>
                      <a:srgbClr val="E8F0FE"/>
                    </a:solidFill>
                  </a:tcPr>
                </a:tc>
                <a:tc>
                  <a:txBody>
                    <a:bodyPr/>
                    <a:lstStyle/>
                    <a:p>
                      <a:pPr algn="ctr"/>
                      <a:r>
                        <a:rPr sz="900" b="0">
                          <a:solidFill>
                            <a:srgbClr val="202020"/>
                          </a:solidFill>
                        </a:rPr>
                        <a:t>2/3 = 67%</a:t>
                      </a:r>
                    </a:p>
                  </a:txBody>
                  <a:tcPr>
                    <a:solidFill>
                      <a:srgbClr val="E8F0FE"/>
                    </a:solidFill>
                  </a:tcPr>
                </a:tc>
              </a:tr>
              <a:tr h="339636">
                <a:tc>
                  <a:txBody>
                    <a:bodyPr/>
                    <a:lstStyle/>
                    <a:p>
                      <a:pPr algn="l"/>
                      <a:r>
                        <a:rPr sz="900" b="1">
                          <a:solidFill>
                            <a:srgbClr val="202020"/>
                          </a:solidFill>
                        </a:rPr>
                        <a:t>Metrik kesepakatan</a:t>
                      </a:r>
                    </a:p>
                  </a:txBody>
                  <a:tcPr>
                    <a:solidFill>
                      <a:srgbClr val="FFFFFF"/>
                    </a:solidFill>
                  </a:tcPr>
                </a:tc>
                <a:tc>
                  <a:txBody>
                    <a:bodyPr/>
                    <a:lstStyle/>
                    <a:p>
                      <a:pPr algn="ctr"/>
                      <a:r>
                        <a:rPr sz="900" b="0">
                          <a:solidFill>
                            <a:srgbClr val="202020"/>
                          </a:solidFill>
                        </a:rPr>
                        <a:t>Agreement rate</a:t>
                      </a:r>
                    </a:p>
                  </a:txBody>
                  <a:tcPr>
                    <a:solidFill>
                      <a:srgbClr val="FFFFFF"/>
                    </a:solidFill>
                  </a:tcPr>
                </a:tc>
                <a:tc>
                  <a:txBody>
                    <a:bodyPr/>
                    <a:lstStyle/>
                    <a:p>
                      <a:pPr algn="ctr"/>
                      <a:r>
                        <a:rPr sz="900" b="0">
                          <a:solidFill>
                            <a:srgbClr val="202020"/>
                          </a:solidFill>
                        </a:rPr>
                        <a:t>Fleiss' Kappa &gt;= 0.61</a:t>
                      </a:r>
                    </a:p>
                  </a:txBody>
                  <a:tcPr>
                    <a:solidFill>
                      <a:srgbClr val="FFFFFF"/>
                    </a:solidFill>
                  </a:tcPr>
                </a:tc>
              </a:tr>
            </a:tbl>
          </a:graphicData>
        </a:graphic>
      </p:graphicFrame>
      <p:sp>
        <p:nvSpPr>
          <p:cNvPr id="13" name="TextBox 12"/>
          <p:cNvSpPr txBox="1"/>
          <p:nvPr/>
        </p:nvSpPr>
        <p:spPr>
          <a:xfrm>
            <a:off x="5623560" y="1965960"/>
            <a:ext cx="3291840" cy="292608"/>
          </a:xfrm>
          <a:prstGeom prst="rect">
            <a:avLst/>
          </a:prstGeom>
          <a:noFill/>
        </p:spPr>
        <p:txBody>
          <a:bodyPr wrap="none">
            <a:spAutoFit/>
          </a:bodyPr>
          <a:lstStyle/>
          <a:p>
            <a:pPr algn="l"/>
            <a:r>
              <a:rPr sz="1000" b="1" i="0">
                <a:solidFill>
                  <a:srgbClr val="202020"/>
                </a:solidFill>
              </a:rPr>
              <a:t>Detail Validasi</a:t>
            </a:r>
          </a:p>
        </p:txBody>
      </p:sp>
      <p:sp>
        <p:nvSpPr>
          <p:cNvPr id="14" name="TextBox 13"/>
          <p:cNvSpPr txBox="1"/>
          <p:nvPr/>
        </p:nvSpPr>
        <p:spPr>
          <a:xfrm>
            <a:off x="5623560" y="2304288"/>
            <a:ext cx="3291840" cy="2377440"/>
          </a:xfrm>
          <a:prstGeom prst="rect">
            <a:avLst/>
          </a:prstGeom>
          <a:solidFill>
            <a:srgbClr val="F1F3F4"/>
          </a:solidFill>
        </p:spPr>
        <p:txBody>
          <a:bodyPr wrap="square">
            <a:spAutoFit/>
          </a:bodyPr>
          <a:lstStyle/>
          <a:p>
            <a:pPr algn="l"/>
            <a:r>
              <a:rPr sz="950" b="1" i="0">
                <a:solidFill>
                  <a:srgbClr val="202020"/>
                </a:solidFill>
              </a:rPr>
              <a:t>3 validator psikologi</a:t>
            </a:r>
          </a:p>
          <a:p>
            <a:pPr algn="l"/>
            <a:r>
              <a:rPr sz="950" b="0" i="0">
                <a:solidFill>
                  <a:srgbClr val="202020"/>
                </a:solidFill>
              </a:rPr>
              <a:t>(mahasiswa S2/S3 psikologi)</a:t>
            </a:r>
          </a:p>
          <a:p>
            <a:pPr algn="l"/>
            <a:r>
              <a:rPr sz="950" b="0" i="0">
                <a:solidFill>
                  <a:srgbClr val="202020"/>
                </a:solidFill>
              </a:rPr>
              <a:t/>
            </a:r>
          </a:p>
          <a:p>
            <a:pPr algn="l"/>
            <a:r>
              <a:rPr sz="950" b="0" i="0">
                <a:solidFill>
                  <a:srgbClr val="202020"/>
                </a:solidFill>
              </a:rPr>
              <a:t>Masing-masing validasi 146 sampel</a:t>
            </a:r>
          </a:p>
          <a:p>
            <a:pPr algn="l"/>
            <a:r>
              <a:rPr sz="950" b="0" i="0">
                <a:solidFill>
                  <a:srgbClr val="202020"/>
                </a:solidFill>
              </a:rPr>
              <a:t>secara independen</a:t>
            </a:r>
          </a:p>
          <a:p>
            <a:pPr algn="l"/>
            <a:r>
              <a:rPr sz="950" b="0" i="0">
                <a:solidFill>
                  <a:srgbClr val="202020"/>
                </a:solidFill>
              </a:rPr>
              <a:t/>
            </a:r>
          </a:p>
          <a:p>
            <a:pPr algn="l"/>
            <a:r>
              <a:rPr sz="950" b="0" i="0">
                <a:solidFill>
                  <a:srgbClr val="202020"/>
                </a:solidFill>
              </a:rPr>
              <a:t>Hitung Fleiss' Kappa (3+ rater)</a:t>
            </a:r>
          </a:p>
          <a:p>
            <a:pPr algn="l"/>
            <a:r>
              <a:rPr sz="950" b="0" i="0">
                <a:solidFill>
                  <a:srgbClr val="202020"/>
                </a:solidFill>
              </a:rPr>
              <a:t>Target: k &gt;= 0.61 (substantial)</a:t>
            </a:r>
          </a:p>
          <a:p>
            <a:pPr algn="l"/>
            <a:r>
              <a:rPr sz="950" b="0" i="0">
                <a:solidFill>
                  <a:srgbClr val="202020"/>
                </a:solidFill>
              </a:rPr>
              <a:t/>
            </a:r>
          </a:p>
          <a:p>
            <a:pPr algn="l"/>
            <a:r>
              <a:rPr sz="950" b="0" i="0">
                <a:solidFill>
                  <a:srgbClr val="202020"/>
                </a:solidFill>
              </a:rPr>
              <a:t>Sampling: stratified per kelas</a:t>
            </a:r>
          </a:p>
          <a:p>
            <a:pPr algn="l"/>
            <a:r>
              <a:rPr sz="950" b="0" i="0">
                <a:solidFill>
                  <a:srgbClr val="202020"/>
                </a:solidFill>
              </a:rPr>
              <a:t>Tool: web app Streamlit</a:t>
            </a:r>
          </a:p>
        </p:txBody>
      </p:sp>
      <p:sp>
        <p:nvSpPr>
          <p:cNvPr id="15" name="TextBox 14"/>
          <p:cNvSpPr txBox="1"/>
          <p:nvPr/>
        </p:nvSpPr>
        <p:spPr>
          <a:xfrm>
            <a:off x="228600" y="4754880"/>
            <a:ext cx="8778240" cy="320040"/>
          </a:xfrm>
          <a:prstGeom prst="rect">
            <a:avLst/>
          </a:prstGeom>
          <a:noFill/>
        </p:spPr>
        <p:txBody>
          <a:bodyPr wrap="square">
            <a:spAutoFit/>
          </a:bodyPr>
          <a:lstStyle/>
          <a:p>
            <a:pPr algn="l"/>
            <a:r>
              <a:rPr sz="750" b="0" i="1">
                <a:solidFill>
                  <a:srgbClr val="666666"/>
                </a:solidFill>
              </a:rPr>
              <a:t>Lian, Z., et al. (2024). MER 2024: Semi-Supervised Learning, Noise Robustness, and Open-Vocabulary Multimodal Emotion Recognition. ACM MM 2024. arXiv:2404.17113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Perubahan dari Proposal</a:t>
            </a:r>
          </a:p>
        </p:txBody>
      </p:sp>
      <p:graphicFrame>
        <p:nvGraphicFramePr>
          <p:cNvPr id="3" name="Table 2"/>
          <p:cNvGraphicFramePr>
            <a:graphicFrameLocks noGrp="1"/>
          </p:cNvGraphicFramePr>
          <p:nvPr/>
        </p:nvGraphicFramePr>
        <p:xfrm>
          <a:off x="457200" y="1097280"/>
          <a:ext cx="8229600" cy="2286000"/>
        </p:xfrm>
        <a:graphic>
          <a:graphicData uri="http://schemas.openxmlformats.org/drawingml/2006/table">
            <a:tbl>
              <a:tblPr firstRow="1" bandRow="1">
                <a:tableStyleId>{5C22544A-7EE6-4342-B048-85BDC9FD1C3A}</a:tableStyleId>
              </a:tblPr>
              <a:tblGrid>
                <a:gridCol w="1645920"/>
                <a:gridCol w="1645920"/>
                <a:gridCol w="2286000"/>
                <a:gridCol w="2651760"/>
              </a:tblGrid>
              <a:tr h="457200">
                <a:tc>
                  <a:txBody>
                    <a:bodyPr/>
                    <a:lstStyle/>
                    <a:p>
                      <a:pPr algn="ctr"/>
                      <a:r>
                        <a:rPr sz="1000" b="1">
                          <a:solidFill>
                            <a:srgbClr val="FFFFFF"/>
                          </a:solidFill>
                        </a:rPr>
                        <a:t>Aspek</a:t>
                      </a:r>
                    </a:p>
                  </a:txBody>
                  <a:tcPr>
                    <a:solidFill>
                      <a:srgbClr val="1A73E8"/>
                    </a:solidFill>
                  </a:tcPr>
                </a:tc>
                <a:tc>
                  <a:txBody>
                    <a:bodyPr/>
                    <a:lstStyle/>
                    <a:p>
                      <a:pPr algn="ctr"/>
                      <a:r>
                        <a:rPr sz="1000" b="1">
                          <a:solidFill>
                            <a:srgbClr val="FFFFFF"/>
                          </a:solidFill>
                        </a:rPr>
                        <a:t>Di Proposal</a:t>
                      </a:r>
                    </a:p>
                  </a:txBody>
                  <a:tcPr>
                    <a:solidFill>
                      <a:srgbClr val="1A73E8"/>
                    </a:solidFill>
                  </a:tcPr>
                </a:tc>
                <a:tc>
                  <a:txBody>
                    <a:bodyPr/>
                    <a:lstStyle/>
                    <a:p>
                      <a:pPr algn="ctr"/>
                      <a:r>
                        <a:rPr sz="1000" b="1">
                          <a:solidFill>
                            <a:srgbClr val="FFFFFF"/>
                          </a:solidFill>
                        </a:rPr>
                        <a:t>Implementasi</a:t>
                      </a:r>
                    </a:p>
                  </a:txBody>
                  <a:tcPr>
                    <a:solidFill>
                      <a:srgbClr val="1A73E8"/>
                    </a:solidFill>
                  </a:tcPr>
                </a:tc>
                <a:tc>
                  <a:txBody>
                    <a:bodyPr/>
                    <a:lstStyle/>
                    <a:p>
                      <a:pPr algn="ctr"/>
                      <a:r>
                        <a:rPr sz="1000" b="1">
                          <a:solidFill>
                            <a:srgbClr val="FFFFFF"/>
                          </a:solidFill>
                        </a:rPr>
                        <a:t>Alasan</a:t>
                      </a:r>
                    </a:p>
                  </a:txBody>
                  <a:tcPr>
                    <a:solidFill>
                      <a:srgbClr val="1A73E8"/>
                    </a:solidFill>
                  </a:tcPr>
                </a:tc>
              </a:tr>
              <a:tr h="457200">
                <a:tc>
                  <a:txBody>
                    <a:bodyPr/>
                    <a:lstStyle/>
                    <a:p>
                      <a:pPr algn="l"/>
                      <a:r>
                        <a:rPr sz="1000">
                          <a:solidFill>
                            <a:srgbClr val="202020"/>
                          </a:solidFill>
                        </a:rPr>
                        <a:t>Face detection</a:t>
                      </a:r>
                    </a:p>
                  </a:txBody>
                  <a:tcPr>
                    <a:solidFill>
                      <a:srgbClr val="E8F0FE"/>
                    </a:solidFill>
                  </a:tcPr>
                </a:tc>
                <a:tc>
                  <a:txBody>
                    <a:bodyPr/>
                    <a:lstStyle/>
                    <a:p>
                      <a:pPr algn="ctr"/>
                      <a:r>
                        <a:rPr sz="1000">
                          <a:solidFill>
                            <a:srgbClr val="202020"/>
                          </a:solidFill>
                        </a:rPr>
                        <a:t>dlib</a:t>
                      </a:r>
                    </a:p>
                  </a:txBody>
                  <a:tcPr>
                    <a:solidFill>
                      <a:srgbClr val="E8F0FE"/>
                    </a:solidFill>
                  </a:tcPr>
                </a:tc>
                <a:tc>
                  <a:txBody>
                    <a:bodyPr/>
                    <a:lstStyle/>
                    <a:p>
                      <a:pPr algn="ctr"/>
                      <a:r>
                        <a:rPr sz="1000">
                          <a:solidFill>
                            <a:srgbClr val="202020"/>
                          </a:solidFill>
                        </a:rPr>
                        <a:t>MediaPipe</a:t>
                      </a:r>
                    </a:p>
                  </a:txBody>
                  <a:tcPr>
                    <a:solidFill>
                      <a:srgbClr val="E8F0FE"/>
                    </a:solidFill>
                  </a:tcPr>
                </a:tc>
                <a:tc>
                  <a:txBody>
                    <a:bodyPr/>
                    <a:lstStyle/>
                    <a:p>
                      <a:pPr algn="ctr"/>
                      <a:r>
                        <a:rPr sz="1000">
                          <a:solidFill>
                            <a:srgbClr val="202020"/>
                          </a:solidFill>
                        </a:rPr>
                        <a:t>dlib gagal deteksi side view (batch 2)</a:t>
                      </a:r>
                    </a:p>
                  </a:txBody>
                  <a:tcPr>
                    <a:solidFill>
                      <a:srgbClr val="E8F0FE"/>
                    </a:solidFill>
                  </a:tcPr>
                </a:tc>
              </a:tr>
              <a:tr h="457200">
                <a:tc>
                  <a:txBody>
                    <a:bodyPr/>
                    <a:lstStyle/>
                    <a:p>
                      <a:pPr algn="l"/>
                      <a:r>
                        <a:rPr sz="1000">
                          <a:solidFill>
                            <a:srgbClr val="202020"/>
                          </a:solidFill>
                        </a:rPr>
                        <a:t>Landmark</a:t>
                      </a:r>
                    </a:p>
                  </a:txBody>
                  <a:tcPr>
                    <a:solidFill>
                      <a:srgbClr val="FFFFFF"/>
                    </a:solidFill>
                  </a:tcPr>
                </a:tc>
                <a:tc>
                  <a:txBody>
                    <a:bodyPr/>
                    <a:lstStyle/>
                    <a:p>
                      <a:pPr algn="ctr"/>
                      <a:r>
                        <a:rPr sz="1000">
                          <a:solidFill>
                            <a:srgbClr val="202020"/>
                          </a:solidFill>
                        </a:rPr>
                        <a:t>68 titik (dlib)</a:t>
                      </a:r>
                    </a:p>
                  </a:txBody>
                  <a:tcPr>
                    <a:solidFill>
                      <a:srgbClr val="FFFFFF"/>
                    </a:solidFill>
                  </a:tcPr>
                </a:tc>
                <a:tc>
                  <a:txBody>
                    <a:bodyPr/>
                    <a:lstStyle/>
                    <a:p>
                      <a:pPr algn="ctr"/>
                      <a:r>
                        <a:rPr sz="1000">
                          <a:solidFill>
                            <a:srgbClr val="202020"/>
                          </a:solidFill>
                        </a:rPr>
                        <a:t>68 titik (mapped dari MediaPipe)</a:t>
                      </a:r>
                    </a:p>
                  </a:txBody>
                  <a:tcPr>
                    <a:solidFill>
                      <a:srgbClr val="FFFFFF"/>
                    </a:solidFill>
                  </a:tcPr>
                </a:tc>
                <a:tc>
                  <a:txBody>
                    <a:bodyPr/>
                    <a:lstStyle/>
                    <a:p>
                      <a:pPr algn="ctr"/>
                      <a:r>
                        <a:rPr sz="1000">
                          <a:solidFill>
                            <a:srgbClr val="202020"/>
                          </a:solidFill>
                        </a:rPr>
                        <a:t>Setara — output tetap 136 fitur</a:t>
                      </a:r>
                    </a:p>
                  </a:txBody>
                  <a:tcPr>
                    <a:solidFill>
                      <a:srgbClr val="FFFFFF"/>
                    </a:solidFill>
                  </a:tcPr>
                </a:tc>
              </a:tr>
              <a:tr h="457200">
                <a:tc>
                  <a:txBody>
                    <a:bodyPr/>
                    <a:lstStyle/>
                    <a:p>
                      <a:pPr algn="l"/>
                      <a:r>
                        <a:rPr sz="1000">
                          <a:solidFill>
                            <a:srgbClr val="202020"/>
                          </a:solidFill>
                        </a:rPr>
                        <a:t>Jml mahasiswa</a:t>
                      </a:r>
                    </a:p>
                  </a:txBody>
                  <a:tcPr>
                    <a:solidFill>
                      <a:srgbClr val="E8F0FE"/>
                    </a:solidFill>
                  </a:tcPr>
                </a:tc>
                <a:tc>
                  <a:txBody>
                    <a:bodyPr/>
                    <a:lstStyle/>
                    <a:p>
                      <a:pPr algn="ctr"/>
                      <a:r>
                        <a:rPr sz="1000">
                          <a:solidFill>
                            <a:srgbClr val="202020"/>
                          </a:solidFill>
                        </a:rPr>
                        <a:t>38</a:t>
                      </a:r>
                    </a:p>
                  </a:txBody>
                  <a:tcPr>
                    <a:solidFill>
                      <a:srgbClr val="E8F0FE"/>
                    </a:solidFill>
                  </a:tcPr>
                </a:tc>
                <a:tc>
                  <a:txBody>
                    <a:bodyPr/>
                    <a:lstStyle/>
                    <a:p>
                      <a:pPr algn="ctr"/>
                      <a:r>
                        <a:rPr sz="1000">
                          <a:solidFill>
                            <a:srgbClr val="202020"/>
                          </a:solidFill>
                        </a:rPr>
                        <a:t>37</a:t>
                      </a:r>
                    </a:p>
                  </a:txBody>
                  <a:tcPr>
                    <a:solidFill>
                      <a:srgbClr val="E8F0FE"/>
                    </a:solidFill>
                  </a:tcPr>
                </a:tc>
                <a:tc>
                  <a:txBody>
                    <a:bodyPr/>
                    <a:lstStyle/>
                    <a:p>
                      <a:pPr algn="ctr"/>
                      <a:r>
                        <a:rPr sz="1000">
                          <a:solidFill>
                            <a:srgbClr val="202020"/>
                          </a:solidFill>
                        </a:rPr>
                        <a:t>1 data tidak tersimpan di hardisk</a:t>
                      </a:r>
                    </a:p>
                  </a:txBody>
                  <a:tcPr>
                    <a:solidFill>
                      <a:srgbClr val="E8F0FE"/>
                    </a:solidFill>
                  </a:tcPr>
                </a:tc>
              </a:tr>
              <a:tr h="457200">
                <a:tc>
                  <a:txBody>
                    <a:bodyPr/>
                    <a:lstStyle/>
                    <a:p>
                      <a:pPr algn="l"/>
                      <a:r>
                        <a:rPr sz="1000">
                          <a:solidFill>
                            <a:srgbClr val="202020"/>
                          </a:solidFill>
                        </a:rPr>
                        <a:t>Fusion strategy</a:t>
                      </a:r>
                    </a:p>
                  </a:txBody>
                  <a:tcPr>
                    <a:solidFill>
                      <a:srgbClr val="FFFFFF"/>
                    </a:solidFill>
                  </a:tcPr>
                </a:tc>
                <a:tc>
                  <a:txBody>
                    <a:bodyPr/>
                    <a:lstStyle/>
                    <a:p>
                      <a:pPr algn="ctr"/>
                      <a:r>
                        <a:rPr sz="1000">
                          <a:solidFill>
                            <a:srgbClr val="202020"/>
                          </a:solidFill>
                        </a:rPr>
                        <a:t>Late + Intermediate</a:t>
                      </a:r>
                    </a:p>
                  </a:txBody>
                  <a:tcPr>
                    <a:solidFill>
                      <a:srgbClr val="FFFFFF"/>
                    </a:solidFill>
                  </a:tcPr>
                </a:tc>
                <a:tc>
                  <a:txBody>
                    <a:bodyPr/>
                    <a:lstStyle/>
                    <a:p>
                      <a:pPr algn="ctr"/>
                      <a:r>
                        <a:rPr sz="1000">
                          <a:solidFill>
                            <a:srgbClr val="202020"/>
                          </a:solidFill>
                        </a:rPr>
                        <a:t>Late + Intermediate</a:t>
                      </a:r>
                    </a:p>
                  </a:txBody>
                  <a:tcPr>
                    <a:solidFill>
                      <a:srgbClr val="FFFFFF"/>
                    </a:solidFill>
                  </a:tcPr>
                </a:tc>
                <a:tc>
                  <a:txBody>
                    <a:bodyPr/>
                    <a:lstStyle/>
                    <a:p>
                      <a:pPr algn="ctr"/>
                      <a:r>
                        <a:rPr sz="1000">
                          <a:solidFill>
                            <a:srgbClr val="202020"/>
                          </a:solidFill>
                        </a:rPr>
                        <a:t>Tetap sesuai proposal</a:t>
                      </a:r>
                    </a:p>
                  </a:txBody>
                  <a:tcPr>
                    <a:solidFill>
                      <a:srgbClr val="FFFFFF"/>
                    </a:solidFill>
                  </a:tcPr>
                </a:tc>
              </a:tr>
            </a:tbl>
          </a:graphicData>
        </a:graphic>
      </p:graphicFrame>
      <p:sp>
        <p:nvSpPr>
          <p:cNvPr id="4" name="TextBox 3"/>
          <p:cNvSpPr txBox="1"/>
          <p:nvPr/>
        </p:nvSpPr>
        <p:spPr>
          <a:xfrm>
            <a:off x="457200" y="3657600"/>
            <a:ext cx="8229600" cy="731520"/>
          </a:xfrm>
          <a:prstGeom prst="rect">
            <a:avLst/>
          </a:prstGeom>
          <a:noFill/>
        </p:spPr>
        <p:txBody>
          <a:bodyPr wrap="square">
            <a:spAutoFit/>
          </a:bodyPr>
          <a:lstStyle/>
          <a:p>
            <a:pPr>
              <a:defRPr sz="1000">
                <a:solidFill>
                  <a:srgbClr val="202020"/>
                </a:solidFill>
              </a:defRPr>
            </a:pPr>
            <a:r>
              <a:t>(KONSULTASI 3) Apakah perubahan dlib → MediaPipe perlu direvisi di dokumen proposal,</a:t>
            </a:r>
          </a:p>
          <a:p>
            <a:pPr>
              <a:defRPr sz="1000">
                <a:solidFill>
                  <a:srgbClr val="202020"/>
                </a:solidFill>
              </a:defRPr>
            </a:pPr>
            <a:r>
              <a:t>atau cukup dijelaskan di BAB 4 (Implementasi)?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Rencana Selanjutnya</a:t>
            </a:r>
          </a:p>
        </p:txBody>
      </p:sp>
      <p:graphicFrame>
        <p:nvGraphicFramePr>
          <p:cNvPr id="3" name="Table 2"/>
          <p:cNvGraphicFramePr>
            <a:graphicFrameLocks noGrp="1"/>
          </p:cNvGraphicFramePr>
          <p:nvPr/>
        </p:nvGraphicFramePr>
        <p:xfrm>
          <a:off x="457200" y="1097280"/>
          <a:ext cx="8229600" cy="3657600"/>
        </p:xfrm>
        <a:graphic>
          <a:graphicData uri="http://schemas.openxmlformats.org/drawingml/2006/table">
            <a:tbl>
              <a:tblPr firstRow="1" bandRow="1">
                <a:tableStyleId>{5C22544A-7EE6-4342-B048-85BDC9FD1C3A}</a:tableStyleId>
              </a:tblPr>
              <a:tblGrid>
                <a:gridCol w="457200"/>
                <a:gridCol w="5029200"/>
                <a:gridCol w="2743200"/>
              </a:tblGrid>
              <a:tr h="332509">
                <a:tc>
                  <a:txBody>
                    <a:bodyPr/>
                    <a:lstStyle/>
                    <a:p>
                      <a:pPr algn="ctr"/>
                      <a:r>
                        <a:rPr sz="1000" b="1">
                          <a:solidFill>
                            <a:srgbClr val="FFFFFF"/>
                          </a:solidFill>
                        </a:rPr>
                        <a:t>No</a:t>
                      </a:r>
                    </a:p>
                  </a:txBody>
                  <a:tcPr>
                    <a:solidFill>
                      <a:srgbClr val="1A73E8"/>
                    </a:solidFill>
                  </a:tcPr>
                </a:tc>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Status</a:t>
                      </a:r>
                    </a:p>
                  </a:txBody>
                  <a:tcPr>
                    <a:solidFill>
                      <a:srgbClr val="1A73E8"/>
                    </a:solidFill>
                  </a:tcPr>
                </a:tc>
              </a:tr>
              <a:tr h="332509">
                <a:tc>
                  <a:txBody>
                    <a:bodyPr/>
                    <a:lstStyle/>
                    <a:p>
                      <a:pPr algn="l"/>
                      <a:r>
                        <a:rPr sz="900">
                          <a:solidFill>
                            <a:srgbClr val="202020"/>
                          </a:solidFill>
                        </a:rPr>
                        <a:t>1</a:t>
                      </a:r>
                    </a:p>
                  </a:txBody>
                  <a:tcPr>
                    <a:solidFill>
                      <a:srgbClr val="E8F0FE"/>
                    </a:solidFill>
                  </a:tcPr>
                </a:tc>
                <a:tc>
                  <a:txBody>
                    <a:bodyPr/>
                    <a:lstStyle/>
                    <a:p>
                      <a:pPr algn="ctr"/>
                      <a:r>
                        <a:rPr sz="900">
                          <a:solidFill>
                            <a:srgbClr val="202020"/>
                          </a:solidFill>
                        </a:rPr>
                        <a:t>Pengumpulan data</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2</a:t>
                      </a:r>
                    </a:p>
                  </a:txBody>
                  <a:tcPr>
                    <a:solidFill>
                      <a:srgbClr val="FFFFFF"/>
                    </a:solidFill>
                  </a:tcPr>
                </a:tc>
                <a:tc>
                  <a:txBody>
                    <a:bodyPr/>
                    <a:lstStyle/>
                    <a:p>
                      <a:pPr algn="ctr"/>
                      <a:r>
                        <a:rPr sz="900">
                          <a:solidFill>
                            <a:srgbClr val="202020"/>
                          </a:solidFill>
                        </a:rPr>
                        <a:t>Preprocessing (frame, crop, landmark)</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3</a:t>
                      </a:r>
                    </a:p>
                  </a:txBody>
                  <a:tcPr>
                    <a:solidFill>
                      <a:srgbClr val="E8F0FE"/>
                    </a:solidFill>
                  </a:tcPr>
                </a:tc>
                <a:tc>
                  <a:txBody>
                    <a:bodyPr/>
                    <a:lstStyle/>
                    <a:p>
                      <a:pPr algn="ctr"/>
                      <a:r>
                        <a:rPr sz="900">
                          <a:solidFill>
                            <a:srgbClr val="202020"/>
                          </a:solidFill>
                        </a:rPr>
                        <a:t>Prepare dataset (numpy arrays)</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4</a:t>
                      </a:r>
                    </a:p>
                  </a:txBody>
                  <a:tcPr>
                    <a:solidFill>
                      <a:srgbClr val="FFFFFF"/>
                    </a:solidFill>
                  </a:tcPr>
                </a:tc>
                <a:tc>
                  <a:txBody>
                    <a:bodyPr/>
                    <a:lstStyle/>
                    <a:p>
                      <a:pPr algn="ctr"/>
                      <a:r>
                        <a:rPr sz="900">
                          <a:solidFill>
                            <a:srgbClr val="202020"/>
                          </a:solidFill>
                        </a:rPr>
                        <a:t>Class weights + augmentasi data</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5</a:t>
                      </a:r>
                    </a:p>
                  </a:txBody>
                  <a:tcPr>
                    <a:solidFill>
                      <a:srgbClr val="E8F0FE"/>
                    </a:solidFill>
                  </a:tcPr>
                </a:tc>
                <a:tc>
                  <a:txBody>
                    <a:bodyPr/>
                    <a:lstStyle/>
                    <a:p>
                      <a:pPr algn="ctr"/>
                      <a:r>
                        <a:rPr sz="900">
                          <a:solidFill>
                            <a:srgbClr val="202020"/>
                          </a:solidFill>
                        </a:rPr>
                        <a:t>Training 7-class from scratch (12 eksperimen)</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6</a:t>
                      </a:r>
                    </a:p>
                  </a:txBody>
                  <a:tcPr>
                    <a:solidFill>
                      <a:srgbClr val="FFFFFF"/>
                    </a:solidFill>
                  </a:tcPr>
                </a:tc>
                <a:tc>
                  <a:txBody>
                    <a:bodyPr/>
                    <a:lstStyle/>
                    <a:p>
                      <a:pPr algn="ctr"/>
                      <a:r>
                        <a:rPr sz="900">
                          <a:solidFill>
                            <a:srgbClr val="202020"/>
                          </a:solidFill>
                        </a:rPr>
                        <a:t>Training 4-class from scratch (12 eksperimen)</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7</a:t>
                      </a:r>
                    </a:p>
                  </a:txBody>
                  <a:tcPr>
                    <a:solidFill>
                      <a:srgbClr val="E8F0FE"/>
                    </a:solidFill>
                  </a:tcPr>
                </a:tc>
                <a:tc>
                  <a:txBody>
                    <a:bodyPr/>
                    <a:lstStyle/>
                    <a:p>
                      <a:pPr algn="ctr"/>
                      <a:r>
                        <a:rPr sz="900">
                          <a:solidFill>
                            <a:srgbClr val="202020"/>
                          </a:solidFill>
                        </a:rPr>
                        <a:t>Transfer Learning ResNet18 (24 eksperimen)</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8</a:t>
                      </a:r>
                    </a:p>
                  </a:txBody>
                  <a:tcPr>
                    <a:solidFill>
                      <a:srgbClr val="FFFFFF"/>
                    </a:solidFill>
                  </a:tcPr>
                </a:tc>
                <a:tc>
                  <a:txBody>
                    <a:bodyPr/>
                    <a:lstStyle/>
                    <a:p>
                      <a:pPr algn="ctr"/>
                      <a:r>
                        <a:rPr sz="900">
                          <a:solidFill>
                            <a:srgbClr val="202020"/>
                          </a:solidFill>
                        </a:rPr>
                        <a:t>Tool validasi ahli psikologi (web app)</a:t>
                      </a:r>
                    </a:p>
                  </a:txBody>
                  <a:tcPr>
                    <a:solidFill>
                      <a:srgbClr val="FFFFFF"/>
                    </a:solidFill>
                  </a:tcPr>
                </a:tc>
                <a:tc>
                  <a:txBody>
                    <a:bodyPr/>
                    <a:lstStyle/>
                    <a:p>
                      <a:pPr algn="ctr"/>
                      <a:r>
                        <a:rPr sz="900">
                          <a:solidFill>
                            <a:srgbClr val="202020"/>
                          </a:solidFill>
                        </a:rPr>
                        <a:t>SELESAI — siap deploy</a:t>
                      </a:r>
                    </a:p>
                  </a:txBody>
                  <a:tcPr>
                    <a:solidFill>
                      <a:srgbClr val="FFFFFF"/>
                    </a:solidFill>
                  </a:tcPr>
                </a:tc>
              </a:tr>
              <a:tr h="332509">
                <a:tc>
                  <a:txBody>
                    <a:bodyPr/>
                    <a:lstStyle/>
                    <a:p>
                      <a:pPr algn="l"/>
                      <a:r>
                        <a:rPr sz="900">
                          <a:solidFill>
                            <a:srgbClr val="202020"/>
                          </a:solidFill>
                        </a:rPr>
                        <a:t>9</a:t>
                      </a:r>
                    </a:p>
                  </a:txBody>
                  <a:tcPr>
                    <a:solidFill>
                      <a:srgbClr val="E8F0FE"/>
                    </a:solidFill>
                  </a:tcPr>
                </a:tc>
                <a:tc>
                  <a:txBody>
                    <a:bodyPr/>
                    <a:lstStyle/>
                    <a:p>
                      <a:pPr algn="ctr"/>
                      <a:r>
                        <a:rPr sz="900">
                          <a:solidFill>
                            <a:srgbClr val="202020"/>
                          </a:solidFill>
                        </a:rPr>
                        <a:t>Deploy tool + kirim ke ahli psikologi</a:t>
                      </a:r>
                    </a:p>
                  </a:txBody>
                  <a:tcPr>
                    <a:solidFill>
                      <a:srgbClr val="E8F0FE"/>
                    </a:solidFill>
                  </a:tcPr>
                </a:tc>
                <a:tc>
                  <a:txBody>
                    <a:bodyPr/>
                    <a:lstStyle/>
                    <a:p>
                      <a:pPr algn="ctr"/>
                      <a:r>
                        <a:rPr sz="900">
                          <a:solidFill>
                            <a:srgbClr val="202020"/>
                          </a:solidFill>
                        </a:rPr>
                        <a:t>MENUNGGU KEPUTUSAN</a:t>
                      </a:r>
                    </a:p>
                  </a:txBody>
                  <a:tcPr>
                    <a:solidFill>
                      <a:srgbClr val="E8F0FE"/>
                    </a:solidFill>
                  </a:tcPr>
                </a:tc>
              </a:tr>
              <a:tr h="332510">
                <a:tc>
                  <a:txBody>
                    <a:bodyPr/>
                    <a:lstStyle/>
                    <a:p>
                      <a:pPr algn="l"/>
                      <a:r>
                        <a:rPr sz="900">
                          <a:solidFill>
                            <a:srgbClr val="202020"/>
                          </a:solidFill>
                        </a:rPr>
                        <a:t>10</a:t>
                      </a:r>
                    </a:p>
                  </a:txBody>
                  <a:tcPr>
                    <a:solidFill>
                      <a:srgbClr val="FFFFFF"/>
                    </a:solidFill>
                  </a:tcPr>
                </a:tc>
                <a:tc>
                  <a:txBody>
                    <a:bodyPr/>
                    <a:lstStyle/>
                    <a:p>
                      <a:pPr algn="ctr"/>
                      <a:r>
                        <a:rPr sz="900">
                          <a:solidFill>
                            <a:srgbClr val="202020"/>
                          </a:solidFill>
                        </a:rPr>
                        <a:t>Penulisan BAB 4 &amp; BAB 5</a:t>
                      </a:r>
                    </a:p>
                  </a:txBody>
                  <a:tcPr>
                    <a:solidFill>
                      <a:srgbClr val="FFFFFF"/>
                    </a:solidFill>
                  </a:tcPr>
                </a:tc>
                <a:tc>
                  <a:txBody>
                    <a:bodyPr/>
                    <a:lstStyle/>
                    <a:p>
                      <a:pPr algn="ctr"/>
                      <a:r>
                        <a:rPr sz="900">
                          <a:solidFill>
                            <a:srgbClr val="202020"/>
                          </a:solidFill>
                        </a:rPr>
                        <a:t>SELANJUTNYA</a:t>
                      </a:r>
                    </a:p>
                  </a:txBody>
                  <a:tcPr>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1: 7-Class From Scratch</a:t>
            </a:r>
          </a:p>
        </p:txBody>
      </p:sp>
      <p:sp>
        <p:nvSpPr>
          <p:cNvPr id="2" name="TextBox 1"/>
          <p:cNvSpPr txBox="1"/>
          <p:nvPr/>
        </p:nvSpPr>
        <p:spPr>
          <a:xfrm>
            <a:off x="365760" y="914400"/>
            <a:ext cx="4114800" cy="1920240"/>
          </a:xfrm>
          <a:prstGeom prst="rect">
            <a:avLst/>
          </a:prstGeom>
          <a:noFill/>
          <a:solidFill>
            <a:srgbClr val="E8F0FE"/>
          </a:solidFill>
        </p:spPr>
        <p:txBody>
          <a:bodyPr wrap="square">
            <a:spAutoFit/>
          </a:bodyPr>
          <a:lstStyle/>
          <a:p>
            <a:pPr>
              <a:defRPr sz="1000" b="1">
                <a:solidFill>
                  <a:srgbClr val="202020"/>
                </a:solidFill>
              </a:defRPr>
            </a:pPr>
            <a:r>
              <a:t>4 Model yang Dibandingkan:</a:t>
            </a:r>
          </a:p>
          <a:p>
            <a:pPr>
              <a:defRPr sz="1000">
                <a:solidFill>
                  <a:srgbClr val="202020"/>
                </a:solidFill>
              </a:defRPr>
            </a:pPr>
            <a:r>
              <a:t>CNN                   -- fitur citra wajah 224x224 px</a:t>
            </a:r>
          </a:p>
          <a:p>
            <a:pPr>
              <a:defRPr sz="1000">
                <a:solidFill>
                  <a:srgbClr val="202020"/>
                </a:solidFill>
              </a:defRPr>
            </a:pPr>
            <a:r>
              <a:t>FCNN                  -- fitur landmark geometrik (136 koordinat)</a:t>
            </a:r>
          </a:p>
          <a:p>
            <a:pPr>
              <a:defRPr sz="1000">
                <a:solidFill>
                  <a:srgbClr val="202020"/>
                </a:solidFill>
              </a:defRPr>
            </a:pPr>
            <a:r>
              <a:t>Late Fusion           -- CNN + FCNN digabung di level keputusan</a:t>
            </a:r>
          </a:p>
          <a:p>
            <a:pPr>
              <a:defRPr sz="1000">
                <a:solidFill>
                  <a:srgbClr val="202020"/>
                </a:solidFill>
              </a:defRPr>
            </a:pPr>
            <a:r>
              <a:t>Intermediate Fusion   -- CNN + FCNN digabung di level fitur</a:t>
            </a:r>
          </a:p>
        </p:txBody>
      </p:sp>
      <p:sp>
        <p:nvSpPr>
          <p:cNvPr id="3" name="TextBox 2"/>
          <p:cNvSpPr txBox="1"/>
          <p:nvPr/>
        </p:nvSpPr>
        <p:spPr>
          <a:xfrm>
            <a:off x="4663440" y="914400"/>
            <a:ext cx="4114800" cy="1920240"/>
          </a:xfrm>
          <a:prstGeom prst="rect">
            <a:avLst/>
          </a:prstGeom>
          <a:noFill/>
          <a:solidFill>
            <a:srgbClr val="E8F0FE"/>
          </a:solidFill>
        </p:spPr>
        <p:txBody>
          <a:bodyPr wrap="square">
            <a:spAutoFit/>
          </a:bodyPr>
          <a:lstStyle/>
          <a:p>
            <a:pPr>
              <a:defRPr sz="1000" b="1">
                <a:solidFill>
                  <a:srgbClr val="202020"/>
                </a:solidFill>
              </a:defRPr>
            </a:pPr>
            <a:r>
              <a:t>3 Skenario Penanganan Class Imbalance:</a:t>
            </a:r>
          </a:p>
          <a:p>
            <a:pPr>
              <a:defRPr sz="1000">
                <a:solidFill>
                  <a:srgbClr val="202020"/>
                </a:solidFill>
              </a:defRPr>
            </a:pPr>
            <a:r>
              <a:t>B1 = Baseline: training biasa, tanpa penanganan</a:t>
            </a:r>
          </a:p>
          <a:p>
            <a:pPr>
              <a:defRPr sz="1000">
                <a:solidFill>
                  <a:srgbClr val="202020"/>
                </a:solidFill>
              </a:defRPr>
            </a:pPr>
            <a:r>
              <a:t>B2 = Class Weights (Cui et al., 2019):</a:t>
            </a:r>
          </a:p>
          <a:p>
            <a:pPr>
              <a:defRPr sz="1000">
                <a:solidFill>
                  <a:srgbClr val="202020"/>
                </a:solidFill>
              </a:defRPr>
            </a:pPr>
            <a:r>
              <a:t>     penalty loss lebih besar untuk kelas langka</a:t>
            </a:r>
          </a:p>
          <a:p>
            <a:pPr>
              <a:defRPr sz="1000">
                <a:solidFill>
                  <a:srgbClr val="202020"/>
                </a:solidFill>
              </a:defRPr>
            </a:pPr>
            <a:r>
              <a:t>B3 = Class Weights + Augmentasi:</a:t>
            </a:r>
          </a:p>
          <a:p>
            <a:pPr>
              <a:defRPr sz="1000">
                <a:solidFill>
                  <a:srgbClr val="202020"/>
                </a:solidFill>
              </a:defRPr>
            </a:pPr>
            <a:r>
              <a:t>     flip, rotasi +-15 derajat, brightness</a:t>
            </a:r>
          </a:p>
          <a:p>
            <a:pPr>
              <a:defRPr sz="1000">
                <a:solidFill>
                  <a:srgbClr val="202020"/>
                </a:solidFill>
              </a:defRPr>
            </a:pPr>
            <a:r>
              <a:t>     hanya untuk kelas &lt; 150 sample</a:t>
            </a:r>
          </a:p>
        </p:txBody>
      </p:sp>
      <p:graphicFrame>
        <p:nvGraphicFramePr>
          <p:cNvPr id="4" name="Table 3"/>
          <p:cNvGraphicFramePr>
            <a:graphicFrameLocks noGrp="1"/>
          </p:cNvGraphicFramePr>
          <p:nvPr/>
        </p:nvGraphicFramePr>
        <p:xfrm>
          <a:off x="365760" y="2971800"/>
          <a:ext cx="8412480" cy="777240"/>
        </p:xfrm>
        <a:graphic>
          <a:graphicData uri="http://schemas.openxmlformats.org/drawingml/2006/table">
            <a:tbl>
              <a:tblPr firstRow="1" bandRow="1">
                <a:tableStyleId>{5C22544A-7EE6-4342-B048-85BDC9FD1C3A}</a:tableStyleId>
              </a:tblPr>
              <a:tblGrid>
                <a:gridCol w="1828800"/>
                <a:gridCol w="1645920"/>
                <a:gridCol w="3291840"/>
                <a:gridCol w="914400"/>
                <a:gridCol w="731520"/>
              </a:tblGrid>
              <a:tr h="388620">
                <a:tc>
                  <a:txBody>
                    <a:bodyPr/>
                    <a:lstStyle/>
                    <a:p>
                      <a:pPr algn="ctr"/>
                      <a:r>
                        <a:rPr sz="1000" b="1">
                          <a:solidFill>
                            <a:srgbClr val="FFFFFF"/>
                          </a:solidFill>
                        </a:rPr>
                        <a:t>Konfigurasi</a:t>
                      </a:r>
                    </a:p>
                  </a:txBody>
                  <a:tcPr>
                    <a:solidFill>
                      <a:srgbClr val="1A73E8"/>
                    </a:solidFill>
                  </a:tcPr>
                </a:tc>
                <a:tc>
                  <a:txBody>
                    <a:bodyPr/>
                    <a:lstStyle/>
                    <a:p>
                      <a:pPr algn="ctr"/>
                      <a:r>
                        <a:rPr sz="1000" b="1">
                          <a:solidFill>
                            <a:srgbClr val="FFFFFF"/>
                          </a:solidFill>
                        </a:rPr>
                        <a:t>Jumlah Eksperimen</a:t>
                      </a:r>
                    </a:p>
                  </a:txBody>
                  <a:tcPr>
                    <a:solidFill>
                      <a:srgbClr val="1A73E8"/>
                    </a:solidFill>
                  </a:tcPr>
                </a:tc>
                <a:tc>
                  <a:txBody>
                    <a:bodyPr/>
                    <a:lstStyle/>
                    <a:p>
                      <a:pPr algn="ctr"/>
                      <a:r>
                        <a:rPr sz="1000" b="1">
                          <a:solidFill>
                            <a:srgbClr val="FFFFFF"/>
                          </a:solidFill>
                        </a:rPr>
                        <a:t>Kelas</a:t>
                      </a:r>
                    </a:p>
                  </a:txBody>
                  <a:tcPr>
                    <a:solidFill>
                      <a:srgbClr val="1A73E8"/>
                    </a:solidFill>
                  </a:tcPr>
                </a:tc>
                <a:tc>
                  <a:txBody>
                    <a:bodyPr/>
                    <a:lstStyle/>
                    <a:p>
                      <a:pPr algn="ctr"/>
                      <a:r>
                        <a:rPr sz="1000" b="1">
                          <a:solidFill>
                            <a:srgbClr val="FFFFFF"/>
                          </a:solidFill>
                        </a:rPr>
                        <a:t>GPU</a:t>
                      </a:r>
                    </a:p>
                  </a:txBody>
                  <a:tcPr>
                    <a:solidFill>
                      <a:srgbClr val="1A73E8"/>
                    </a:solidFill>
                  </a:tcPr>
                </a:tc>
                <a:tc>
                  <a:txBody>
                    <a:bodyPr/>
                    <a:lstStyle/>
                    <a:p>
                      <a:pPr algn="ctr"/>
                      <a:r>
                        <a:rPr sz="1000" b="1">
                          <a:solidFill>
                            <a:srgbClr val="FFFFFF"/>
                          </a:solidFill>
                        </a:rPr>
                        <a:t>Metrik</a:t>
                      </a:r>
                    </a:p>
                  </a:txBody>
                  <a:tcPr>
                    <a:solidFill>
                      <a:srgbClr val="1A73E8"/>
                    </a:solidFill>
                  </a:tcPr>
                </a:tc>
              </a:tr>
              <a:tr h="388620">
                <a:tc>
                  <a:txBody>
                    <a:bodyPr/>
                    <a:lstStyle/>
                    <a:p>
                      <a:pPr algn="l"/>
                      <a:r>
                        <a:rPr sz="1000" b="0">
                          <a:solidFill>
                            <a:srgbClr val="202020"/>
                          </a:solidFill>
                        </a:rPr>
                        <a:t>4 model x 3 skenario</a:t>
                      </a:r>
                    </a:p>
                  </a:txBody>
                  <a:tcPr>
                    <a:solidFill>
                      <a:srgbClr val="E8F0FE"/>
                    </a:solidFill>
                  </a:tcPr>
                </a:tc>
                <a:tc>
                  <a:txBody>
                    <a:bodyPr/>
                    <a:lstStyle/>
                    <a:p>
                      <a:pPr algn="ctr"/>
                      <a:r>
                        <a:rPr sz="1000" b="0">
                          <a:solidFill>
                            <a:srgbClr val="202020"/>
                          </a:solidFill>
                        </a:rPr>
                        <a:t>12 eksperimen</a:t>
                      </a:r>
                    </a:p>
                  </a:txBody>
                  <a:tcPr>
                    <a:solidFill>
                      <a:srgbClr val="E8F0FE"/>
                    </a:solidFill>
                  </a:tcPr>
                </a:tc>
                <a:tc>
                  <a:txBody>
                    <a:bodyPr/>
                    <a:lstStyle/>
                    <a:p>
                      <a:pPr algn="ctr"/>
                      <a:r>
                        <a:rPr sz="1000" b="0">
                          <a:solidFill>
                            <a:srgbClr val="202020"/>
                          </a:solidFill>
                        </a:rPr>
                        <a:t>7 kelas (neutral, happy, sad, angry, fearful, disgusted, surprised)</a:t>
                      </a:r>
                    </a:p>
                  </a:txBody>
                  <a:tcPr>
                    <a:solidFill>
                      <a:srgbClr val="E8F0FE"/>
                    </a:solidFill>
                  </a:tcPr>
                </a:tc>
                <a:tc>
                  <a:txBody>
                    <a:bodyPr/>
                    <a:lstStyle/>
                    <a:p>
                      <a:pPr algn="ctr"/>
                      <a:r>
                        <a:rPr sz="1000" b="0">
                          <a:solidFill>
                            <a:srgbClr val="202020"/>
                          </a:solidFill>
                        </a:rPr>
                        <a:t>NVIDIA T4</a:t>
                      </a:r>
                    </a:p>
                  </a:txBody>
                  <a:tcPr>
                    <a:solidFill>
                      <a:srgbClr val="E8F0FE"/>
                    </a:solidFill>
                  </a:tcPr>
                </a:tc>
                <a:tc>
                  <a:txBody>
                    <a:bodyPr/>
                    <a:lstStyle/>
                    <a:p>
                      <a:pPr algn="ctr"/>
                      <a:r>
                        <a:rPr sz="1000" b="0">
                          <a:solidFill>
                            <a:srgbClr val="202020"/>
                          </a:solidFill>
                        </a:rPr>
                        <a:t>Macro F1</a:t>
                      </a:r>
                    </a:p>
                  </a:txBody>
                  <a:tcPr>
                    <a:solidFill>
                      <a:srgbClr val="E8F0FE"/>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Training 7-Class — From Scratch (12 Eksperimen)</a:t>
            </a:r>
          </a:p>
        </p:txBody>
      </p:sp>
      <p:graphicFrame>
        <p:nvGraphicFramePr>
          <p:cNvPr id="3" name="Table 2"/>
          <p:cNvGraphicFramePr>
            <a:graphicFrameLocks noGrp="1"/>
          </p:cNvGraphicFramePr>
          <p:nvPr/>
        </p:nvGraphicFramePr>
        <p:xfrm>
          <a:off x="457200" y="1097280"/>
          <a:ext cx="8229600" cy="3657600"/>
        </p:xfrm>
        <a:graphic>
          <a:graphicData uri="http://schemas.openxmlformats.org/drawingml/2006/table">
            <a:tbl>
              <a:tblPr firstRow="1" bandRow="1">
                <a:tableStyleId>{5C22544A-7EE6-4342-B048-85BDC9FD1C3A}</a:tableStyleId>
              </a:tblPr>
              <a:tblGrid>
                <a:gridCol w="514350"/>
                <a:gridCol w="2263140"/>
                <a:gridCol w="1543050"/>
                <a:gridCol w="1234440"/>
                <a:gridCol w="1234440"/>
                <a:gridCol w="1440180"/>
              </a:tblGrid>
              <a:tr h="332509">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Weighted F1</a:t>
                      </a:r>
                    </a:p>
                  </a:txBody>
                  <a:tcPr>
                    <a:solidFill>
                      <a:srgbClr val="1A73E8"/>
                    </a:solidFill>
                  </a:tcPr>
                </a:tc>
              </a:tr>
              <a:tr h="332509">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FCNN</a:t>
                      </a:r>
                    </a:p>
                  </a:txBody>
                  <a:tcPr>
                    <a:solidFill>
                      <a:srgbClr val="34A853"/>
                    </a:solidFill>
                  </a:tcPr>
                </a:tc>
                <a:tc>
                  <a:txBody>
                    <a:bodyPr/>
                    <a:lstStyle/>
                    <a:p>
                      <a:pPr algn="ctr"/>
                      <a:r>
                        <a:rPr sz="900" b="1">
                          <a:solidFill>
                            <a:srgbClr val="FFFFFF"/>
                          </a:solidFill>
                        </a:rPr>
                        <a:t>B1 Baseline</a:t>
                      </a:r>
                    </a:p>
                  </a:txBody>
                  <a:tcPr>
                    <a:solidFill>
                      <a:srgbClr val="34A853"/>
                    </a:solidFill>
                  </a:tcPr>
                </a:tc>
                <a:tc>
                  <a:txBody>
                    <a:bodyPr/>
                    <a:lstStyle/>
                    <a:p>
                      <a:pPr algn="ctr"/>
                      <a:r>
                        <a:rPr sz="900" b="1">
                          <a:solidFill>
                            <a:srgbClr val="FFFFFF"/>
                          </a:solidFill>
                        </a:rPr>
                        <a:t>95.8%</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0.952</a:t>
                      </a:r>
                    </a:p>
                  </a:txBody>
                  <a:tcPr>
                    <a:solidFill>
                      <a:srgbClr val="34A853"/>
                    </a:solidFill>
                  </a:tcPr>
                </a:tc>
              </a:tr>
              <a:tr h="332509">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95.8%</a:t>
                      </a:r>
                    </a:p>
                  </a:txBody>
                  <a:tcPr>
                    <a:solidFill>
                      <a:srgbClr val="FFFFFF"/>
                    </a:solidFill>
                  </a:tcPr>
                </a:tc>
                <a:tc>
                  <a:txBody>
                    <a:bodyPr/>
                    <a:lstStyle/>
                    <a:p>
                      <a:pPr algn="ctr"/>
                      <a:r>
                        <a:rPr sz="900" b="0">
                          <a:solidFill>
                            <a:srgbClr val="202020"/>
                          </a:solidFill>
                        </a:rPr>
                        <a:t>0.230</a:t>
                      </a:r>
                    </a:p>
                  </a:txBody>
                  <a:tcPr>
                    <a:solidFill>
                      <a:srgbClr val="FFFFFF"/>
                    </a:solidFill>
                  </a:tcPr>
                </a:tc>
                <a:tc>
                  <a:txBody>
                    <a:bodyPr/>
                    <a:lstStyle/>
                    <a:p>
                      <a:pPr algn="ctr"/>
                      <a:r>
                        <a:rPr sz="900" b="0">
                          <a:solidFill>
                            <a:srgbClr val="202020"/>
                          </a:solidFill>
                        </a:rPr>
                        <a:t>0.951</a:t>
                      </a:r>
                    </a:p>
                  </a:txBody>
                  <a:tcPr>
                    <a:solidFill>
                      <a:srgbClr val="FFFFFF"/>
                    </a:solidFill>
                  </a:tcPr>
                </a:tc>
              </a:tr>
              <a:tr h="332509">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89.1%</a:t>
                      </a:r>
                    </a:p>
                  </a:txBody>
                  <a:tcPr>
                    <a:solidFill>
                      <a:srgbClr val="E8F0FE"/>
                    </a:solidFill>
                  </a:tcPr>
                </a:tc>
                <a:tc>
                  <a:txBody>
                    <a:bodyPr/>
                    <a:lstStyle/>
                    <a:p>
                      <a:pPr algn="ctr"/>
                      <a:r>
                        <a:rPr sz="900" b="0">
                          <a:solidFill>
                            <a:srgbClr val="202020"/>
                          </a:solidFill>
                        </a:rPr>
                        <a:t>0.189</a:t>
                      </a:r>
                    </a:p>
                  </a:txBody>
                  <a:tcPr>
                    <a:solidFill>
                      <a:srgbClr val="E8F0FE"/>
                    </a:solidFill>
                  </a:tcPr>
                </a:tc>
                <a:tc>
                  <a:txBody>
                    <a:bodyPr/>
                    <a:lstStyle/>
                    <a:p>
                      <a:pPr algn="ctr"/>
                      <a:r>
                        <a:rPr sz="900" b="0">
                          <a:solidFill>
                            <a:srgbClr val="202020"/>
                          </a:solidFill>
                        </a:rPr>
                        <a:t>0.912</a:t>
                      </a:r>
                    </a:p>
                  </a:txBody>
                  <a:tcPr>
                    <a:solidFill>
                      <a:srgbClr val="E8F0FE"/>
                    </a:solidFill>
                  </a:tcPr>
                </a:tc>
              </a:tr>
              <a:tr h="332509">
                <a:tc>
                  <a:txBody>
                    <a:bodyPr/>
                    <a:lstStyle/>
                    <a:p>
                      <a:pPr algn="l"/>
                      <a:r>
                        <a:rPr sz="900" b="0">
                          <a:solidFill>
                            <a:srgbClr val="202020"/>
                          </a:solidFill>
                        </a:rPr>
                        <a:t>4</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89.7%</a:t>
                      </a:r>
                    </a:p>
                  </a:txBody>
                  <a:tcPr>
                    <a:solidFill>
                      <a:srgbClr val="FFFFFF"/>
                    </a:solidFill>
                  </a:tcPr>
                </a:tc>
                <a:tc>
                  <a:txBody>
                    <a:bodyPr/>
                    <a:lstStyle/>
                    <a:p>
                      <a:pPr algn="ctr"/>
                      <a:r>
                        <a:rPr sz="900" b="0">
                          <a:solidFill>
                            <a:srgbClr val="202020"/>
                          </a:solidFill>
                        </a:rPr>
                        <a:t>0.189</a:t>
                      </a:r>
                    </a:p>
                  </a:txBody>
                  <a:tcPr>
                    <a:solidFill>
                      <a:srgbClr val="FFFFFF"/>
                    </a:solidFill>
                  </a:tcPr>
                </a:tc>
                <a:tc>
                  <a:txBody>
                    <a:bodyPr/>
                    <a:lstStyle/>
                    <a:p>
                      <a:pPr algn="ctr"/>
                      <a:r>
                        <a:rPr sz="900" b="0">
                          <a:solidFill>
                            <a:srgbClr val="202020"/>
                          </a:solidFill>
                        </a:rPr>
                        <a:t>0.909</a:t>
                      </a:r>
                    </a:p>
                  </a:txBody>
                  <a:tcPr>
                    <a:solidFill>
                      <a:srgbClr val="FFFFFF"/>
                    </a:solidFill>
                  </a:tcPr>
                </a:tc>
              </a:tr>
              <a:tr h="332509">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Late Fusion</a:t>
                      </a:r>
                    </a:p>
                  </a:txBody>
                  <a:tcPr>
                    <a:solidFill>
                      <a:srgbClr val="E8F0FE"/>
                    </a:solidFill>
                  </a:tcPr>
                </a:tc>
                <a:tc>
                  <a:txBody>
                    <a:bodyPr/>
                    <a:lstStyle/>
                    <a:p>
                      <a:pPr algn="ctr"/>
                      <a:r>
                        <a:rPr sz="900" b="0">
                          <a:solidFill>
                            <a:srgbClr val="202020"/>
                          </a:solidFill>
                        </a:rPr>
                        <a:t>B3 Aug</a:t>
                      </a:r>
                    </a:p>
                  </a:txBody>
                  <a:tcPr>
                    <a:solidFill>
                      <a:srgbClr val="E8F0FE"/>
                    </a:solidFill>
                  </a:tcPr>
                </a:tc>
                <a:tc>
                  <a:txBody>
                    <a:bodyPr/>
                    <a:lstStyle/>
                    <a:p>
                      <a:pPr algn="ctr"/>
                      <a:r>
                        <a:rPr sz="900" b="0">
                          <a:solidFill>
                            <a:srgbClr val="202020"/>
                          </a:solidFill>
                        </a:rPr>
                        <a:t>92.5%</a:t>
                      </a:r>
                    </a:p>
                  </a:txBody>
                  <a:tcPr>
                    <a:solidFill>
                      <a:srgbClr val="E8F0FE"/>
                    </a:solidFill>
                  </a:tcPr>
                </a:tc>
                <a:tc>
                  <a:txBody>
                    <a:bodyPr/>
                    <a:lstStyle/>
                    <a:p>
                      <a:pPr algn="ctr"/>
                      <a:r>
                        <a:rPr sz="900" b="0">
                          <a:solidFill>
                            <a:srgbClr val="202020"/>
                          </a:solidFill>
                        </a:rPr>
                        <a:t>0.182</a:t>
                      </a:r>
                    </a:p>
                  </a:txBody>
                  <a:tcPr>
                    <a:solidFill>
                      <a:srgbClr val="E8F0FE"/>
                    </a:solidFill>
                  </a:tcPr>
                </a:tc>
                <a:tc>
                  <a:txBody>
                    <a:bodyPr/>
                    <a:lstStyle/>
                    <a:p>
                      <a:pPr algn="ctr"/>
                      <a:r>
                        <a:rPr sz="900" b="0">
                          <a:solidFill>
                            <a:srgbClr val="202020"/>
                          </a:solidFill>
                        </a:rPr>
                        <a:t>0.929</a:t>
                      </a:r>
                    </a:p>
                  </a:txBody>
                  <a:tcPr>
                    <a:solidFill>
                      <a:srgbClr val="E8F0FE"/>
                    </a:solidFill>
                  </a:tcPr>
                </a:tc>
              </a:tr>
              <a:tr h="332509">
                <a:tc>
                  <a:txBody>
                    <a:bodyPr/>
                    <a:lstStyle/>
                    <a:p>
                      <a:pPr algn="l"/>
                      <a:r>
                        <a:rPr sz="900" b="0">
                          <a:solidFill>
                            <a:srgbClr val="202020"/>
                          </a:solidFill>
                        </a:rPr>
                        <a:t>6</a:t>
                      </a:r>
                    </a:p>
                  </a:txBody>
                  <a:tcPr>
                    <a:solidFill>
                      <a:srgbClr val="FFFFFF"/>
                    </a:solidFill>
                  </a:tcPr>
                </a:tc>
                <a:tc>
                  <a:txBody>
                    <a:bodyPr/>
                    <a:lstStyle/>
                    <a:p>
                      <a:pPr algn="ctr"/>
                      <a:r>
                        <a:rPr sz="900" b="0">
                          <a:solidFill>
                            <a:srgbClr val="202020"/>
                          </a:solidFill>
                        </a:rPr>
                        <a:t>FCNN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92.3%</a:t>
                      </a:r>
                    </a:p>
                  </a:txBody>
                  <a:tcPr>
                    <a:solidFill>
                      <a:srgbClr val="FFFFFF"/>
                    </a:solidFill>
                  </a:tcPr>
                </a:tc>
                <a:tc>
                  <a:txBody>
                    <a:bodyPr/>
                    <a:lstStyle/>
                    <a:p>
                      <a:pPr algn="ctr"/>
                      <a:r>
                        <a:rPr sz="900" b="0">
                          <a:solidFill>
                            <a:srgbClr val="202020"/>
                          </a:solidFill>
                        </a:rPr>
                        <a:t>0.182</a:t>
                      </a:r>
                    </a:p>
                  </a:txBody>
                  <a:tcPr>
                    <a:solidFill>
                      <a:srgbClr val="FFFFFF"/>
                    </a:solidFill>
                  </a:tcPr>
                </a:tc>
                <a:tc>
                  <a:txBody>
                    <a:bodyPr/>
                    <a:lstStyle/>
                    <a:p>
                      <a:pPr algn="ctr"/>
                      <a:r>
                        <a:rPr sz="900" b="0">
                          <a:solidFill>
                            <a:srgbClr val="202020"/>
                          </a:solidFill>
                        </a:rPr>
                        <a:t>0.927</a:t>
                      </a:r>
                    </a:p>
                  </a:txBody>
                  <a:tcPr>
                    <a:solidFill>
                      <a:srgbClr val="FFFFFF"/>
                    </a:solidFill>
                  </a:tcPr>
                </a:tc>
              </a:tr>
              <a:tr h="332509">
                <a:tc>
                  <a:txBody>
                    <a:bodyPr/>
                    <a:lstStyle/>
                    <a:p>
                      <a:pPr algn="l"/>
                      <a:r>
                        <a:rPr sz="900" b="0">
                          <a:solidFill>
                            <a:srgbClr val="202020"/>
                          </a:solidFill>
                        </a:rPr>
                        <a:t>7</a:t>
                      </a:r>
                    </a:p>
                  </a:txBody>
                  <a:tcPr>
                    <a:solidFill>
                      <a:srgbClr val="E8F0FE"/>
                    </a:solidFill>
                  </a:tcPr>
                </a:tc>
                <a:tc>
                  <a:txBody>
                    <a:bodyPr/>
                    <a:lstStyle/>
                    <a:p>
                      <a:pPr algn="ctr"/>
                      <a:r>
                        <a:rPr sz="900" b="0">
                          <a:solidFill>
                            <a:srgbClr val="202020"/>
                          </a:solidFill>
                        </a:rPr>
                        <a:t>Intermediate Fusion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84.5%</a:t>
                      </a:r>
                    </a:p>
                  </a:txBody>
                  <a:tcPr>
                    <a:solidFill>
                      <a:srgbClr val="E8F0FE"/>
                    </a:solidFill>
                  </a:tcPr>
                </a:tc>
                <a:tc>
                  <a:txBody>
                    <a:bodyPr/>
                    <a:lstStyle/>
                    <a:p>
                      <a:pPr algn="ctr"/>
                      <a:r>
                        <a:rPr sz="900" b="0">
                          <a:solidFill>
                            <a:srgbClr val="202020"/>
                          </a:solidFill>
                        </a:rPr>
                        <a:t>0.140</a:t>
                      </a:r>
                    </a:p>
                  </a:txBody>
                  <a:tcPr>
                    <a:solidFill>
                      <a:srgbClr val="E8F0FE"/>
                    </a:solidFill>
                  </a:tcPr>
                </a:tc>
                <a:tc>
                  <a:txBody>
                    <a:bodyPr/>
                    <a:lstStyle/>
                    <a:p>
                      <a:pPr algn="ctr"/>
                      <a:r>
                        <a:rPr sz="900" b="0">
                          <a:solidFill>
                            <a:srgbClr val="202020"/>
                          </a:solidFill>
                        </a:rPr>
                        <a:t>0.881</a:t>
                      </a:r>
                    </a:p>
                  </a:txBody>
                  <a:tcPr>
                    <a:solidFill>
                      <a:srgbClr val="E8F0FE"/>
                    </a:solidFill>
                  </a:tcPr>
                </a:tc>
              </a:tr>
              <a:tr h="332509">
                <a:tc>
                  <a:txBody>
                    <a:bodyPr/>
                    <a:lstStyle/>
                    <a:p>
                      <a:pPr algn="l"/>
                      <a:r>
                        <a:rPr sz="900" b="0">
                          <a:solidFill>
                            <a:srgbClr val="202020"/>
                          </a:solidFill>
                        </a:rPr>
                        <a:t>9</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82.8%</a:t>
                      </a:r>
                    </a:p>
                  </a:txBody>
                  <a:tcPr>
                    <a:solidFill>
                      <a:srgbClr val="FFFFFF"/>
                    </a:solidFill>
                  </a:tcPr>
                </a:tc>
                <a:tc>
                  <a:txBody>
                    <a:bodyPr/>
                    <a:lstStyle/>
                    <a:p>
                      <a:pPr algn="ctr"/>
                      <a:r>
                        <a:rPr sz="900" b="0">
                          <a:solidFill>
                            <a:srgbClr val="202020"/>
                          </a:solidFill>
                        </a:rPr>
                        <a:t>0.134</a:t>
                      </a:r>
                    </a:p>
                  </a:txBody>
                  <a:tcPr>
                    <a:solidFill>
                      <a:srgbClr val="FFFFFF"/>
                    </a:solidFill>
                  </a:tcPr>
                </a:tc>
                <a:tc>
                  <a:txBody>
                    <a:bodyPr/>
                    <a:lstStyle/>
                    <a:p>
                      <a:pPr algn="ctr"/>
                      <a:r>
                        <a:rPr sz="900" b="0">
                          <a:solidFill>
                            <a:srgbClr val="202020"/>
                          </a:solidFill>
                        </a:rPr>
                        <a:t>0.872</a:t>
                      </a:r>
                    </a:p>
                  </a:txBody>
                  <a:tcPr>
                    <a:solidFill>
                      <a:srgbClr val="FFFFFF"/>
                    </a:solidFill>
                  </a:tcPr>
                </a:tc>
              </a:tr>
              <a:tr h="332509">
                <a:tc>
                  <a:txBody>
                    <a:bodyPr/>
                    <a:lstStyle/>
                    <a:p>
                      <a:pPr algn="l"/>
                      <a:r>
                        <a:rPr sz="900" b="0">
                          <a:solidFill>
                            <a:srgbClr val="202020"/>
                          </a:solidFill>
                        </a:rPr>
                        <a:t>10</a:t>
                      </a:r>
                    </a:p>
                  </a:txBody>
                  <a:tcPr>
                    <a:solidFill>
                      <a:srgbClr val="E8F0FE"/>
                    </a:solidFill>
                  </a:tcPr>
                </a:tc>
                <a:tc>
                  <a:txBody>
                    <a:bodyPr/>
                    <a:lstStyle/>
                    <a:p>
                      <a:pPr algn="ctr"/>
                      <a:r>
                        <a:rPr sz="900" b="0">
                          <a:solidFill>
                            <a:srgbClr val="202020"/>
                          </a:solidFill>
                        </a:rPr>
                        <a:t>CNN</a:t>
                      </a:r>
                    </a:p>
                  </a:txBody>
                  <a:tcPr>
                    <a:solidFill>
                      <a:srgbClr val="E8F0FE"/>
                    </a:solidFill>
                  </a:tcPr>
                </a:tc>
                <a:tc>
                  <a:txBody>
                    <a:bodyPr/>
                    <a:lstStyle/>
                    <a:p>
                      <a:pPr algn="ctr"/>
                      <a:r>
                        <a:rPr sz="900" b="0">
                          <a:solidFill>
                            <a:srgbClr val="202020"/>
                          </a:solidFill>
                        </a:rPr>
                        <a:t>B1 Baseline</a:t>
                      </a:r>
                    </a:p>
                  </a:txBody>
                  <a:tcPr>
                    <a:solidFill>
                      <a:srgbClr val="E8F0FE"/>
                    </a:solidFill>
                  </a:tcPr>
                </a:tc>
                <a:tc>
                  <a:txBody>
                    <a:bodyPr/>
                    <a:lstStyle/>
                    <a:p>
                      <a:pPr algn="ctr"/>
                      <a:r>
                        <a:rPr sz="900" b="0">
                          <a:solidFill>
                            <a:srgbClr val="202020"/>
                          </a:solidFill>
                        </a:rPr>
                        <a:t>84.2%</a:t>
                      </a:r>
                    </a:p>
                  </a:txBody>
                  <a:tcPr>
                    <a:solidFill>
                      <a:srgbClr val="E8F0FE"/>
                    </a:solidFill>
                  </a:tcPr>
                </a:tc>
                <a:tc>
                  <a:txBody>
                    <a:bodyPr/>
                    <a:lstStyle/>
                    <a:p>
                      <a:pPr algn="ctr"/>
                      <a:r>
                        <a:rPr sz="900" b="0">
                          <a:solidFill>
                            <a:srgbClr val="202020"/>
                          </a:solidFill>
                        </a:rPr>
                        <a:t>0.133</a:t>
                      </a:r>
                    </a:p>
                  </a:txBody>
                  <a:tcPr>
                    <a:solidFill>
                      <a:srgbClr val="E8F0FE"/>
                    </a:solidFill>
                  </a:tcPr>
                </a:tc>
                <a:tc>
                  <a:txBody>
                    <a:bodyPr/>
                    <a:lstStyle/>
                    <a:p>
                      <a:pPr algn="ctr"/>
                      <a:r>
                        <a:rPr sz="900" b="0">
                          <a:solidFill>
                            <a:srgbClr val="202020"/>
                          </a:solidFill>
                        </a:rPr>
                        <a:t>0.881</a:t>
                      </a:r>
                    </a:p>
                  </a:txBody>
                  <a:tcPr>
                    <a:solidFill>
                      <a:srgbClr val="E8F0FE"/>
                    </a:solidFill>
                  </a:tcPr>
                </a:tc>
              </a:tr>
              <a:tr h="332510">
                <a:tc>
                  <a:txBody>
                    <a:bodyPr/>
                    <a:lstStyle/>
                    <a:p>
                      <a:pPr algn="l"/>
                      <a:r>
                        <a:rPr sz="900" b="0">
                          <a:solidFill>
                            <a:srgbClr val="202020"/>
                          </a:solidFill>
                        </a:rPr>
                        <a:t>12</a:t>
                      </a:r>
                    </a:p>
                  </a:txBody>
                  <a:tcPr>
                    <a:solidFill>
                      <a:srgbClr val="FFFFFF"/>
                    </a:solidFill>
                  </a:tcPr>
                </a:tc>
                <a:tc>
                  <a:txBody>
                    <a:bodyPr/>
                    <a:lstStyle/>
                    <a:p>
                      <a:pPr algn="ctr"/>
                      <a:r>
                        <a:rPr sz="900" b="0">
                          <a:solidFill>
                            <a:srgbClr val="202020"/>
                          </a:solidFill>
                        </a:rPr>
                        <a:t>Intermediate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63.3%</a:t>
                      </a:r>
                    </a:p>
                  </a:txBody>
                  <a:tcPr>
                    <a:solidFill>
                      <a:srgbClr val="FFFFFF"/>
                    </a:solidFill>
                  </a:tcPr>
                </a:tc>
                <a:tc>
                  <a:txBody>
                    <a:bodyPr/>
                    <a:lstStyle/>
                    <a:p>
                      <a:pPr algn="ctr"/>
                      <a:r>
                        <a:rPr sz="900" b="0">
                          <a:solidFill>
                            <a:srgbClr val="202020"/>
                          </a:solidFill>
                        </a:rPr>
                        <a:t>0.111</a:t>
                      </a:r>
                    </a:p>
                  </a:txBody>
                  <a:tcPr>
                    <a:solidFill>
                      <a:srgbClr val="FFFFFF"/>
                    </a:solidFill>
                  </a:tcPr>
                </a:tc>
                <a:tc>
                  <a:txBody>
                    <a:bodyPr/>
                    <a:lstStyle/>
                    <a:p>
                      <a:pPr algn="ctr"/>
                      <a:r>
                        <a:rPr sz="900" b="0">
                          <a:solidFill>
                            <a:srgbClr val="202020"/>
                          </a:solidFill>
                        </a:rPr>
                        <a:t>0.744</a:t>
                      </a:r>
                    </a:p>
                  </a:txBody>
                  <a:tcPr>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Hasil 7-Class — Perbandingan Skenario</a:t>
            </a:r>
          </a:p>
        </p:txBody>
      </p:sp>
      <p:pic>
        <p:nvPicPr>
          <p:cNvPr id="3" name="Picture 2" descr="comparison_grouped_bar.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Grouped bar chart: Macro F1 per model per skenario (7-class from scratch)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Heatmap Hasil 7-Class</a:t>
            </a:r>
          </a:p>
        </p:txBody>
      </p:sp>
      <p:pic>
        <p:nvPicPr>
          <p:cNvPr id="3" name="Picture 2" descr="comparison_heatmap.png"/>
          <p:cNvPicPr>
            <a:picLocks noChangeAspect="1"/>
          </p:cNvPicPr>
          <p:nvPr/>
        </p:nvPicPr>
        <p:blipFill>
          <a:blip r:embed="rId2"/>
          <a:stretch>
            <a:fillRect/>
          </a:stretch>
        </p:blipFill>
        <p:spPr>
          <a:xfrm>
            <a:off x="1425981" y="1005840"/>
            <a:ext cx="6292038"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Heatmap Macro F1: model vs skenario (7-class from scratch)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Analisis Hasil — Temuan Utama (7-Class)</a:t>
            </a:r>
          </a:p>
        </p:txBody>
      </p:sp>
      <p:sp>
        <p:nvSpPr>
          <p:cNvPr id="2" name="TextBox 1"/>
          <p:cNvSpPr txBox="1"/>
          <p:nvPr/>
        </p:nvSpPr>
        <p:spPr>
          <a:xfrm>
            <a:off x="365760" y="914400"/>
            <a:ext cx="4114800" cy="274320"/>
          </a:xfrm>
          <a:prstGeom prst="rect">
            <a:avLst/>
          </a:prstGeom>
          <a:noFill/>
        </p:spPr>
        <p:txBody>
          <a:bodyPr wrap="none">
            <a:spAutoFit/>
          </a:bodyPr>
          <a:lstStyle/>
          <a:p>
            <a:pPr>
              <a:defRPr sz="1000" b="1">
                <a:solidFill>
                  <a:srgbClr val="202020"/>
                </a:solidFill>
              </a:defRPr>
            </a:pPr>
            <a:r>
              <a:t>Temuan 1: FCNN (Landmark) &gt; CNN (Citra)</a:t>
            </a:r>
          </a:p>
        </p:txBody>
      </p:sp>
      <p:graphicFrame>
        <p:nvGraphicFramePr>
          <p:cNvPr id="3" name="Table 2"/>
          <p:cNvGraphicFramePr>
            <a:graphicFrameLocks noGrp="1"/>
          </p:cNvGraphicFramePr>
          <p:nvPr/>
        </p:nvGraphicFramePr>
        <p:xfrm>
          <a:off x="365760" y="1234440"/>
          <a:ext cx="4114800" cy="685800"/>
        </p:xfrm>
        <a:graphic>
          <a:graphicData uri="http://schemas.openxmlformats.org/drawingml/2006/table">
            <a:tbl>
              <a:tblPr firstRow="1" bandRow="1">
                <a:tableStyleId>{5C22544A-7EE6-4342-B048-85BDC9FD1C3A}</a:tableStyleId>
              </a:tblPr>
              <a:tblGrid>
                <a:gridCol w="2743200"/>
                <a:gridCol w="1371600"/>
              </a:tblGrid>
              <a:tr h="22860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Best Macro F1</a:t>
                      </a:r>
                    </a:p>
                  </a:txBody>
                  <a:tcPr>
                    <a:solidFill>
                      <a:srgbClr val="1A73E8"/>
                    </a:solidFill>
                  </a:tcPr>
                </a:tc>
              </a:tr>
              <a:tr h="228600">
                <a:tc>
                  <a:txBody>
                    <a:bodyPr/>
                    <a:lstStyle/>
                    <a:p>
                      <a:pPr algn="l"/>
                      <a:r>
                        <a:rPr sz="900" b="1">
                          <a:solidFill>
                            <a:srgbClr val="FFFFFF"/>
                          </a:solidFill>
                        </a:rPr>
                        <a:t>FCNN</a:t>
                      </a:r>
                    </a:p>
                  </a:txBody>
                  <a:tcPr>
                    <a:solidFill>
                      <a:srgbClr val="34A853"/>
                    </a:solidFill>
                  </a:tcPr>
                </a:tc>
                <a:tc>
                  <a:txBody>
                    <a:bodyPr/>
                    <a:lstStyle/>
                    <a:p>
                      <a:pPr algn="ctr"/>
                      <a:r>
                        <a:rPr sz="900" b="1">
                          <a:solidFill>
                            <a:srgbClr val="FFFFFF"/>
                          </a:solidFill>
                        </a:rPr>
                        <a:t>0.234</a:t>
                      </a:r>
                    </a:p>
                  </a:txBody>
                  <a:tcPr>
                    <a:solidFill>
                      <a:srgbClr val="34A853"/>
                    </a:solidFill>
                  </a:tcPr>
                </a:tc>
              </a:tr>
              <a:tr h="228600">
                <a:tc>
                  <a:txBody>
                    <a:bodyPr/>
                    <a:lstStyle/>
                    <a:p>
                      <a:pPr algn="l"/>
                      <a:r>
                        <a:rPr sz="900" b="0">
                          <a:solidFill>
                            <a:srgbClr val="202020"/>
                          </a:solidFill>
                        </a:rPr>
                        <a:t>CNN</a:t>
                      </a:r>
                    </a:p>
                  </a:txBody>
                  <a:tcPr>
                    <a:solidFill>
                      <a:srgbClr val="FFFFFF"/>
                    </a:solidFill>
                  </a:tcPr>
                </a:tc>
                <a:tc>
                  <a:txBody>
                    <a:bodyPr/>
                    <a:lstStyle/>
                    <a:p>
                      <a:pPr algn="ctr"/>
                      <a:r>
                        <a:rPr sz="900" b="0">
                          <a:solidFill>
                            <a:srgbClr val="202020"/>
                          </a:solidFill>
                        </a:rPr>
                        <a:t>0.134</a:t>
                      </a:r>
                    </a:p>
                  </a:txBody>
                  <a:tcPr>
                    <a:solidFill>
                      <a:srgbClr val="FFFFFF"/>
                    </a:solidFill>
                  </a:tcPr>
                </a:tc>
              </a:tr>
            </a:tbl>
          </a:graphicData>
        </a:graphic>
      </p:graphicFrame>
      <p:sp>
        <p:nvSpPr>
          <p:cNvPr id="4" name="TextBox 3"/>
          <p:cNvSpPr txBox="1"/>
          <p:nvPr/>
        </p:nvSpPr>
        <p:spPr>
          <a:xfrm>
            <a:off x="4663440" y="914400"/>
            <a:ext cx="4114800" cy="274320"/>
          </a:xfrm>
          <a:prstGeom prst="rect">
            <a:avLst/>
          </a:prstGeom>
          <a:noFill/>
        </p:spPr>
        <p:txBody>
          <a:bodyPr wrap="none">
            <a:spAutoFit/>
          </a:bodyPr>
          <a:lstStyle/>
          <a:p>
            <a:pPr>
              <a:defRPr sz="1000" b="1">
                <a:solidFill>
                  <a:srgbClr val="202020"/>
                </a:solidFill>
              </a:defRPr>
            </a:pPr>
            <a:r>
              <a:t>Temuan 2: Fusion tidak lebih baik dari FCNN saja</a:t>
            </a:r>
          </a:p>
        </p:txBody>
      </p:sp>
      <p:graphicFrame>
        <p:nvGraphicFramePr>
          <p:cNvPr id="5" name="Table 4"/>
          <p:cNvGraphicFramePr>
            <a:graphicFrameLocks noGrp="1"/>
          </p:cNvGraphicFramePr>
          <p:nvPr/>
        </p:nvGraphicFramePr>
        <p:xfrm>
          <a:off x="4663440" y="1234440"/>
          <a:ext cx="4114800" cy="914400"/>
        </p:xfrm>
        <a:graphic>
          <a:graphicData uri="http://schemas.openxmlformats.org/drawingml/2006/table">
            <a:tbl>
              <a:tblPr firstRow="1" bandRow="1">
                <a:tableStyleId>{5C22544A-7EE6-4342-B048-85BDC9FD1C3A}</a:tableStyleId>
              </a:tblPr>
              <a:tblGrid>
                <a:gridCol w="3200400"/>
                <a:gridCol w="914400"/>
              </a:tblGrid>
              <a:tr h="22860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Best Macro F1</a:t>
                      </a:r>
                    </a:p>
                  </a:txBody>
                  <a:tcPr>
                    <a:solidFill>
                      <a:srgbClr val="1A73E8"/>
                    </a:solidFill>
                  </a:tcPr>
                </a:tc>
              </a:tr>
              <a:tr h="228600">
                <a:tc>
                  <a:txBody>
                    <a:bodyPr/>
                    <a:lstStyle/>
                    <a:p>
                      <a:pPr algn="l"/>
                      <a:r>
                        <a:rPr sz="900" b="1">
                          <a:solidFill>
                            <a:srgbClr val="FFFFFF"/>
                          </a:solidFill>
                        </a:rPr>
                        <a:t>FCNN</a:t>
                      </a:r>
                    </a:p>
                  </a:txBody>
                  <a:tcPr>
                    <a:solidFill>
                      <a:srgbClr val="34A853"/>
                    </a:solidFill>
                  </a:tcPr>
                </a:tc>
                <a:tc>
                  <a:txBody>
                    <a:bodyPr/>
                    <a:lstStyle/>
                    <a:p>
                      <a:pPr algn="ctr"/>
                      <a:r>
                        <a:rPr sz="900" b="1">
                          <a:solidFill>
                            <a:srgbClr val="FFFFFF"/>
                          </a:solidFill>
                        </a:rPr>
                        <a:t>0.234</a:t>
                      </a:r>
                    </a:p>
                  </a:txBody>
                  <a:tcPr>
                    <a:solidFill>
                      <a:srgbClr val="34A853"/>
                    </a:solidFill>
                  </a:tcPr>
                </a:tc>
              </a:tr>
              <a:tr h="228600">
                <a:tc>
                  <a:txBody>
                    <a:bodyPr/>
                    <a:lstStyle/>
                    <a:p>
                      <a:pPr algn="l"/>
                      <a:r>
                        <a:rPr sz="900" b="0">
                          <a:solidFill>
                            <a:srgbClr val="202020"/>
                          </a:solidFill>
                        </a:rPr>
                        <a:t>Late Fusion (90% FCNN + 10% CNN)</a:t>
                      </a:r>
                    </a:p>
                  </a:txBody>
                  <a:tcPr>
                    <a:solidFill>
                      <a:srgbClr val="FFFFFF"/>
                    </a:solidFill>
                  </a:tcPr>
                </a:tc>
                <a:tc>
                  <a:txBody>
                    <a:bodyPr/>
                    <a:lstStyle/>
                    <a:p>
                      <a:pPr algn="ctr"/>
                      <a:r>
                        <a:rPr sz="900" b="0">
                          <a:solidFill>
                            <a:srgbClr val="202020"/>
                          </a:solidFill>
                        </a:rPr>
                        <a:t>0.230</a:t>
                      </a:r>
                    </a:p>
                  </a:txBody>
                  <a:tcPr>
                    <a:solidFill>
                      <a:srgbClr val="FFFFFF"/>
                    </a:solidFill>
                  </a:tcPr>
                </a:tc>
              </a:tr>
              <a:tr h="228600">
                <a:tc>
                  <a:txBody>
                    <a:bodyPr/>
                    <a:lstStyle/>
                    <a:p>
                      <a:pPr algn="l"/>
                      <a:r>
                        <a:rPr sz="900" b="0">
                          <a:solidFill>
                            <a:srgbClr val="202020"/>
                          </a:solidFill>
                        </a:rPr>
                        <a:t>Intermediate Fusion</a:t>
                      </a:r>
                    </a:p>
                  </a:txBody>
                  <a:tcPr>
                    <a:solidFill>
                      <a:srgbClr val="E8F0FE"/>
                    </a:solidFill>
                  </a:tcPr>
                </a:tc>
                <a:tc>
                  <a:txBody>
                    <a:bodyPr/>
                    <a:lstStyle/>
                    <a:p>
                      <a:pPr algn="ctr"/>
                      <a:r>
                        <a:rPr sz="900" b="0">
                          <a:solidFill>
                            <a:srgbClr val="202020"/>
                          </a:solidFill>
                        </a:rPr>
                        <a:t>0.140</a:t>
                      </a:r>
                    </a:p>
                  </a:txBody>
                  <a:tcPr>
                    <a:solidFill>
                      <a:srgbClr val="E8F0FE"/>
                    </a:solidFill>
                  </a:tcPr>
                </a:tc>
              </a:tr>
            </a:tbl>
          </a:graphicData>
        </a:graphic>
      </p:graphicFrame>
      <p:sp>
        <p:nvSpPr>
          <p:cNvPr id="6" name="TextBox 5"/>
          <p:cNvSpPr txBox="1"/>
          <p:nvPr/>
        </p:nvSpPr>
        <p:spPr>
          <a:xfrm>
            <a:off x="365760" y="2286000"/>
            <a:ext cx="4114800" cy="274320"/>
          </a:xfrm>
          <a:prstGeom prst="rect">
            <a:avLst/>
          </a:prstGeom>
          <a:noFill/>
        </p:spPr>
        <p:txBody>
          <a:bodyPr wrap="none">
            <a:spAutoFit/>
          </a:bodyPr>
          <a:lstStyle/>
          <a:p>
            <a:pPr>
              <a:defRPr sz="1000" b="1">
                <a:solidFill>
                  <a:srgbClr val="202020"/>
                </a:solidFill>
              </a:defRPr>
            </a:pPr>
            <a:r>
              <a:t>Temuan 3: Class Weights &amp; Augmentasi tidak membantu</a:t>
            </a:r>
          </a:p>
        </p:txBody>
      </p:sp>
      <p:graphicFrame>
        <p:nvGraphicFramePr>
          <p:cNvPr id="7" name="Table 6"/>
          <p:cNvGraphicFramePr>
            <a:graphicFrameLocks noGrp="1"/>
          </p:cNvGraphicFramePr>
          <p:nvPr/>
        </p:nvGraphicFramePr>
        <p:xfrm>
          <a:off x="365760" y="2606040"/>
          <a:ext cx="4114800" cy="914400"/>
        </p:xfrm>
        <a:graphic>
          <a:graphicData uri="http://schemas.openxmlformats.org/drawingml/2006/table">
            <a:tbl>
              <a:tblPr firstRow="1" bandRow="1">
                <a:tableStyleId>{5C22544A-7EE6-4342-B048-85BDC9FD1C3A}</a:tableStyleId>
              </a:tblPr>
              <a:tblGrid>
                <a:gridCol w="2286000"/>
                <a:gridCol w="914400"/>
                <a:gridCol w="914400"/>
              </a:tblGrid>
              <a:tr h="228600">
                <a:tc>
                  <a:txBody>
                    <a:bodyPr/>
                    <a:lstStyle/>
                    <a:p>
                      <a:pPr algn="ctr"/>
                      <a:r>
                        <a:rPr sz="900" b="1">
                          <a:solidFill>
                            <a:srgbClr val="FFFFFF"/>
                          </a:solidFill>
                        </a:rPr>
                        <a:t>Skenario</a:t>
                      </a:r>
                    </a:p>
                  </a:txBody>
                  <a:tcPr>
                    <a:solidFill>
                      <a:srgbClr val="1A73E8"/>
                    </a:solidFill>
                  </a:tcPr>
                </a:tc>
                <a:tc>
                  <a:txBody>
                    <a:bodyPr/>
                    <a:lstStyle/>
                    <a:p>
                      <a:pPr algn="ctr"/>
                      <a:r>
                        <a:rPr sz="900" b="1">
                          <a:solidFill>
                            <a:srgbClr val="FFFFFF"/>
                          </a:solidFill>
                        </a:rPr>
                        <a:t>FCNN F1</a:t>
                      </a:r>
                    </a:p>
                  </a:txBody>
                  <a:tcPr>
                    <a:solidFill>
                      <a:srgbClr val="1A73E8"/>
                    </a:solidFill>
                  </a:tcPr>
                </a:tc>
                <a:tc>
                  <a:txBody>
                    <a:bodyPr/>
                    <a:lstStyle/>
                    <a:p>
                      <a:pPr algn="ctr"/>
                      <a:r>
                        <a:rPr sz="900" b="1">
                          <a:solidFill>
                            <a:srgbClr val="FFFFFF"/>
                          </a:solidFill>
                        </a:rPr>
                        <a:t>CNN F1</a:t>
                      </a:r>
                    </a:p>
                  </a:txBody>
                  <a:tcPr>
                    <a:solidFill>
                      <a:srgbClr val="1A73E8"/>
                    </a:solidFill>
                  </a:tcPr>
                </a:tc>
              </a:tr>
              <a:tr h="228600">
                <a:tc>
                  <a:txBody>
                    <a:bodyPr/>
                    <a:lstStyle/>
                    <a:p>
                      <a:pPr algn="l"/>
                      <a:r>
                        <a:rPr sz="900" b="1">
                          <a:solidFill>
                            <a:srgbClr val="FFFFFF"/>
                          </a:solidFill>
                        </a:rPr>
                        <a:t>B1 Baseline</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0.133</a:t>
                      </a:r>
                    </a:p>
                  </a:txBody>
                  <a:tcPr>
                    <a:solidFill>
                      <a:srgbClr val="34A853"/>
                    </a:solidFill>
                  </a:tcPr>
                </a:tc>
              </a:tr>
              <a:tr h="228600">
                <a:tc>
                  <a:txBody>
                    <a:bodyPr/>
                    <a:lstStyle/>
                    <a:p>
                      <a:pPr algn="l"/>
                      <a:r>
                        <a:rPr sz="900" b="0">
                          <a:solidFill>
                            <a:srgbClr val="202020"/>
                          </a:solidFill>
                        </a:rPr>
                        <a:t>B2 Class Weights</a:t>
                      </a:r>
                    </a:p>
                  </a:txBody>
                  <a:tcPr>
                    <a:solidFill>
                      <a:srgbClr val="FFFFFF"/>
                    </a:solidFill>
                  </a:tcPr>
                </a:tc>
                <a:tc>
                  <a:txBody>
                    <a:bodyPr/>
                    <a:lstStyle/>
                    <a:p>
                      <a:pPr algn="ctr"/>
                      <a:r>
                        <a:rPr sz="900" b="0">
                          <a:solidFill>
                            <a:srgbClr val="202020"/>
                          </a:solidFill>
                        </a:rPr>
                        <a:t>0.189</a:t>
                      </a:r>
                    </a:p>
                  </a:txBody>
                  <a:tcPr>
                    <a:solidFill>
                      <a:srgbClr val="FFFFFF"/>
                    </a:solidFill>
                  </a:tcPr>
                </a:tc>
                <a:tc>
                  <a:txBody>
                    <a:bodyPr/>
                    <a:lstStyle/>
                    <a:p>
                      <a:pPr algn="ctr"/>
                      <a:r>
                        <a:rPr sz="900" b="0">
                          <a:solidFill>
                            <a:srgbClr val="202020"/>
                          </a:solidFill>
                        </a:rPr>
                        <a:t>0.134</a:t>
                      </a:r>
                    </a:p>
                  </a:txBody>
                  <a:tcPr>
                    <a:solidFill>
                      <a:srgbClr val="FFFFFF"/>
                    </a:solidFill>
                  </a:tcPr>
                </a:tc>
              </a:tr>
              <a:tr h="228600">
                <a:tc>
                  <a:txBody>
                    <a:bodyPr/>
                    <a:lstStyle/>
                    <a:p>
                      <a:pPr algn="l"/>
                      <a:r>
                        <a:rPr sz="900" b="0">
                          <a:solidFill>
                            <a:srgbClr val="202020"/>
                          </a:solidFill>
                        </a:rPr>
                        <a:t>B3 Weights + Aug</a:t>
                      </a:r>
                    </a:p>
                  </a:txBody>
                  <a:tcPr>
                    <a:solidFill>
                      <a:srgbClr val="E8F0FE"/>
                    </a:solidFill>
                  </a:tcPr>
                </a:tc>
                <a:tc>
                  <a:txBody>
                    <a:bodyPr/>
                    <a:lstStyle/>
                    <a:p>
                      <a:pPr algn="ctr"/>
                      <a:r>
                        <a:rPr sz="900" b="0">
                          <a:solidFill>
                            <a:srgbClr val="202020"/>
                          </a:solidFill>
                        </a:rPr>
                        <a:t>0.182</a:t>
                      </a:r>
                    </a:p>
                  </a:txBody>
                  <a:tcPr>
                    <a:solidFill>
                      <a:srgbClr val="E8F0FE"/>
                    </a:solidFill>
                  </a:tcPr>
                </a:tc>
                <a:tc>
                  <a:txBody>
                    <a:bodyPr/>
                    <a:lstStyle/>
                    <a:p>
                      <a:pPr algn="ctr"/>
                      <a:r>
                        <a:rPr sz="900" b="0">
                          <a:solidFill>
                            <a:srgbClr val="202020"/>
                          </a:solidFill>
                        </a:rPr>
                        <a:t>0.119</a:t>
                      </a:r>
                    </a:p>
                  </a:txBody>
                  <a:tcPr>
                    <a:solidFill>
                      <a:srgbClr val="E8F0FE"/>
                    </a:solidFill>
                  </a:tcPr>
                </a:tc>
              </a:tr>
            </a:tbl>
          </a:graphicData>
        </a:graphic>
      </p:graphicFrame>
      <p:sp>
        <p:nvSpPr>
          <p:cNvPr id="8" name="TextBox 7"/>
          <p:cNvSpPr txBox="1"/>
          <p:nvPr/>
        </p:nvSpPr>
        <p:spPr>
          <a:xfrm>
            <a:off x="4663440" y="2286000"/>
            <a:ext cx="4114800" cy="274320"/>
          </a:xfrm>
          <a:prstGeom prst="rect">
            <a:avLst/>
          </a:prstGeom>
          <a:noFill/>
        </p:spPr>
        <p:txBody>
          <a:bodyPr wrap="none">
            <a:spAutoFit/>
          </a:bodyPr>
          <a:lstStyle/>
          <a:p>
            <a:pPr>
              <a:defRPr sz="1000" b="1">
                <a:solidFill>
                  <a:srgbClr val="202020"/>
                </a:solidFill>
              </a:defRPr>
            </a:pPr>
            <a:r>
              <a:t>Temuan 4: Kelas minoritas tidak terdeteksi (FCNN B1)</a:t>
            </a:r>
          </a:p>
        </p:txBody>
      </p:sp>
      <p:graphicFrame>
        <p:nvGraphicFramePr>
          <p:cNvPr id="9" name="Table 8"/>
          <p:cNvGraphicFramePr>
            <a:graphicFrameLocks noGrp="1"/>
          </p:cNvGraphicFramePr>
          <p:nvPr/>
        </p:nvGraphicFramePr>
        <p:xfrm>
          <a:off x="4663440" y="2606040"/>
          <a:ext cx="4114800" cy="1188720"/>
        </p:xfrm>
        <a:graphic>
          <a:graphicData uri="http://schemas.openxmlformats.org/drawingml/2006/table">
            <a:tbl>
              <a:tblPr firstRow="1" bandRow="1">
                <a:tableStyleId>{5C22544A-7EE6-4342-B048-85BDC9FD1C3A}</a:tableStyleId>
              </a:tblPr>
              <a:tblGrid>
                <a:gridCol w="1463040"/>
                <a:gridCol w="914400"/>
                <a:gridCol w="868680"/>
                <a:gridCol w="868680"/>
              </a:tblGrid>
              <a:tr h="198120">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Support</a:t>
                      </a:r>
                    </a:p>
                  </a:txBody>
                  <a:tcPr>
                    <a:solidFill>
                      <a:srgbClr val="1A73E8"/>
                    </a:solidFill>
                  </a:tcPr>
                </a:tc>
                <a:tc>
                  <a:txBody>
                    <a:bodyPr/>
                    <a:lstStyle/>
                    <a:p>
                      <a:pPr algn="ctr"/>
                      <a:r>
                        <a:rPr sz="900" b="1">
                          <a:solidFill>
                            <a:srgbClr val="FFFFFF"/>
                          </a:solidFill>
                        </a:rPr>
                        <a:t>Recall</a:t>
                      </a:r>
                    </a:p>
                  </a:txBody>
                  <a:tcPr>
                    <a:solidFill>
                      <a:srgbClr val="1A73E8"/>
                    </a:solidFill>
                  </a:tcPr>
                </a:tc>
                <a:tc>
                  <a:txBody>
                    <a:bodyPr/>
                    <a:lstStyle/>
                    <a:p>
                      <a:pPr algn="ctr"/>
                      <a:r>
                        <a:rPr sz="900" b="1">
                          <a:solidFill>
                            <a:srgbClr val="FFFFFF"/>
                          </a:solidFill>
                        </a:rPr>
                        <a:t>F1</a:t>
                      </a:r>
                    </a:p>
                  </a:txBody>
                  <a:tcPr>
                    <a:solidFill>
                      <a:srgbClr val="1A73E8"/>
                    </a:solidFill>
                  </a:tcPr>
                </a:tc>
              </a:tr>
              <a:tr h="198120">
                <a:tc>
                  <a:txBody>
                    <a:bodyPr/>
                    <a:lstStyle/>
                    <a:p>
                      <a:pPr algn="l"/>
                      <a:r>
                        <a:rPr sz="900" b="1">
                          <a:solidFill>
                            <a:srgbClr val="FFFFFF"/>
                          </a:solidFill>
                        </a:rPr>
                        <a:t>Neutral</a:t>
                      </a:r>
                    </a:p>
                  </a:txBody>
                  <a:tcPr>
                    <a:solidFill>
                      <a:srgbClr val="34A853"/>
                    </a:solidFill>
                  </a:tcPr>
                </a:tc>
                <a:tc>
                  <a:txBody>
                    <a:bodyPr/>
                    <a:lstStyle/>
                    <a:p>
                      <a:pPr algn="ctr"/>
                      <a:r>
                        <a:rPr sz="900" b="1">
                          <a:solidFill>
                            <a:srgbClr val="FFFFFF"/>
                          </a:solidFill>
                        </a:rPr>
                        <a:t>1,588</a:t>
                      </a:r>
                    </a:p>
                  </a:txBody>
                  <a:tcPr>
                    <a:solidFill>
                      <a:srgbClr val="34A853"/>
                    </a:solidFill>
                  </a:tcPr>
                </a:tc>
                <a:tc>
                  <a:txBody>
                    <a:bodyPr/>
                    <a:lstStyle/>
                    <a:p>
                      <a:pPr algn="ctr"/>
                      <a:r>
                        <a:rPr sz="900" b="1">
                          <a:solidFill>
                            <a:srgbClr val="FFFFFF"/>
                          </a:solidFill>
                        </a:rPr>
                        <a:t>99%</a:t>
                      </a:r>
                    </a:p>
                  </a:txBody>
                  <a:tcPr>
                    <a:solidFill>
                      <a:srgbClr val="34A853"/>
                    </a:solidFill>
                  </a:tcPr>
                </a:tc>
                <a:tc>
                  <a:txBody>
                    <a:bodyPr/>
                    <a:lstStyle/>
                    <a:p>
                      <a:pPr algn="ctr"/>
                      <a:r>
                        <a:rPr sz="900" b="1">
                          <a:solidFill>
                            <a:srgbClr val="FFFFFF"/>
                          </a:solidFill>
                        </a:rPr>
                        <a:t>0.98</a:t>
                      </a:r>
                    </a:p>
                  </a:txBody>
                  <a:tcPr>
                    <a:solidFill>
                      <a:srgbClr val="34A853"/>
                    </a:solidFill>
                  </a:tcPr>
                </a:tc>
              </a:tr>
              <a:tr h="198120">
                <a:tc>
                  <a:txBody>
                    <a:bodyPr/>
                    <a:lstStyle/>
                    <a:p>
                      <a:pPr algn="l"/>
                      <a:r>
                        <a:rPr sz="900" b="1">
                          <a:solidFill>
                            <a:srgbClr val="FFFFFF"/>
                          </a:solidFill>
                        </a:rPr>
                        <a:t>Sad</a:t>
                      </a:r>
                    </a:p>
                  </a:txBody>
                  <a:tcPr>
                    <a:solidFill>
                      <a:srgbClr val="34A853"/>
                    </a:solidFill>
                  </a:tcPr>
                </a:tc>
                <a:tc>
                  <a:txBody>
                    <a:bodyPr/>
                    <a:lstStyle/>
                    <a:p>
                      <a:pPr algn="ctr"/>
                      <a:r>
                        <a:rPr sz="900" b="1">
                          <a:solidFill>
                            <a:srgbClr val="FFFFFF"/>
                          </a:solidFill>
                        </a:rPr>
                        <a:t>38</a:t>
                      </a:r>
                    </a:p>
                  </a:txBody>
                  <a:tcPr>
                    <a:solidFill>
                      <a:srgbClr val="34A853"/>
                    </a:solidFill>
                  </a:tcPr>
                </a:tc>
                <a:tc>
                  <a:txBody>
                    <a:bodyPr/>
                    <a:lstStyle/>
                    <a:p>
                      <a:pPr algn="ctr"/>
                      <a:r>
                        <a:rPr sz="900" b="1">
                          <a:solidFill>
                            <a:srgbClr val="FFFFFF"/>
                          </a:solidFill>
                        </a:rPr>
                        <a:t>32%</a:t>
                      </a:r>
                    </a:p>
                  </a:txBody>
                  <a:tcPr>
                    <a:solidFill>
                      <a:srgbClr val="34A853"/>
                    </a:solidFill>
                  </a:tcPr>
                </a:tc>
                <a:tc>
                  <a:txBody>
                    <a:bodyPr/>
                    <a:lstStyle/>
                    <a:p>
                      <a:pPr algn="ctr"/>
                      <a:r>
                        <a:rPr sz="900" b="1">
                          <a:solidFill>
                            <a:srgbClr val="FFFFFF"/>
                          </a:solidFill>
                        </a:rPr>
                        <a:t>0.41</a:t>
                      </a:r>
                    </a:p>
                  </a:txBody>
                  <a:tcPr>
                    <a:solidFill>
                      <a:srgbClr val="34A853"/>
                    </a:solidFill>
                  </a:tcPr>
                </a:tc>
              </a:tr>
              <a:tr h="198120">
                <a:tc>
                  <a:txBody>
                    <a:bodyPr/>
                    <a:lstStyle/>
                    <a:p>
                      <a:pPr algn="l"/>
                      <a:r>
                        <a:rPr sz="900" b="0">
                          <a:solidFill>
                            <a:srgbClr val="202020"/>
                          </a:solidFill>
                        </a:rPr>
                        <a:t>Happy</a:t>
                      </a:r>
                    </a:p>
                  </a:txBody>
                  <a:tcPr>
                    <a:solidFill>
                      <a:srgbClr val="E8F0FE"/>
                    </a:solidFill>
                  </a:tcPr>
                </a:tc>
                <a:tc>
                  <a:txBody>
                    <a:bodyPr/>
                    <a:lstStyle/>
                    <a:p>
                      <a:pPr algn="ctr"/>
                      <a:r>
                        <a:rPr sz="900" b="0">
                          <a:solidFill>
                            <a:srgbClr val="202020"/>
                          </a:solidFill>
                        </a:rPr>
                        <a:t>10</a:t>
                      </a:r>
                    </a:p>
                  </a:txBody>
                  <a:tcPr>
                    <a:solidFill>
                      <a:srgbClr val="E8F0FE"/>
                    </a:solidFill>
                  </a:tcPr>
                </a:tc>
                <a:tc>
                  <a:txBody>
                    <a:bodyPr/>
                    <a:lstStyle/>
                    <a:p>
                      <a:pPr algn="ctr"/>
                      <a:r>
                        <a:rPr sz="900" b="0">
                          <a:solidFill>
                            <a:srgbClr val="202020"/>
                          </a:solidFill>
                        </a:rPr>
                        <a:t>0%</a:t>
                      </a:r>
                    </a:p>
                  </a:txBody>
                  <a:tcPr>
                    <a:solidFill>
                      <a:srgbClr val="E8F0FE"/>
                    </a:solidFill>
                  </a:tcPr>
                </a:tc>
                <a:tc>
                  <a:txBody>
                    <a:bodyPr/>
                    <a:lstStyle/>
                    <a:p>
                      <a:pPr algn="ctr"/>
                      <a:r>
                        <a:rPr sz="900" b="0">
                          <a:solidFill>
                            <a:srgbClr val="202020"/>
                          </a:solidFill>
                        </a:rPr>
                        <a:t>0.00</a:t>
                      </a:r>
                    </a:p>
                  </a:txBody>
                  <a:tcPr>
                    <a:solidFill>
                      <a:srgbClr val="E8F0FE"/>
                    </a:solidFill>
                  </a:tcPr>
                </a:tc>
              </a:tr>
              <a:tr h="198120">
                <a:tc>
                  <a:txBody>
                    <a:bodyPr/>
                    <a:lstStyle/>
                    <a:p>
                      <a:pPr algn="l"/>
                      <a:r>
                        <a:rPr sz="900" b="0">
                          <a:solidFill>
                            <a:srgbClr val="202020"/>
                          </a:solidFill>
                        </a:rPr>
                        <a:t>Angry</a:t>
                      </a:r>
                    </a:p>
                  </a:txBody>
                  <a:tcPr>
                    <a:solidFill>
                      <a:srgbClr val="FFFFFF"/>
                    </a:solidFill>
                  </a:tcPr>
                </a:tc>
                <a:tc>
                  <a:txBody>
                    <a:bodyPr/>
                    <a:lstStyle/>
                    <a:p>
                      <a:pPr algn="ctr"/>
                      <a:r>
                        <a:rPr sz="900" b="0">
                          <a:solidFill>
                            <a:srgbClr val="202020"/>
                          </a:solidFill>
                        </a:rPr>
                        <a:t>13</a:t>
                      </a:r>
                    </a:p>
                  </a:txBody>
                  <a:tcPr>
                    <a:solidFill>
                      <a:srgbClr val="FFFFFF"/>
                    </a:solidFill>
                  </a:tcPr>
                </a:tc>
                <a:tc>
                  <a:txBody>
                    <a:bodyPr/>
                    <a:lstStyle/>
                    <a:p>
                      <a:pPr algn="ctr"/>
                      <a:r>
                        <a:rPr sz="900" b="0">
                          <a:solidFill>
                            <a:srgbClr val="202020"/>
                          </a:solidFill>
                        </a:rPr>
                        <a:t>0%</a:t>
                      </a:r>
                    </a:p>
                  </a:txBody>
                  <a:tcPr>
                    <a:solidFill>
                      <a:srgbClr val="FFFFFF"/>
                    </a:solidFill>
                  </a:tcPr>
                </a:tc>
                <a:tc>
                  <a:txBody>
                    <a:bodyPr/>
                    <a:lstStyle/>
                    <a:p>
                      <a:pPr algn="ctr"/>
                      <a:r>
                        <a:rPr sz="900" b="0">
                          <a:solidFill>
                            <a:srgbClr val="202020"/>
                          </a:solidFill>
                        </a:rPr>
                        <a:t>0.00</a:t>
                      </a:r>
                    </a:p>
                  </a:txBody>
                  <a:tcPr>
                    <a:solidFill>
                      <a:srgbClr val="FFFFFF"/>
                    </a:solidFill>
                  </a:tcPr>
                </a:tc>
              </a:tr>
              <a:tr h="198120">
                <a:tc>
                  <a:txBody>
                    <a:bodyPr/>
                    <a:lstStyle/>
                    <a:p>
                      <a:pPr algn="l"/>
                      <a:r>
                        <a:rPr sz="900" b="0">
                          <a:solidFill>
                            <a:srgbClr val="202020"/>
                          </a:solidFill>
                        </a:rPr>
                        <a:t>Fearful</a:t>
                      </a:r>
                    </a:p>
                  </a:txBody>
                  <a:tcPr>
                    <a:solidFill>
                      <a:srgbClr val="E8F0FE"/>
                    </a:solidFill>
                  </a:tcPr>
                </a:tc>
                <a:tc>
                  <a:txBody>
                    <a:bodyPr/>
                    <a:lstStyle/>
                    <a:p>
                      <a:pPr algn="ctr"/>
                      <a:r>
                        <a:rPr sz="900" b="0">
                          <a:solidFill>
                            <a:srgbClr val="202020"/>
                          </a:solidFill>
                        </a:rPr>
                        <a:t>1</a:t>
                      </a:r>
                    </a:p>
                  </a:txBody>
                  <a:tcPr>
                    <a:solidFill>
                      <a:srgbClr val="E8F0FE"/>
                    </a:solidFill>
                  </a:tcPr>
                </a:tc>
                <a:tc>
                  <a:txBody>
                    <a:bodyPr/>
                    <a:lstStyle/>
                    <a:p>
                      <a:pPr algn="ctr"/>
                      <a:r>
                        <a:rPr sz="900" b="0">
                          <a:solidFill>
                            <a:srgbClr val="202020"/>
                          </a:solidFill>
                        </a:rPr>
                        <a:t>0%</a:t>
                      </a:r>
                    </a:p>
                  </a:txBody>
                  <a:tcPr>
                    <a:solidFill>
                      <a:srgbClr val="E8F0FE"/>
                    </a:solidFill>
                  </a:tcPr>
                </a:tc>
                <a:tc>
                  <a:txBody>
                    <a:bodyPr/>
                    <a:lstStyle/>
                    <a:p>
                      <a:pPr algn="ctr"/>
                      <a:r>
                        <a:rPr sz="900" b="0">
                          <a:solidFill>
                            <a:srgbClr val="202020"/>
                          </a:solidFill>
                        </a:rPr>
                        <a:t>0.00</a:t>
                      </a:r>
                    </a:p>
                  </a:txBody>
                  <a:tcPr>
                    <a:solidFill>
                      <a:srgbClr val="E8F0FE"/>
                    </a:solidFill>
                  </a:tcPr>
                </a:tc>
              </a:tr>
            </a:tbl>
          </a:graphicData>
        </a:graphic>
      </p:graphicFrame>
      <p:sp>
        <p:nvSpPr>
          <p:cNvPr id="10" name="TextBox 9"/>
          <p:cNvSpPr txBox="1"/>
          <p:nvPr/>
        </p:nvSpPr>
        <p:spPr>
          <a:xfrm>
            <a:off x="365760" y="3931920"/>
            <a:ext cx="8412480" cy="365760"/>
          </a:xfrm>
          <a:prstGeom prst="rect">
            <a:avLst/>
          </a:prstGeom>
          <a:noFill/>
        </p:spPr>
        <p:txBody>
          <a:bodyPr wrap="none">
            <a:spAutoFit/>
          </a:bodyPr>
          <a:lstStyle/>
          <a:p>
            <a:pPr>
              <a:defRPr sz="1000" b="1">
                <a:solidFill>
                  <a:srgbClr val="C0392B"/>
                </a:solidFill>
              </a:defRPr>
            </a:pPr>
            <a:r>
              <a:t>Kesimpulan: Masalah bukan pada arsitektur — kelas minoritas terlalu sedikit untuk dipelajari model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2: 4-Class</a:t>
            </a:r>
          </a:p>
        </p:txBody>
      </p:sp>
      <p:sp>
        <p:nvSpPr>
          <p:cNvPr id="3" name="TextBox 2"/>
          <p:cNvSpPr txBox="1"/>
          <p:nvPr/>
        </p:nvSpPr>
        <p:spPr>
          <a:xfrm>
            <a:off x="365760" y="914400"/>
            <a:ext cx="8412480" cy="1371600"/>
          </a:xfrm>
          <a:prstGeom prst="rect">
            <a:avLst/>
          </a:prstGeom>
          <a:noFill/>
          <a:solidFill>
            <a:srgbClr val="FFF0CC"/>
          </a:solidFill>
        </p:spPr>
        <p:txBody>
          <a:bodyPr wrap="square">
            <a:spAutoFit/>
          </a:bodyPr>
          <a:lstStyle/>
          <a:p>
            <a:pPr>
              <a:defRPr sz="1000" b="1">
                <a:solidFill>
                  <a:srgbClr val="202020"/>
                </a:solidFill>
              </a:defRPr>
            </a:pPr>
            <a:r>
              <a:t>Motivasi dari hasil Tahap 1:</a:t>
            </a:r>
          </a:p>
          <a:p>
            <a:pPr>
              <a:defRPr sz="1000">
                <a:solidFill>
                  <a:srgbClr val="202020"/>
                </a:solidFill>
              </a:defRPr>
            </a:pPr>
            <a:r>
              <a:t>-&gt; Macro F1 terbaik hanya 0.234 -- emosi langka (angry, fearful, disgusted, surprised) tidak terdeteksi sama sekali</a:t>
            </a:r>
          </a:p>
          <a:p>
            <a:pPr>
              <a:defRPr sz="1000">
                <a:solidFill>
                  <a:srgbClr val="202020"/>
                </a:solidFill>
              </a:defRPr>
            </a:pPr>
            <a:r>
              <a:t>-&gt; Penyebab: kelas terkecil hanya 8 sample (fearful) -- terlalu sedikit untuk dipelajari model</a:t>
            </a:r>
          </a:p>
          <a:p>
            <a:pPr>
              <a:defRPr sz="1000">
                <a:solidFill>
                  <a:srgbClr val="202020"/>
                </a:solidFill>
              </a:defRPr>
            </a:pPr>
            <a:r>
              <a:t>-&gt; Solusi yang dicoba: gabungkan 4 emosi langka menjadi satu kelas "negative"</a:t>
            </a:r>
          </a:p>
        </p:txBody>
      </p:sp>
      <p:sp>
        <p:nvSpPr>
          <p:cNvPr id="5" name="TextBox 4"/>
          <p:cNvSpPr txBox="1"/>
          <p:nvPr/>
        </p:nvSpPr>
        <p:spPr>
          <a:xfrm>
            <a:off x="365760" y="4343400"/>
            <a:ext cx="8412480" cy="274320"/>
          </a:xfrm>
          <a:prstGeom prst="rect">
            <a:avLst/>
          </a:prstGeom>
          <a:noFill/>
        </p:spPr>
        <p:txBody>
          <a:bodyPr wrap="square">
            <a:spAutoFit/>
          </a:bodyPr>
          <a:lstStyle/>
          <a:p>
            <a:pPr>
              <a:defRPr sz="1000">
                <a:solidFill>
                  <a:srgbClr val="202020"/>
                </a:solidFill>
              </a:defRPr>
            </a:pPr>
            <a:r>
              <a:t>4 model x 3 skenario = 12 eksperimen tambahan  |  Total kumulatif: 24 eksperimen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548640"/>
          </a:xfrm>
          <a:prstGeom prst="rect">
            <a:avLst/>
          </a:prstGeom>
          <a:noFill/>
        </p:spPr>
        <p:txBody>
          <a:bodyPr wrap="none">
            <a:spAutoFit/>
          </a:bodyPr>
          <a:lstStyle/>
          <a:p>
            <a:pPr>
              <a:defRPr sz="2000" b="1">
                <a:solidFill>
                  <a:srgbClr val="202020"/>
                </a:solidFill>
              </a:defRPr>
            </a:pPr>
            <a:r>
              <a:t>Penggabungan Kelas: 7-Class → 4-Class</a:t>
            </a:r>
          </a:p>
        </p:txBody>
      </p:sp>
      <p:graphicFrame>
        <p:nvGraphicFramePr>
          <p:cNvPr id="3" name="Table 2"/>
          <p:cNvGraphicFramePr>
            <a:graphicFrameLocks noGrp="1"/>
          </p:cNvGraphicFramePr>
          <p:nvPr/>
        </p:nvGraphicFramePr>
        <p:xfrm>
          <a:off x="365760" y="914400"/>
          <a:ext cx="8412480" cy="2011680"/>
        </p:xfrm>
        <a:graphic>
          <a:graphicData uri="http://schemas.openxmlformats.org/drawingml/2006/table">
            <a:tbl>
              <a:tblPr firstRow="1" bandRow="1"/>
              <a:tblGrid>
                <a:gridCol w="1280160"/>
                <a:gridCol w="3657600"/>
                <a:gridCol w="1280160"/>
                <a:gridCol w="2194560"/>
              </a:tblGrid>
              <a:tr h="402336">
                <a:tc>
                  <a:txBody>
                    <a:bodyPr/>
                    <a:lstStyle/>
                    <a:p>
                      <a:pPr algn="ctr"/>
                      <a:r>
                        <a:rPr sz="1100" b="1">
                          <a:solidFill>
                            <a:srgbClr val="FFFFFF"/>
                          </a:solidFill>
                        </a:rPr>
                        <a:t>Kelas Baru</a:t>
                      </a:r>
                    </a:p>
                  </a:txBody>
                  <a:tcPr>
                    <a:solidFill>
                      <a:srgbClr val="1A73E8"/>
                    </a:solidFill>
                  </a:tcPr>
                </a:tc>
                <a:tc>
                  <a:txBody>
                    <a:bodyPr/>
                    <a:lstStyle/>
                    <a:p>
                      <a:pPr algn="ctr"/>
                      <a:r>
                        <a:rPr sz="1100" b="1">
                          <a:solidFill>
                            <a:srgbClr val="FFFFFF"/>
                          </a:solidFill>
                        </a:rPr>
                        <a:t>Kelas Asal yang Digabung</a:t>
                      </a:r>
                    </a:p>
                  </a:txBody>
                  <a:tcPr>
                    <a:solidFill>
                      <a:srgbClr val="1A73E8"/>
                    </a:solidFill>
                  </a:tcPr>
                </a:tc>
                <a:tc>
                  <a:txBody>
                    <a:bodyPr/>
                    <a:lstStyle/>
                    <a:p>
                      <a:pPr algn="ctr"/>
                      <a:r>
                        <a:rPr sz="1100" b="1">
                          <a:solidFill>
                            <a:srgbClr val="FFFFFF"/>
                          </a:solidFill>
                        </a:rPr>
                        <a:t>Total Sample</a:t>
                      </a:r>
                    </a:p>
                  </a:txBody>
                  <a:tcPr>
                    <a:solidFill>
                      <a:srgbClr val="1A73E8"/>
                    </a:solidFill>
                  </a:tcPr>
                </a:tc>
                <a:tc>
                  <a:txBody>
                    <a:bodyPr/>
                    <a:lstStyle/>
                    <a:p>
                      <a:pPr algn="ctr"/>
                      <a:r>
                        <a:rPr sz="1100" b="1">
                          <a:solidFill>
                            <a:srgbClr val="FFFFFF"/>
                          </a:solidFill>
                        </a:rPr>
                        <a:t>Alasan</a:t>
                      </a:r>
                    </a:p>
                  </a:txBody>
                  <a:tcPr>
                    <a:solidFill>
                      <a:srgbClr val="1A73E8"/>
                    </a:solidFill>
                  </a:tcPr>
                </a:tc>
              </a:tr>
              <a:tr h="402336">
                <a:tc>
                  <a:txBody>
                    <a:bodyPr/>
                    <a:lstStyle/>
                    <a:p>
                      <a:pPr algn="l"/>
                      <a:r>
                        <a:rPr sz="1100" b="0">
                          <a:solidFill>
                            <a:srgbClr val="202020"/>
                          </a:solidFill>
                        </a:rPr>
                        <a:t>neutral</a:t>
                      </a:r>
                    </a:p>
                  </a:txBody>
                  <a:tcPr>
                    <a:solidFill>
                      <a:srgbClr val="E8F0FE"/>
                    </a:solidFill>
                  </a:tcPr>
                </a:tc>
                <a:tc>
                  <a:txBody>
                    <a:bodyPr/>
                    <a:lstStyle/>
                    <a:p>
                      <a:pPr algn="ctr"/>
                      <a:r>
                        <a:rPr sz="1100" b="0">
                          <a:solidFill>
                            <a:srgbClr val="202020"/>
                          </a:solidFill>
                        </a:rPr>
                        <a:t>neutral</a:t>
                      </a:r>
                    </a:p>
                  </a:txBody>
                  <a:tcPr>
                    <a:solidFill>
                      <a:srgbClr val="E8F0FE"/>
                    </a:solidFill>
                  </a:tcPr>
                </a:tc>
                <a:tc>
                  <a:txBody>
                    <a:bodyPr/>
                    <a:lstStyle/>
                    <a:p>
                      <a:pPr algn="ctr"/>
                      <a:r>
                        <a:rPr sz="1100" b="0">
                          <a:solidFill>
                            <a:srgbClr val="202020"/>
                          </a:solidFill>
                        </a:rPr>
                        <a:t>8,356</a:t>
                      </a:r>
                    </a:p>
                  </a:txBody>
                  <a:tcPr>
                    <a:solidFill>
                      <a:srgbClr val="E8F0FE"/>
                    </a:solidFill>
                  </a:tcPr>
                </a:tc>
                <a:tc>
                  <a:txBody>
                    <a:bodyPr/>
                    <a:lstStyle/>
                    <a:p>
                      <a:pPr algn="ctr"/>
                      <a:r>
                        <a:rPr sz="1100" b="0">
                          <a:solidFill>
                            <a:srgbClr val="202020"/>
                          </a:solidFill>
                        </a:rPr>
                        <a:t>Tetap — kelas dominan</a:t>
                      </a:r>
                    </a:p>
                  </a:txBody>
                  <a:tcPr>
                    <a:solidFill>
                      <a:srgbClr val="E8F0FE"/>
                    </a:solidFill>
                  </a:tcPr>
                </a:tc>
              </a:tr>
              <a:tr h="402336">
                <a:tc>
                  <a:txBody>
                    <a:bodyPr/>
                    <a:lstStyle/>
                    <a:p>
                      <a:pPr algn="l"/>
                      <a:r>
                        <a:rPr sz="1100" b="0">
                          <a:solidFill>
                            <a:srgbClr val="202020"/>
                          </a:solidFill>
                        </a:rPr>
                        <a:t>happy</a:t>
                      </a:r>
                    </a:p>
                  </a:txBody>
                  <a:tcPr>
                    <a:solidFill>
                      <a:srgbClr val="FFFFFF"/>
                    </a:solidFill>
                  </a:tcPr>
                </a:tc>
                <a:tc>
                  <a:txBody>
                    <a:bodyPr/>
                    <a:lstStyle/>
                    <a:p>
                      <a:pPr algn="ctr"/>
                      <a:r>
                        <a:rPr sz="1100" b="0">
                          <a:solidFill>
                            <a:srgbClr val="202020"/>
                          </a:solidFill>
                        </a:rPr>
                        <a:t>happy</a:t>
                      </a:r>
                    </a:p>
                  </a:txBody>
                  <a:tcPr>
                    <a:solidFill>
                      <a:srgbClr val="FFFFFF"/>
                    </a:solidFill>
                  </a:tcPr>
                </a:tc>
                <a:tc>
                  <a:txBody>
                    <a:bodyPr/>
                    <a:lstStyle/>
                    <a:p>
                      <a:pPr algn="ctr"/>
                      <a:r>
                        <a:rPr sz="1100" b="0">
                          <a:solidFill>
                            <a:srgbClr val="202020"/>
                          </a:solidFill>
                        </a:rPr>
                        <a:t>783</a:t>
                      </a:r>
                    </a:p>
                  </a:txBody>
                  <a:tcPr>
                    <a:solidFill>
                      <a:srgbClr val="FFFFFF"/>
                    </a:solidFill>
                  </a:tcPr>
                </a:tc>
                <a:tc>
                  <a:txBody>
                    <a:bodyPr/>
                    <a:lstStyle/>
                    <a:p>
                      <a:pPr algn="ctr"/>
                      <a:r>
                        <a:rPr sz="1100" b="0">
                          <a:solidFill>
                            <a:srgbClr val="202020"/>
                          </a:solidFill>
                        </a:rPr>
                        <a:t>Tetap — cukup data</a:t>
                      </a:r>
                    </a:p>
                  </a:txBody>
                  <a:tcPr>
                    <a:solidFill>
                      <a:srgbClr val="FFFFFF"/>
                    </a:solidFill>
                  </a:tcPr>
                </a:tc>
              </a:tr>
              <a:tr h="402336">
                <a:tc>
                  <a:txBody>
                    <a:bodyPr/>
                    <a:lstStyle/>
                    <a:p>
                      <a:pPr algn="l"/>
                      <a:r>
                        <a:rPr sz="1100" b="0">
                          <a:solidFill>
                            <a:srgbClr val="202020"/>
                          </a:solidFill>
                        </a:rPr>
                        <a:t>sad</a:t>
                      </a:r>
                    </a:p>
                  </a:txBody>
                  <a:tcPr>
                    <a:solidFill>
                      <a:srgbClr val="E8F0FE"/>
                    </a:solidFill>
                  </a:tcPr>
                </a:tc>
                <a:tc>
                  <a:txBody>
                    <a:bodyPr/>
                    <a:lstStyle/>
                    <a:p>
                      <a:pPr algn="ctr"/>
                      <a:r>
                        <a:rPr sz="1100" b="0">
                          <a:solidFill>
                            <a:srgbClr val="202020"/>
                          </a:solidFill>
                        </a:rPr>
                        <a:t>sad</a:t>
                      </a:r>
                    </a:p>
                  </a:txBody>
                  <a:tcPr>
                    <a:solidFill>
                      <a:srgbClr val="E8F0FE"/>
                    </a:solidFill>
                  </a:tcPr>
                </a:tc>
                <a:tc>
                  <a:txBody>
                    <a:bodyPr/>
                    <a:lstStyle/>
                    <a:p>
                      <a:pPr algn="ctr"/>
                      <a:r>
                        <a:rPr sz="1100" b="0">
                          <a:solidFill>
                            <a:srgbClr val="202020"/>
                          </a:solidFill>
                        </a:rPr>
                        <a:t>576</a:t>
                      </a:r>
                    </a:p>
                  </a:txBody>
                  <a:tcPr>
                    <a:solidFill>
                      <a:srgbClr val="E8F0FE"/>
                    </a:solidFill>
                  </a:tcPr>
                </a:tc>
                <a:tc>
                  <a:txBody>
                    <a:bodyPr/>
                    <a:lstStyle/>
                    <a:p>
                      <a:pPr algn="ctr"/>
                      <a:r>
                        <a:rPr sz="1100" b="0">
                          <a:solidFill>
                            <a:srgbClr val="202020"/>
                          </a:solidFill>
                        </a:rPr>
                        <a:t>Tetap — cukup data</a:t>
                      </a:r>
                    </a:p>
                  </a:txBody>
                  <a:tcPr>
                    <a:solidFill>
                      <a:srgbClr val="E8F0FE"/>
                    </a:solidFill>
                  </a:tcPr>
                </a:tc>
              </a:tr>
              <a:tr h="402336">
                <a:tc>
                  <a:txBody>
                    <a:bodyPr/>
                    <a:lstStyle/>
                    <a:p>
                      <a:pPr algn="l"/>
                      <a:r>
                        <a:rPr sz="1100" b="0">
                          <a:solidFill>
                            <a:srgbClr val="202020"/>
                          </a:solidFill>
                        </a:rPr>
                        <a:t>negative</a:t>
                      </a:r>
                    </a:p>
                  </a:txBody>
                  <a:tcPr>
                    <a:solidFill>
                      <a:srgbClr val="FFFFFF"/>
                    </a:solidFill>
                  </a:tcPr>
                </a:tc>
                <a:tc>
                  <a:txBody>
                    <a:bodyPr/>
                    <a:lstStyle/>
                    <a:p>
                      <a:pPr algn="ctr"/>
                      <a:r>
                        <a:rPr sz="1100" b="0">
                          <a:solidFill>
                            <a:srgbClr val="202020"/>
                          </a:solidFill>
                        </a:rPr>
                        <a:t>angry (63) + fearful (13) + disgusted (24) + surprised (79)</a:t>
                      </a:r>
                    </a:p>
                  </a:txBody>
                  <a:tcPr>
                    <a:solidFill>
                      <a:srgbClr val="FFFFFF"/>
                    </a:solidFill>
                  </a:tcPr>
                </a:tc>
                <a:tc>
                  <a:txBody>
                    <a:bodyPr/>
                    <a:lstStyle/>
                    <a:p>
                      <a:pPr algn="ctr"/>
                      <a:r>
                        <a:rPr sz="1100" b="0">
                          <a:solidFill>
                            <a:srgbClr val="202020"/>
                          </a:solidFill>
                        </a:rPr>
                        <a:t>179</a:t>
                      </a:r>
                    </a:p>
                  </a:txBody>
                  <a:tcPr>
                    <a:solidFill>
                      <a:srgbClr val="FFFFFF"/>
                    </a:solidFill>
                  </a:tcPr>
                </a:tc>
                <a:tc>
                  <a:txBody>
                    <a:bodyPr/>
                    <a:lstStyle/>
                    <a:p>
                      <a:pPr algn="ctr"/>
                      <a:r>
                        <a:rPr sz="1100" b="0">
                          <a:solidFill>
                            <a:srgbClr val="202020"/>
                          </a:solidFill>
                        </a:rPr>
                        <a:t>Digabung — masing-masing &lt; 80 sample</a:t>
                      </a:r>
                    </a:p>
                  </a:txBody>
                  <a:tcPr>
                    <a:solidFill>
                      <a:srgbClr val="FFFFFF"/>
                    </a:solidFill>
                  </a:tcPr>
                </a:tc>
              </a:tr>
            </a:tbl>
          </a:graphicData>
        </a:graphic>
      </p:graphicFrame>
      <p:sp>
        <p:nvSpPr>
          <p:cNvPr id="4" name="TextBox 3"/>
          <p:cNvSpPr txBox="1"/>
          <p:nvPr/>
        </p:nvSpPr>
        <p:spPr>
          <a:xfrm>
            <a:off x="365760" y="3063240"/>
            <a:ext cx="8412480" cy="274320"/>
          </a:xfrm>
          <a:prstGeom prst="rect">
            <a:avLst/>
          </a:prstGeom>
          <a:noFill/>
        </p:spPr>
        <p:txBody>
          <a:bodyPr wrap="none">
            <a:spAutoFit/>
          </a:bodyPr>
          <a:lstStyle/>
          <a:p>
            <a:pPr>
              <a:defRPr sz="1100">
                <a:solidFill>
                  <a:srgbClr val="202020"/>
                </a:solidFill>
              </a:defRPr>
            </a:pPr>
            <a:r>
              <a:t>4 model × 3 skenario = 12 eksperimen tambahan  |  Total kumulatif: 24 eksperimen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Training 4-Class — From Scratch</a:t>
            </a:r>
          </a:p>
        </p:txBody>
      </p:sp>
      <p:sp>
        <p:nvSpPr>
          <p:cNvPr id="3" name="TextBox 2"/>
          <p:cNvSpPr txBox="1"/>
          <p:nvPr/>
        </p:nvSpPr>
        <p:spPr>
          <a:xfrm>
            <a:off x="457200" y="960120"/>
            <a:ext cx="8229600" cy="228600"/>
          </a:xfrm>
          <a:prstGeom prst="rect">
            <a:avLst/>
          </a:prstGeom>
          <a:noFill/>
        </p:spPr>
        <p:txBody>
          <a:bodyPr wrap="square">
            <a:spAutoFit/>
          </a:bodyPr>
          <a:lstStyle/>
          <a:p>
            <a:pPr>
              <a:defRPr sz="1000">
                <a:solidFill>
                  <a:srgbClr val="202020"/>
                </a:solidFill>
              </a:defRPr>
            </a:pPr>
            <a:r>
              <a:t>4 kelas: neutral, happy, sad, negative (angry + fearful + disgusted + surprised digabung)</a:t>
            </a:r>
          </a:p>
        </p:txBody>
      </p:sp>
      <p:graphicFrame>
        <p:nvGraphicFramePr>
          <p:cNvPr id="4" name="Table 3"/>
          <p:cNvGraphicFramePr>
            <a:graphicFrameLocks noGrp="1"/>
          </p:cNvGraphicFramePr>
          <p:nvPr/>
        </p:nvGraphicFramePr>
        <p:xfrm>
          <a:off x="457200" y="1234440"/>
          <a:ext cx="8229600" cy="3108960"/>
        </p:xfrm>
        <a:graphic>
          <a:graphicData uri="http://schemas.openxmlformats.org/drawingml/2006/table">
            <a:tbl>
              <a:tblPr firstRow="1" bandRow="1">
                <a:tableStyleId>{5C22544A-7EE6-4342-B048-85BDC9FD1C3A}</a:tableStyleId>
              </a:tblPr>
              <a:tblGrid>
                <a:gridCol w="514350"/>
                <a:gridCol w="2263140"/>
                <a:gridCol w="1543050"/>
                <a:gridCol w="1234440"/>
                <a:gridCol w="1234440"/>
                <a:gridCol w="1440180"/>
              </a:tblGrid>
              <a:tr h="345440">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Weighted F1</a:t>
                      </a:r>
                    </a:p>
                  </a:txBody>
                  <a:tcPr>
                    <a:solidFill>
                      <a:srgbClr val="1A73E8"/>
                    </a:solidFill>
                  </a:tcPr>
                </a:tc>
              </a:tr>
              <a:tr h="345440">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FCNN</a:t>
                      </a:r>
                    </a:p>
                  </a:txBody>
                  <a:tcPr>
                    <a:solidFill>
                      <a:srgbClr val="34A853"/>
                    </a:solidFill>
                  </a:tcPr>
                </a:tc>
                <a:tc>
                  <a:txBody>
                    <a:bodyPr/>
                    <a:lstStyle/>
                    <a:p>
                      <a:pPr algn="ctr"/>
                      <a:r>
                        <a:rPr sz="900" b="1">
                          <a:solidFill>
                            <a:srgbClr val="FFFFFF"/>
                          </a:solidFill>
                        </a:rPr>
                        <a:t>B3 Aug</a:t>
                      </a:r>
                    </a:p>
                  </a:txBody>
                  <a:tcPr>
                    <a:solidFill>
                      <a:srgbClr val="34A853"/>
                    </a:solidFill>
                  </a:tcPr>
                </a:tc>
                <a:tc>
                  <a:txBody>
                    <a:bodyPr/>
                    <a:lstStyle/>
                    <a:p>
                      <a:pPr algn="ctr"/>
                      <a:r>
                        <a:rPr sz="900" b="1">
                          <a:solidFill>
                            <a:srgbClr val="FFFFFF"/>
                          </a:solidFill>
                        </a:rPr>
                        <a:t>94.4%</a:t>
                      </a:r>
                    </a:p>
                  </a:txBody>
                  <a:tcPr>
                    <a:solidFill>
                      <a:srgbClr val="34A853"/>
                    </a:solidFill>
                  </a:tcPr>
                </a:tc>
                <a:tc>
                  <a:txBody>
                    <a:bodyPr/>
                    <a:lstStyle/>
                    <a:p>
                      <a:pPr algn="ctr"/>
                      <a:r>
                        <a:rPr sz="900" b="1">
                          <a:solidFill>
                            <a:srgbClr val="FFFFFF"/>
                          </a:solidFill>
                        </a:rPr>
                        <a:t>0.394</a:t>
                      </a:r>
                    </a:p>
                  </a:txBody>
                  <a:tcPr>
                    <a:solidFill>
                      <a:srgbClr val="34A853"/>
                    </a:solidFill>
                  </a:tcPr>
                </a:tc>
                <a:tc>
                  <a:txBody>
                    <a:bodyPr/>
                    <a:lstStyle/>
                    <a:p>
                      <a:pPr algn="ctr"/>
                      <a:r>
                        <a:rPr sz="900" b="1">
                          <a:solidFill>
                            <a:srgbClr val="FFFFFF"/>
                          </a:solidFill>
                        </a:rPr>
                        <a:t>0.943</a:t>
                      </a:r>
                    </a:p>
                  </a:txBody>
                  <a:tcPr>
                    <a:solidFill>
                      <a:srgbClr val="34A853"/>
                    </a:solidFill>
                  </a:tcPr>
                </a:tc>
              </a:tr>
              <a:tr h="345440">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94.6%</a:t>
                      </a:r>
                    </a:p>
                  </a:txBody>
                  <a:tcPr>
                    <a:solidFill>
                      <a:srgbClr val="FFFFFF"/>
                    </a:solidFill>
                  </a:tcPr>
                </a:tc>
                <a:tc>
                  <a:txBody>
                    <a:bodyPr/>
                    <a:lstStyle/>
                    <a:p>
                      <a:pPr algn="ctr"/>
                      <a:r>
                        <a:rPr sz="900" b="0">
                          <a:solidFill>
                            <a:srgbClr val="202020"/>
                          </a:solidFill>
                        </a:rPr>
                        <a:t>0.385</a:t>
                      </a:r>
                    </a:p>
                  </a:txBody>
                  <a:tcPr>
                    <a:solidFill>
                      <a:srgbClr val="FFFFFF"/>
                    </a:solidFill>
                  </a:tcPr>
                </a:tc>
                <a:tc>
                  <a:txBody>
                    <a:bodyPr/>
                    <a:lstStyle/>
                    <a:p>
                      <a:pPr algn="ctr"/>
                      <a:r>
                        <a:rPr sz="900" b="0">
                          <a:solidFill>
                            <a:srgbClr val="202020"/>
                          </a:solidFill>
                        </a:rPr>
                        <a:t>0.943</a:t>
                      </a:r>
                    </a:p>
                  </a:txBody>
                  <a:tcPr>
                    <a:solidFill>
                      <a:srgbClr val="FFFFFF"/>
                    </a:solidFill>
                  </a:tcPr>
                </a:tc>
              </a:tr>
              <a:tr h="345440">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B1 Baseline</a:t>
                      </a:r>
                    </a:p>
                  </a:txBody>
                  <a:tcPr>
                    <a:solidFill>
                      <a:srgbClr val="E8F0FE"/>
                    </a:solidFill>
                  </a:tcPr>
                </a:tc>
                <a:tc>
                  <a:txBody>
                    <a:bodyPr/>
                    <a:lstStyle/>
                    <a:p>
                      <a:pPr algn="ctr"/>
                      <a:r>
                        <a:rPr sz="900" b="0">
                          <a:solidFill>
                            <a:srgbClr val="202020"/>
                          </a:solidFill>
                        </a:rPr>
                        <a:t>95.8%</a:t>
                      </a:r>
                    </a:p>
                  </a:txBody>
                  <a:tcPr>
                    <a:solidFill>
                      <a:srgbClr val="E8F0FE"/>
                    </a:solidFill>
                  </a:tcPr>
                </a:tc>
                <a:tc>
                  <a:txBody>
                    <a:bodyPr/>
                    <a:lstStyle/>
                    <a:p>
                      <a:pPr algn="ctr"/>
                      <a:r>
                        <a:rPr sz="900" b="0">
                          <a:solidFill>
                            <a:srgbClr val="202020"/>
                          </a:solidFill>
                        </a:rPr>
                        <a:t>0.330</a:t>
                      </a:r>
                    </a:p>
                  </a:txBody>
                  <a:tcPr>
                    <a:solidFill>
                      <a:srgbClr val="E8F0FE"/>
                    </a:solidFill>
                  </a:tcPr>
                </a:tc>
                <a:tc>
                  <a:txBody>
                    <a:bodyPr/>
                    <a:lstStyle/>
                    <a:p>
                      <a:pPr algn="ctr"/>
                      <a:r>
                        <a:rPr sz="900" b="0">
                          <a:solidFill>
                            <a:srgbClr val="202020"/>
                          </a:solidFill>
                        </a:rPr>
                        <a:t>0.943</a:t>
                      </a:r>
                    </a:p>
                  </a:txBody>
                  <a:tcPr>
                    <a:solidFill>
                      <a:srgbClr val="E8F0FE"/>
                    </a:solidFill>
                  </a:tcPr>
                </a:tc>
              </a:tr>
              <a:tr h="345440">
                <a:tc>
                  <a:txBody>
                    <a:bodyPr/>
                    <a:lstStyle/>
                    <a:p>
                      <a:pPr algn="l"/>
                      <a:r>
                        <a:rPr sz="900" b="0">
                          <a:solidFill>
                            <a:srgbClr val="202020"/>
                          </a:solidFill>
                        </a:rPr>
                        <a:t>4</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95.8%</a:t>
                      </a:r>
                    </a:p>
                  </a:txBody>
                  <a:tcPr>
                    <a:solidFill>
                      <a:srgbClr val="FFFFFF"/>
                    </a:solidFill>
                  </a:tcPr>
                </a:tc>
                <a:tc>
                  <a:txBody>
                    <a:bodyPr/>
                    <a:lstStyle/>
                    <a:p>
                      <a:pPr algn="ctr"/>
                      <a:r>
                        <a:rPr sz="900" b="0">
                          <a:solidFill>
                            <a:srgbClr val="202020"/>
                          </a:solidFill>
                        </a:rPr>
                        <a:t>0.330</a:t>
                      </a:r>
                    </a:p>
                  </a:txBody>
                  <a:tcPr>
                    <a:solidFill>
                      <a:srgbClr val="FFFFFF"/>
                    </a:solidFill>
                  </a:tcPr>
                </a:tc>
                <a:tc>
                  <a:txBody>
                    <a:bodyPr/>
                    <a:lstStyle/>
                    <a:p>
                      <a:pPr algn="ctr"/>
                      <a:r>
                        <a:rPr sz="900" b="0">
                          <a:solidFill>
                            <a:srgbClr val="202020"/>
                          </a:solidFill>
                        </a:rPr>
                        <a:t>0.943</a:t>
                      </a:r>
                    </a:p>
                  </a:txBody>
                  <a:tcPr>
                    <a:solidFill>
                      <a:srgbClr val="FFFFFF"/>
                    </a:solidFill>
                  </a:tcPr>
                </a:tc>
              </a:tr>
              <a:tr h="345440">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92.9%</a:t>
                      </a:r>
                    </a:p>
                  </a:txBody>
                  <a:tcPr>
                    <a:solidFill>
                      <a:srgbClr val="E8F0FE"/>
                    </a:solidFill>
                  </a:tcPr>
                </a:tc>
                <a:tc>
                  <a:txBody>
                    <a:bodyPr/>
                    <a:lstStyle/>
                    <a:p>
                      <a:pPr algn="ctr"/>
                      <a:r>
                        <a:rPr sz="900" b="0">
                          <a:solidFill>
                            <a:srgbClr val="202020"/>
                          </a:solidFill>
                        </a:rPr>
                        <a:t>0.327</a:t>
                      </a:r>
                    </a:p>
                  </a:txBody>
                  <a:tcPr>
                    <a:solidFill>
                      <a:srgbClr val="E8F0FE"/>
                    </a:solidFill>
                  </a:tcPr>
                </a:tc>
                <a:tc>
                  <a:txBody>
                    <a:bodyPr/>
                    <a:lstStyle/>
                    <a:p>
                      <a:pPr algn="ctr"/>
                      <a:r>
                        <a:rPr sz="900" b="0">
                          <a:solidFill>
                            <a:srgbClr val="202020"/>
                          </a:solidFill>
                        </a:rPr>
                        <a:t>0.929</a:t>
                      </a:r>
                    </a:p>
                  </a:txBody>
                  <a:tcPr>
                    <a:solidFill>
                      <a:srgbClr val="E8F0FE"/>
                    </a:solidFill>
                  </a:tcPr>
                </a:tc>
              </a:tr>
              <a:tr h="345440">
                <a:tc>
                  <a:txBody>
                    <a:bodyPr/>
                    <a:lstStyle/>
                    <a:p>
                      <a:pPr algn="l"/>
                      <a:r>
                        <a:rPr sz="900" b="0">
                          <a:solidFill>
                            <a:srgbClr val="202020"/>
                          </a:solidFill>
                        </a:rPr>
                        <a:t>7</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92.8%</a:t>
                      </a:r>
                    </a:p>
                  </a:txBody>
                  <a:tcPr>
                    <a:solidFill>
                      <a:srgbClr val="FFFFFF"/>
                    </a:solidFill>
                  </a:tcPr>
                </a:tc>
                <a:tc>
                  <a:txBody>
                    <a:bodyPr/>
                    <a:lstStyle/>
                    <a:p>
                      <a:pPr algn="ctr"/>
                      <a:r>
                        <a:rPr sz="900" b="0">
                          <a:solidFill>
                            <a:srgbClr val="202020"/>
                          </a:solidFill>
                        </a:rPr>
                        <a:t>0.296</a:t>
                      </a:r>
                    </a:p>
                  </a:txBody>
                  <a:tcPr>
                    <a:solidFill>
                      <a:srgbClr val="FFFFFF"/>
                    </a:solidFill>
                  </a:tcPr>
                </a:tc>
                <a:tc>
                  <a:txBody>
                    <a:bodyPr/>
                    <a:lstStyle/>
                    <a:p>
                      <a:pPr algn="ctr"/>
                      <a:r>
                        <a:rPr sz="900" b="0">
                          <a:solidFill>
                            <a:srgbClr val="202020"/>
                          </a:solidFill>
                        </a:rPr>
                        <a:t>0.929</a:t>
                      </a:r>
                    </a:p>
                  </a:txBody>
                  <a:tcPr>
                    <a:solidFill>
                      <a:srgbClr val="FFFFFF"/>
                    </a:solidFill>
                  </a:tcPr>
                </a:tc>
              </a:tr>
              <a:tr h="345440">
                <a:tc>
                  <a:txBody>
                    <a:bodyPr/>
                    <a:lstStyle/>
                    <a:p>
                      <a:pPr algn="l"/>
                      <a:r>
                        <a:rPr sz="900" b="0">
                          <a:solidFill>
                            <a:srgbClr val="202020"/>
                          </a:solidFill>
                        </a:rPr>
                        <a:t>9</a:t>
                      </a:r>
                    </a:p>
                  </a:txBody>
                  <a:tcPr>
                    <a:solidFill>
                      <a:srgbClr val="E8F0FE"/>
                    </a:solidFill>
                  </a:tcPr>
                </a:tc>
                <a:tc>
                  <a:txBody>
                    <a:bodyPr/>
                    <a:lstStyle/>
                    <a:p>
                      <a:pPr algn="ctr"/>
                      <a:r>
                        <a:rPr sz="900" b="0">
                          <a:solidFill>
                            <a:srgbClr val="202020"/>
                          </a:solidFill>
                        </a:rPr>
                        <a:t>Intermediate Fusion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87.3%</a:t>
                      </a:r>
                    </a:p>
                  </a:txBody>
                  <a:tcPr>
                    <a:solidFill>
                      <a:srgbClr val="E8F0FE"/>
                    </a:solidFill>
                  </a:tcPr>
                </a:tc>
                <a:tc>
                  <a:txBody>
                    <a:bodyPr/>
                    <a:lstStyle/>
                    <a:p>
                      <a:pPr algn="ctr"/>
                      <a:r>
                        <a:rPr sz="900" b="0">
                          <a:solidFill>
                            <a:srgbClr val="202020"/>
                          </a:solidFill>
                        </a:rPr>
                        <a:t>0.258</a:t>
                      </a:r>
                    </a:p>
                  </a:txBody>
                  <a:tcPr>
                    <a:solidFill>
                      <a:srgbClr val="E8F0FE"/>
                    </a:solidFill>
                  </a:tcPr>
                </a:tc>
                <a:tc>
                  <a:txBody>
                    <a:bodyPr/>
                    <a:lstStyle/>
                    <a:p>
                      <a:pPr algn="ctr"/>
                      <a:r>
                        <a:rPr sz="900" b="0">
                          <a:solidFill>
                            <a:srgbClr val="202020"/>
                          </a:solidFill>
                        </a:rPr>
                        <a:t>0.895</a:t>
                      </a:r>
                    </a:p>
                  </a:txBody>
                  <a:tcPr>
                    <a:solidFill>
                      <a:srgbClr val="E8F0FE"/>
                    </a:solidFill>
                  </a:tcPr>
                </a:tc>
              </a:tr>
              <a:tr h="345440">
                <a:tc>
                  <a:txBody>
                    <a:bodyPr/>
                    <a:lstStyle/>
                    <a:p>
                      <a:pPr algn="l"/>
                      <a:r>
                        <a:rPr sz="900" b="0">
                          <a:solidFill>
                            <a:srgbClr val="202020"/>
                          </a:solidFill>
                        </a:rPr>
                        <a:t>12</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79.2%</a:t>
                      </a:r>
                    </a:p>
                  </a:txBody>
                  <a:tcPr>
                    <a:solidFill>
                      <a:srgbClr val="FFFFFF"/>
                    </a:solidFill>
                  </a:tcPr>
                </a:tc>
                <a:tc>
                  <a:txBody>
                    <a:bodyPr/>
                    <a:lstStyle/>
                    <a:p>
                      <a:pPr algn="ctr"/>
                      <a:r>
                        <a:rPr sz="900" b="0">
                          <a:solidFill>
                            <a:srgbClr val="202020"/>
                          </a:solidFill>
                        </a:rPr>
                        <a:t>0.238</a:t>
                      </a:r>
                    </a:p>
                  </a:txBody>
                  <a:tcPr>
                    <a:solidFill>
                      <a:srgbClr val="FFFFFF"/>
                    </a:solidFill>
                  </a:tcPr>
                </a:tc>
                <a:tc>
                  <a:txBody>
                    <a:bodyPr/>
                    <a:lstStyle/>
                    <a:p>
                      <a:pPr algn="ctr"/>
                      <a:r>
                        <a:rPr sz="900" b="0">
                          <a:solidFill>
                            <a:srgbClr val="202020"/>
                          </a:solidFill>
                        </a:rPr>
                        <a:t>0.853</a:t>
                      </a:r>
                    </a:p>
                  </a:txBody>
                  <a:tcPr>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Hasil 4-Class — Perbandingan Skenario</a:t>
            </a:r>
          </a:p>
        </p:txBody>
      </p:sp>
      <p:pic>
        <p:nvPicPr>
          <p:cNvPr id="3" name="Picture 2" descr="comparison_4class_scenarios.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Grouped bar chart: Macro F1 per model per skenario (4-class from scratch)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7-Class vs 4-Class</a:t>
            </a:r>
          </a:p>
        </p:txBody>
      </p:sp>
      <p:pic>
        <p:nvPicPr>
          <p:cNvPr id="3" name="Picture 2" descr="comparison_4class_scenarios.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Perbandingan Macro F1 terbaik: 7-class vs 4-class per model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7-Class vs 4-Class (From Scratch)</a:t>
            </a:r>
          </a:p>
        </p:txBody>
      </p:sp>
      <p:graphicFrame>
        <p:nvGraphicFramePr>
          <p:cNvPr id="3" name="Table 2"/>
          <p:cNvGraphicFramePr>
            <a:graphicFrameLocks noGrp="1"/>
          </p:cNvGraphicFramePr>
          <p:nvPr/>
        </p:nvGraphicFramePr>
        <p:xfrm>
          <a:off x="457200" y="1097280"/>
          <a:ext cx="8229600" cy="1737360"/>
        </p:xfrm>
        <a:graphic>
          <a:graphicData uri="http://schemas.openxmlformats.org/drawingml/2006/table">
            <a:tbl>
              <a:tblPr firstRow="1" bandRow="1">
                <a:tableStyleId>{5C22544A-7EE6-4342-B048-85BDC9FD1C3A}</a:tableStyleId>
              </a:tblPr>
              <a:tblGrid>
                <a:gridCol w="2286000"/>
                <a:gridCol w="2286000"/>
                <a:gridCol w="2286000"/>
                <a:gridCol w="1371600"/>
              </a:tblGrid>
              <a:tr h="347472">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7-Class Best (Macro F1)</a:t>
                      </a:r>
                    </a:p>
                  </a:txBody>
                  <a:tcPr>
                    <a:solidFill>
                      <a:srgbClr val="1A73E8"/>
                    </a:solidFill>
                  </a:tcPr>
                </a:tc>
                <a:tc>
                  <a:txBody>
                    <a:bodyPr/>
                    <a:lstStyle/>
                    <a:p>
                      <a:pPr algn="ctr"/>
                      <a:r>
                        <a:rPr sz="1000" b="1">
                          <a:solidFill>
                            <a:srgbClr val="FFFFFF"/>
                          </a:solidFill>
                        </a:rPr>
                        <a:t>4-Class Best (Macro F1)</a:t>
                      </a:r>
                    </a:p>
                  </a:txBody>
                  <a:tcPr>
                    <a:solidFill>
                      <a:srgbClr val="1A73E8"/>
                    </a:solidFill>
                  </a:tcPr>
                </a:tc>
                <a:tc>
                  <a:txBody>
                    <a:bodyPr/>
                    <a:lstStyle/>
                    <a:p>
                      <a:pPr algn="ctr"/>
                      <a:r>
                        <a:rPr sz="1000" b="1">
                          <a:solidFill>
                            <a:srgbClr val="FFFFFF"/>
                          </a:solidFill>
                        </a:rPr>
                        <a:t>Peningkatan</a:t>
                      </a:r>
                    </a:p>
                  </a:txBody>
                  <a:tcPr>
                    <a:solidFill>
                      <a:srgbClr val="1A73E8"/>
                    </a:solidFill>
                  </a:tcPr>
                </a:tc>
              </a:tr>
              <a:tr h="347472">
                <a:tc>
                  <a:txBody>
                    <a:bodyPr/>
                    <a:lstStyle/>
                    <a:p>
                      <a:pPr algn="l"/>
                      <a:r>
                        <a:rPr sz="1000" b="1">
                          <a:solidFill>
                            <a:srgbClr val="FFFFFF"/>
                          </a:solidFill>
                        </a:rPr>
                        <a:t>FCNN</a:t>
                      </a:r>
                    </a:p>
                  </a:txBody>
                  <a:tcPr>
                    <a:solidFill>
                      <a:srgbClr val="34A853"/>
                    </a:solidFill>
                  </a:tcPr>
                </a:tc>
                <a:tc>
                  <a:txBody>
                    <a:bodyPr/>
                    <a:lstStyle/>
                    <a:p>
                      <a:pPr algn="ctr"/>
                      <a:r>
                        <a:rPr sz="1000" b="1">
                          <a:solidFill>
                            <a:srgbClr val="FFFFFF"/>
                          </a:solidFill>
                        </a:rPr>
                        <a:t>0.234 (B1)</a:t>
                      </a:r>
                    </a:p>
                  </a:txBody>
                  <a:tcPr>
                    <a:solidFill>
                      <a:srgbClr val="34A853"/>
                    </a:solidFill>
                  </a:tcPr>
                </a:tc>
                <a:tc>
                  <a:txBody>
                    <a:bodyPr/>
                    <a:lstStyle/>
                    <a:p>
                      <a:pPr algn="ctr"/>
                      <a:r>
                        <a:rPr sz="1000" b="1">
                          <a:solidFill>
                            <a:srgbClr val="FFFFFF"/>
                          </a:solidFill>
                        </a:rPr>
                        <a:t>0.394 (B3)</a:t>
                      </a:r>
                    </a:p>
                  </a:txBody>
                  <a:tcPr>
                    <a:solidFill>
                      <a:srgbClr val="34A853"/>
                    </a:solidFill>
                  </a:tcPr>
                </a:tc>
                <a:tc>
                  <a:txBody>
                    <a:bodyPr/>
                    <a:lstStyle/>
                    <a:p>
                      <a:pPr algn="ctr"/>
                      <a:r>
                        <a:rPr sz="1000" b="1">
                          <a:solidFill>
                            <a:srgbClr val="FFFFFF"/>
                          </a:solidFill>
                        </a:rPr>
                        <a:t>+68%</a:t>
                      </a:r>
                    </a:p>
                  </a:txBody>
                  <a:tcPr>
                    <a:solidFill>
                      <a:srgbClr val="34A853"/>
                    </a:solidFill>
                  </a:tcPr>
                </a:tc>
              </a:tr>
              <a:tr h="347472">
                <a:tc>
                  <a:txBody>
                    <a:bodyPr/>
                    <a:lstStyle/>
                    <a:p>
                      <a:pPr algn="l"/>
                      <a:r>
                        <a:rPr sz="1000" b="0">
                          <a:solidFill>
                            <a:srgbClr val="202020"/>
                          </a:solidFill>
                        </a:rPr>
                        <a:t>Late Fusion</a:t>
                      </a:r>
                    </a:p>
                  </a:txBody>
                  <a:tcPr>
                    <a:solidFill>
                      <a:srgbClr val="FFFFFF"/>
                    </a:solidFill>
                  </a:tcPr>
                </a:tc>
                <a:tc>
                  <a:txBody>
                    <a:bodyPr/>
                    <a:lstStyle/>
                    <a:p>
                      <a:pPr algn="ctr"/>
                      <a:r>
                        <a:rPr sz="1000" b="0">
                          <a:solidFill>
                            <a:srgbClr val="202020"/>
                          </a:solidFill>
                        </a:rPr>
                        <a:t>0.230 (B1)</a:t>
                      </a:r>
                    </a:p>
                  </a:txBody>
                  <a:tcPr>
                    <a:solidFill>
                      <a:srgbClr val="FFFFFF"/>
                    </a:solidFill>
                  </a:tcPr>
                </a:tc>
                <a:tc>
                  <a:txBody>
                    <a:bodyPr/>
                    <a:lstStyle/>
                    <a:p>
                      <a:pPr algn="ctr"/>
                      <a:r>
                        <a:rPr sz="1000" b="0">
                          <a:solidFill>
                            <a:srgbClr val="202020"/>
                          </a:solidFill>
                        </a:rPr>
                        <a:t>0.385 (B3)</a:t>
                      </a:r>
                    </a:p>
                  </a:txBody>
                  <a:tcPr>
                    <a:solidFill>
                      <a:srgbClr val="FFFFFF"/>
                    </a:solidFill>
                  </a:tcPr>
                </a:tc>
                <a:tc>
                  <a:txBody>
                    <a:bodyPr/>
                    <a:lstStyle/>
                    <a:p>
                      <a:pPr algn="ctr"/>
                      <a:r>
                        <a:rPr sz="1000" b="0">
                          <a:solidFill>
                            <a:srgbClr val="202020"/>
                          </a:solidFill>
                        </a:rPr>
                        <a:t>+67%</a:t>
                      </a:r>
                    </a:p>
                  </a:txBody>
                  <a:tcPr>
                    <a:solidFill>
                      <a:srgbClr val="FFFFFF"/>
                    </a:solidFill>
                  </a:tcPr>
                </a:tc>
              </a:tr>
              <a:tr h="347472">
                <a:tc>
                  <a:txBody>
                    <a:bodyPr/>
                    <a:lstStyle/>
                    <a:p>
                      <a:pPr algn="l"/>
                      <a:r>
                        <a:rPr sz="1000" b="0">
                          <a:solidFill>
                            <a:srgbClr val="202020"/>
                          </a:solidFill>
                        </a:rPr>
                        <a:t>CNN</a:t>
                      </a:r>
                    </a:p>
                  </a:txBody>
                  <a:tcPr>
                    <a:solidFill>
                      <a:srgbClr val="E8F0FE"/>
                    </a:solidFill>
                  </a:tcPr>
                </a:tc>
                <a:tc>
                  <a:txBody>
                    <a:bodyPr/>
                    <a:lstStyle/>
                    <a:p>
                      <a:pPr algn="ctr"/>
                      <a:r>
                        <a:rPr sz="1000" b="0">
                          <a:solidFill>
                            <a:srgbClr val="202020"/>
                          </a:solidFill>
                        </a:rPr>
                        <a:t>0.134 (B2)</a:t>
                      </a:r>
                    </a:p>
                  </a:txBody>
                  <a:tcPr>
                    <a:solidFill>
                      <a:srgbClr val="E8F0FE"/>
                    </a:solidFill>
                  </a:tcPr>
                </a:tc>
                <a:tc>
                  <a:txBody>
                    <a:bodyPr/>
                    <a:lstStyle/>
                    <a:p>
                      <a:pPr algn="ctr"/>
                      <a:r>
                        <a:rPr sz="1000" b="0">
                          <a:solidFill>
                            <a:srgbClr val="202020"/>
                          </a:solidFill>
                        </a:rPr>
                        <a:t>0.296 (B2)</a:t>
                      </a:r>
                    </a:p>
                  </a:txBody>
                  <a:tcPr>
                    <a:solidFill>
                      <a:srgbClr val="E8F0FE"/>
                    </a:solidFill>
                  </a:tcPr>
                </a:tc>
                <a:tc>
                  <a:txBody>
                    <a:bodyPr/>
                    <a:lstStyle/>
                    <a:p>
                      <a:pPr algn="ctr"/>
                      <a:r>
                        <a:rPr sz="1000" b="0">
                          <a:solidFill>
                            <a:srgbClr val="202020"/>
                          </a:solidFill>
                        </a:rPr>
                        <a:t>+121%</a:t>
                      </a:r>
                    </a:p>
                  </a:txBody>
                  <a:tcPr>
                    <a:solidFill>
                      <a:srgbClr val="E8F0FE"/>
                    </a:solidFill>
                  </a:tcPr>
                </a:tc>
              </a:tr>
              <a:tr h="347472">
                <a:tc>
                  <a:txBody>
                    <a:bodyPr/>
                    <a:lstStyle/>
                    <a:p>
                      <a:pPr algn="l"/>
                      <a:r>
                        <a:rPr sz="1000" b="0">
                          <a:solidFill>
                            <a:srgbClr val="202020"/>
                          </a:solidFill>
                        </a:rPr>
                        <a:t>Intermediate Fusion</a:t>
                      </a:r>
                    </a:p>
                  </a:txBody>
                  <a:tcPr>
                    <a:solidFill>
                      <a:srgbClr val="FFFFFF"/>
                    </a:solidFill>
                  </a:tcPr>
                </a:tc>
                <a:tc>
                  <a:txBody>
                    <a:bodyPr/>
                    <a:lstStyle/>
                    <a:p>
                      <a:pPr algn="ctr"/>
                      <a:r>
                        <a:rPr sz="1000" b="0">
                          <a:solidFill>
                            <a:srgbClr val="202020"/>
                          </a:solidFill>
                        </a:rPr>
                        <a:t>0.140 (B2)</a:t>
                      </a:r>
                    </a:p>
                  </a:txBody>
                  <a:tcPr>
                    <a:solidFill>
                      <a:srgbClr val="FFFFFF"/>
                    </a:solidFill>
                  </a:tcPr>
                </a:tc>
                <a:tc>
                  <a:txBody>
                    <a:bodyPr/>
                    <a:lstStyle/>
                    <a:p>
                      <a:pPr algn="ctr"/>
                      <a:r>
                        <a:rPr sz="1000" b="0">
                          <a:solidFill>
                            <a:srgbClr val="202020"/>
                          </a:solidFill>
                        </a:rPr>
                        <a:t>0.258 (B2)</a:t>
                      </a:r>
                    </a:p>
                  </a:txBody>
                  <a:tcPr>
                    <a:solidFill>
                      <a:srgbClr val="FFFFFF"/>
                    </a:solidFill>
                  </a:tcPr>
                </a:tc>
                <a:tc>
                  <a:txBody>
                    <a:bodyPr/>
                    <a:lstStyle/>
                    <a:p>
                      <a:pPr algn="ctr"/>
                      <a:r>
                        <a:rPr sz="1000" b="0">
                          <a:solidFill>
                            <a:srgbClr val="202020"/>
                          </a:solidFill>
                        </a:rPr>
                        <a:t>+84%</a:t>
                      </a:r>
                    </a:p>
                  </a:txBody>
                  <a:tcPr>
                    <a:solidFill>
                      <a:srgbClr val="FFFFFF"/>
                    </a:solidFill>
                  </a:tcPr>
                </a:tc>
              </a:tr>
            </a:tbl>
          </a:graphicData>
        </a:graphic>
      </p:graphicFrame>
      <p:graphicFrame>
        <p:nvGraphicFramePr>
          <p:cNvPr id="4" name="Table 3"/>
          <p:cNvGraphicFramePr>
            <a:graphicFrameLocks noGrp="1"/>
          </p:cNvGraphicFramePr>
          <p:nvPr/>
        </p:nvGraphicFramePr>
        <p:xfrm>
          <a:off x="457200" y="2926080"/>
          <a:ext cx="8229600" cy="1828800"/>
        </p:xfrm>
        <a:graphic>
          <a:graphicData uri="http://schemas.openxmlformats.org/drawingml/2006/table">
            <a:tbl>
              <a:tblPr firstRow="1" bandRow="1">
                <a:tableStyleId>{5C22544A-7EE6-4342-B048-85BDC9FD1C3A}</a:tableStyleId>
              </a:tblPr>
              <a:tblGrid>
                <a:gridCol w="2743200"/>
                <a:gridCol w="5486400"/>
              </a:tblGrid>
              <a:tr h="457200">
                <a:tc>
                  <a:txBody>
                    <a:bodyPr/>
                    <a:lstStyle/>
                    <a:p>
                      <a:pPr algn="ctr"/>
                      <a:r>
                        <a:rPr sz="1000" b="1">
                          <a:solidFill>
                            <a:srgbClr val="FFFFFF"/>
                          </a:solidFill>
                        </a:rPr>
                        <a:t>Temuan</a:t>
                      </a:r>
                    </a:p>
                  </a:txBody>
                  <a:tcPr>
                    <a:solidFill>
                      <a:srgbClr val="1A73E8"/>
                    </a:solidFill>
                  </a:tcPr>
                </a:tc>
                <a:tc>
                  <a:txBody>
                    <a:bodyPr/>
                    <a:lstStyle/>
                    <a:p>
                      <a:pPr algn="ctr"/>
                      <a:r>
                        <a:rPr sz="1000" b="1">
                          <a:solidFill>
                            <a:srgbClr val="FFFFFF"/>
                          </a:solidFill>
                        </a:rPr>
                        <a:t>Penjelasan</a:t>
                      </a:r>
                    </a:p>
                  </a:txBody>
                  <a:tcPr>
                    <a:solidFill>
                      <a:srgbClr val="1A73E8"/>
                    </a:solidFill>
                  </a:tcPr>
                </a:tc>
              </a:tr>
              <a:tr h="457200">
                <a:tc>
                  <a:txBody>
                    <a:bodyPr/>
                    <a:lstStyle/>
                    <a:p>
                      <a:pPr algn="l"/>
                      <a:r>
                        <a:rPr sz="900">
                          <a:solidFill>
                            <a:srgbClr val="202020"/>
                          </a:solidFill>
                        </a:rPr>
                        <a:t>5. Penggabungan kelas langka signifikan</a:t>
                      </a:r>
                    </a:p>
                  </a:txBody>
                  <a:tcPr>
                    <a:solidFill>
                      <a:srgbClr val="E8F0FE"/>
                    </a:solidFill>
                  </a:tcPr>
                </a:tc>
                <a:tc>
                  <a:txBody>
                    <a:bodyPr/>
                    <a:lstStyle/>
                    <a:p>
                      <a:pPr algn="ctr"/>
                      <a:r>
                        <a:rPr sz="900">
                          <a:solidFill>
                            <a:srgbClr val="202020"/>
                          </a:solidFill>
                        </a:rPr>
                        <a:t>Kelas "negative" punya 145 sample vs maks 70 di 7-class</a:t>
                      </a:r>
                    </a:p>
                  </a:txBody>
                  <a:tcPr>
                    <a:solidFill>
                      <a:srgbClr val="E8F0FE"/>
                    </a:solidFill>
                  </a:tcPr>
                </a:tc>
              </a:tr>
              <a:tr h="457200">
                <a:tc>
                  <a:txBody>
                    <a:bodyPr/>
                    <a:lstStyle/>
                    <a:p>
                      <a:pPr algn="l"/>
                      <a:r>
                        <a:rPr sz="900">
                          <a:solidFill>
                            <a:srgbClr val="202020"/>
                          </a:solidFill>
                        </a:rPr>
                        <a:t>6. Augmentasi efektif di 4-class, tidak di 7-class</a:t>
                      </a:r>
                    </a:p>
                  </a:txBody>
                  <a:tcPr>
                    <a:solidFill>
                      <a:srgbClr val="FFFFFF"/>
                    </a:solidFill>
                  </a:tcPr>
                </a:tc>
                <a:tc>
                  <a:txBody>
                    <a:bodyPr/>
                    <a:lstStyle/>
                    <a:p>
                      <a:pPr algn="ctr"/>
                      <a:r>
                        <a:rPr sz="900">
                          <a:solidFill>
                            <a:srgbClr val="202020"/>
                          </a:solidFill>
                        </a:rPr>
                        <a:t>4-class: 145 sample → augmentasi bermakna. 7-class: fearful 8 sample → tidak bermakna</a:t>
                      </a:r>
                    </a:p>
                  </a:txBody>
                  <a:tcPr>
                    <a:solidFill>
                      <a:srgbClr val="FFFFFF"/>
                    </a:solidFill>
                  </a:tcPr>
                </a:tc>
              </a:tr>
              <a:tr h="457200">
                <a:tc>
                  <a:txBody>
                    <a:bodyPr/>
                    <a:lstStyle/>
                    <a:p>
                      <a:pPr algn="l"/>
                      <a:r>
                        <a:rPr sz="900">
                          <a:solidFill>
                            <a:srgbClr val="202020"/>
                          </a:solidFill>
                        </a:rPr>
                        <a:t>7. FCNN konsisten terbaik di kedua konfigurasi</a:t>
                      </a:r>
                    </a:p>
                  </a:txBody>
                  <a:tcPr>
                    <a:solidFill>
                      <a:srgbClr val="E8F0FE"/>
                    </a:solidFill>
                  </a:tcPr>
                </a:tc>
                <a:tc>
                  <a:txBody>
                    <a:bodyPr/>
                    <a:lstStyle/>
                    <a:p>
                      <a:pPr algn="ctr"/>
                      <a:r>
                        <a:rPr sz="900">
                          <a:solidFill>
                            <a:srgbClr val="202020"/>
                          </a:solidFill>
                        </a:rPr>
                        <a:t>Fitur geometrik selalu mengungguli fitur penampilan (citra wajah)</a:t>
                      </a:r>
                    </a:p>
                  </a:txBody>
                  <a:tcPr>
                    <a:solidFill>
                      <a:srgbClr val="E8F0FE"/>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3: Transfer Learning</a:t>
            </a:r>
          </a:p>
        </p:txBody>
      </p:sp>
      <p:sp>
        <p:nvSpPr>
          <p:cNvPr id="3" name="TextBox 2"/>
          <p:cNvSpPr txBox="1"/>
          <p:nvPr/>
        </p:nvSpPr>
        <p:spPr>
          <a:xfrm>
            <a:off x="365760" y="914400"/>
            <a:ext cx="8412480" cy="1371600"/>
          </a:xfrm>
          <a:prstGeom prst="rect">
            <a:avLst/>
          </a:prstGeom>
          <a:noFill/>
          <a:solidFill>
            <a:srgbClr val="FFF0CC"/>
          </a:solidFill>
        </p:spPr>
        <p:txBody>
          <a:bodyPr wrap="square">
            <a:spAutoFit/>
          </a:bodyPr>
          <a:lstStyle/>
          <a:p>
            <a:pPr>
              <a:defRPr sz="1000" b="1">
                <a:solidFill>
                  <a:srgbClr val="202020"/>
                </a:solidFill>
              </a:defRPr>
            </a:pPr>
            <a:r>
              <a:t>Motivasi dari hasil Tahap 2:</a:t>
            </a:r>
          </a:p>
          <a:p>
            <a:pPr>
              <a:defRPr sz="1000">
                <a:solidFill>
                  <a:srgbClr val="202020"/>
                </a:solidFill>
              </a:defRPr>
            </a:pPr>
            <a:r>
              <a:t>-&gt; FCNN (landmark) sudah membaik: Macro F1 0.394  |  Namun CNN (citra) masih rendah: Macro F1 0.296</a:t>
            </a:r>
          </a:p>
          <a:p>
            <a:pPr>
              <a:defRPr sz="1000">
                <a:solidFill>
                  <a:srgbClr val="202020"/>
                </a:solidFill>
              </a:defRPr>
            </a:pPr>
            <a:r>
              <a:t>-&gt; Penyebab CNN lemah: dataset terlalu kecil (~9K sampel) untuk melatih CNN from scratch</a:t>
            </a:r>
          </a:p>
          <a:p>
            <a:pPr>
              <a:defRPr sz="1000">
                <a:solidFill>
                  <a:srgbClr val="202020"/>
                </a:solidFill>
              </a:defRPr>
            </a:pPr>
            <a:r>
              <a:t>-&gt; Solusi: gunakan ResNet18 pretrained ImageNet -- sudah memahami fitur visual dari 1.2 juta gambar</a:t>
            </a:r>
          </a:p>
        </p:txBody>
      </p:sp>
      <p:sp>
        <p:nvSpPr>
          <p:cNvPr id="5" name="TextBox 4"/>
          <p:cNvSpPr txBox="1"/>
          <p:nvPr/>
        </p:nvSpPr>
        <p:spPr>
          <a:xfrm>
            <a:off x="365760" y="4663440"/>
            <a:ext cx="8412480" cy="365760"/>
          </a:xfrm>
          <a:prstGeom prst="rect">
            <a:avLst/>
          </a:prstGeom>
          <a:noFill/>
        </p:spPr>
        <p:txBody>
          <a:bodyPr wrap="square">
            <a:spAutoFit/>
          </a:bodyPr>
          <a:lstStyle/>
          <a:p>
            <a:pPr>
              <a:defRPr sz="1000">
                <a:solidFill>
                  <a:srgbClr val="202020"/>
                </a:solidFill>
              </a:defRPr>
            </a:pPr>
            <a:r>
              <a:t>4 model x 3 skenario x 2 konfigurasi kelas (7-class + 4-class) = 24 eksperimen tambahan</a:t>
            </a:r>
          </a:p>
          <a:p>
            <a:pPr>
              <a:defRPr sz="1000">
                <a:solidFill>
                  <a:srgbClr val="202020"/>
                </a:solidFill>
              </a:defRPr>
            </a:pPr>
            <a:r>
              <a:t>Total keseluruhan: 12 + 12 + 24 = 48 eksperimen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548640"/>
          </a:xfrm>
          <a:prstGeom prst="rect">
            <a:avLst/>
          </a:prstGeom>
          <a:noFill/>
        </p:spPr>
        <p:txBody>
          <a:bodyPr wrap="none">
            <a:spAutoFit/>
          </a:bodyPr>
          <a:lstStyle/>
          <a:p>
            <a:pPr>
              <a:defRPr sz="2000" b="1">
                <a:solidFill>
                  <a:srgbClr val="202020"/>
                </a:solidFill>
              </a:defRPr>
            </a:pPr>
            <a:r>
              <a:t>Perubahan Arsitektur: From Scratch → Transfer Learning</a:t>
            </a:r>
          </a:p>
        </p:txBody>
      </p:sp>
      <p:graphicFrame>
        <p:nvGraphicFramePr>
          <p:cNvPr id="3" name="Table 2"/>
          <p:cNvGraphicFramePr>
            <a:graphicFrameLocks noGrp="1"/>
          </p:cNvGraphicFramePr>
          <p:nvPr/>
        </p:nvGraphicFramePr>
        <p:xfrm>
          <a:off x="365760" y="914400"/>
          <a:ext cx="8412480" cy="2286000"/>
        </p:xfrm>
        <a:graphic>
          <a:graphicData uri="http://schemas.openxmlformats.org/drawingml/2006/table">
            <a:tbl>
              <a:tblPr firstRow="1" bandRow="1"/>
              <a:tblGrid>
                <a:gridCol w="1828800"/>
                <a:gridCol w="2377440"/>
                <a:gridCol w="2377440"/>
                <a:gridCol w="1828800"/>
              </a:tblGrid>
              <a:tr h="381000">
                <a:tc>
                  <a:txBody>
                    <a:bodyPr/>
                    <a:lstStyle/>
                    <a:p>
                      <a:pPr algn="ctr"/>
                      <a:r>
                        <a:rPr sz="1100" b="1">
                          <a:solidFill>
                            <a:srgbClr val="FFFFFF"/>
                          </a:solidFill>
                        </a:rPr>
                        <a:t>Komponen</a:t>
                      </a:r>
                    </a:p>
                  </a:txBody>
                  <a:tcPr>
                    <a:solidFill>
                      <a:srgbClr val="1A73E8"/>
                    </a:solidFill>
                  </a:tcPr>
                </a:tc>
                <a:tc>
                  <a:txBody>
                    <a:bodyPr/>
                    <a:lstStyle/>
                    <a:p>
                      <a:pPr algn="ctr"/>
                      <a:r>
                        <a:rPr sz="1100" b="1">
                          <a:solidFill>
                            <a:srgbClr val="FFFFFF"/>
                          </a:solidFill>
                        </a:rPr>
                        <a:t>Tahap 1 &amp; 2 (From Scratch)</a:t>
                      </a:r>
                    </a:p>
                  </a:txBody>
                  <a:tcPr>
                    <a:solidFill>
                      <a:srgbClr val="1A73E8"/>
                    </a:solidFill>
                  </a:tcPr>
                </a:tc>
                <a:tc>
                  <a:txBody>
                    <a:bodyPr/>
                    <a:lstStyle/>
                    <a:p>
                      <a:pPr algn="ctr"/>
                      <a:r>
                        <a:rPr sz="1100" b="1">
                          <a:solidFill>
                            <a:srgbClr val="FFFFFF"/>
                          </a:solidFill>
                        </a:rPr>
                        <a:t>Tahap 3 (Transfer Learning)</a:t>
                      </a:r>
                    </a:p>
                  </a:txBody>
                  <a:tcPr>
                    <a:solidFill>
                      <a:srgbClr val="1A73E8"/>
                    </a:solidFill>
                  </a:tcPr>
                </a:tc>
                <a:tc>
                  <a:txBody>
                    <a:bodyPr/>
                    <a:lstStyle/>
                    <a:p>
                      <a:pPr algn="ctr"/>
                      <a:r>
                        <a:rPr sz="1100" b="1">
                          <a:solidFill>
                            <a:srgbClr val="FFFFFF"/>
                          </a:solidFill>
                        </a:rPr>
                        <a:t>Catatan</a:t>
                      </a:r>
                    </a:p>
                  </a:txBody>
                  <a:tcPr>
                    <a:solidFill>
                      <a:srgbClr val="1A73E8"/>
                    </a:solidFill>
                  </a:tcPr>
                </a:tc>
              </a:tr>
              <a:tr h="381000">
                <a:tc>
                  <a:txBody>
                    <a:bodyPr/>
                    <a:lstStyle/>
                    <a:p>
                      <a:pPr algn="l"/>
                      <a:r>
                        <a:rPr sz="1000" b="0">
                          <a:solidFill>
                            <a:srgbClr val="202020"/>
                          </a:solidFill>
                        </a:rPr>
                        <a:t>CNN backbone</a:t>
                      </a:r>
                    </a:p>
                  </a:txBody>
                  <a:tcPr>
                    <a:solidFill>
                      <a:srgbClr val="E8F0FE"/>
                    </a:solidFill>
                  </a:tcPr>
                </a:tc>
                <a:tc>
                  <a:txBody>
                    <a:bodyPr/>
                    <a:lstStyle/>
                    <a:p>
                      <a:pPr algn="ctr"/>
                      <a:r>
                        <a:rPr sz="1000" b="0">
                          <a:solidFill>
                            <a:srgbClr val="202020"/>
                          </a:solidFill>
                        </a:rPr>
                        <a:t>EmotionCNN (dari nol)</a:t>
                      </a:r>
                    </a:p>
                  </a:txBody>
                  <a:tcPr>
                    <a:solidFill>
                      <a:srgbClr val="E8F0FE"/>
                    </a:solidFill>
                  </a:tcPr>
                </a:tc>
                <a:tc>
                  <a:txBody>
                    <a:bodyPr/>
                    <a:lstStyle/>
                    <a:p>
                      <a:pPr algn="ctr"/>
                      <a:r>
                        <a:rPr sz="1000" b="0">
                          <a:solidFill>
                            <a:srgbClr val="202020"/>
                          </a:solidFill>
                        </a:rPr>
                        <a:t>ResNet18 pretrained ImageNet</a:t>
                      </a:r>
                    </a:p>
                  </a:txBody>
                  <a:tcPr>
                    <a:solidFill>
                      <a:srgbClr val="E8F0FE"/>
                    </a:solidFill>
                  </a:tcPr>
                </a:tc>
                <a:tc>
                  <a:txBody>
                    <a:bodyPr/>
                    <a:lstStyle/>
                    <a:p>
                      <a:pPr algn="ctr"/>
                      <a:r>
                        <a:rPr sz="1000" b="0">
                          <a:solidFill>
                            <a:srgbClr val="202020"/>
                          </a:solidFill>
                        </a:rPr>
                        <a:t>Fine-tune seluruh layer</a:t>
                      </a:r>
                    </a:p>
                  </a:txBody>
                  <a:tcPr>
                    <a:solidFill>
                      <a:srgbClr val="E8F0FE"/>
                    </a:solidFill>
                  </a:tcPr>
                </a:tc>
              </a:tr>
              <a:tr h="381000">
                <a:tc>
                  <a:txBody>
                    <a:bodyPr/>
                    <a:lstStyle/>
                    <a:p>
                      <a:pPr algn="l"/>
                      <a:r>
                        <a:rPr sz="1000" b="0">
                          <a:solidFill>
                            <a:srgbClr val="202020"/>
                          </a:solidFill>
                        </a:rPr>
                        <a:t>FCNN</a:t>
                      </a:r>
                    </a:p>
                  </a:txBody>
                  <a:tcPr>
                    <a:solidFill>
                      <a:srgbClr val="FFFFFF"/>
                    </a:solidFill>
                  </a:tcPr>
                </a:tc>
                <a:tc>
                  <a:txBody>
                    <a:bodyPr/>
                    <a:lstStyle/>
                    <a:p>
                      <a:pPr algn="ctr"/>
                      <a:r>
                        <a:rPr sz="1000" b="0">
                          <a:solidFill>
                            <a:srgbClr val="202020"/>
                          </a:solidFill>
                        </a:rPr>
                        <a:t>Fully-connected (dari nol)</a:t>
                      </a:r>
                    </a:p>
                  </a:txBody>
                  <a:tcPr>
                    <a:solidFill>
                      <a:srgbClr val="FFFFFF"/>
                    </a:solidFill>
                  </a:tcPr>
                </a:tc>
                <a:tc>
                  <a:txBody>
                    <a:bodyPr/>
                    <a:lstStyle/>
                    <a:p>
                      <a:pPr algn="ctr"/>
                      <a:r>
                        <a:rPr sz="1000" b="0">
                          <a:solidFill>
                            <a:srgbClr val="202020"/>
                          </a:solidFill>
                        </a:rPr>
                        <a:t>Sama — tidak berubah</a:t>
                      </a:r>
                    </a:p>
                  </a:txBody>
                  <a:tcPr>
                    <a:solidFill>
                      <a:srgbClr val="FFFFFF"/>
                    </a:solidFill>
                  </a:tcPr>
                </a:tc>
                <a:tc>
                  <a:txBody>
                    <a:bodyPr/>
                    <a:lstStyle/>
                    <a:p>
                      <a:pPr algn="ctr"/>
                      <a:r>
                        <a:rPr sz="1000" b="0">
                          <a:solidFill>
                            <a:srgbClr val="202020"/>
                          </a:solidFill>
                        </a:rPr>
                        <a:t>Landmark = numerik, tidak perlu pretrained</a:t>
                      </a:r>
                    </a:p>
                  </a:txBody>
                  <a:tcPr>
                    <a:solidFill>
                      <a:srgbClr val="FFFFFF"/>
                    </a:solidFill>
                  </a:tcPr>
                </a:tc>
              </a:tr>
              <a:tr h="381000">
                <a:tc>
                  <a:txBody>
                    <a:bodyPr/>
                    <a:lstStyle/>
                    <a:p>
                      <a:pPr algn="l"/>
                      <a:r>
                        <a:rPr sz="1000" b="0">
                          <a:solidFill>
                            <a:srgbClr val="202020"/>
                          </a:solidFill>
                        </a:rPr>
                        <a:t>Late Fusion</a:t>
                      </a:r>
                    </a:p>
                  </a:txBody>
                  <a:tcPr>
                    <a:solidFill>
                      <a:srgbClr val="E8F0FE"/>
                    </a:solidFill>
                  </a:tcPr>
                </a:tc>
                <a:tc>
                  <a:txBody>
                    <a:bodyPr/>
                    <a:lstStyle/>
                    <a:p>
                      <a:pPr algn="ctr"/>
                      <a:r>
                        <a:rPr sz="1000" b="0">
                          <a:solidFill>
                            <a:srgbClr val="202020"/>
                          </a:solidFill>
                        </a:rPr>
                        <a:t>CNN scratch + FCNN</a:t>
                      </a:r>
                    </a:p>
                  </a:txBody>
                  <a:tcPr>
                    <a:solidFill>
                      <a:srgbClr val="E8F0FE"/>
                    </a:solidFill>
                  </a:tcPr>
                </a:tc>
                <a:tc>
                  <a:txBody>
                    <a:bodyPr/>
                    <a:lstStyle/>
                    <a:p>
                      <a:pPr algn="ctr"/>
                      <a:r>
                        <a:rPr sz="1000" b="0">
                          <a:solidFill>
                            <a:srgbClr val="202020"/>
                          </a:solidFill>
                        </a:rPr>
                        <a:t>CNN TL + FCNN</a:t>
                      </a:r>
                    </a:p>
                  </a:txBody>
                  <a:tcPr>
                    <a:solidFill>
                      <a:srgbClr val="E8F0FE"/>
                    </a:solidFill>
                  </a:tcPr>
                </a:tc>
                <a:tc>
                  <a:txBody>
                    <a:bodyPr/>
                    <a:lstStyle/>
                    <a:p>
                      <a:pPr algn="ctr"/>
                      <a:r>
                        <a:rPr sz="1000" b="0">
                          <a:solidFill>
                            <a:srgbClr val="202020"/>
                          </a:solidFill>
                        </a:rPr>
                        <a:t/>
                      </a:r>
                    </a:p>
                  </a:txBody>
                  <a:tcPr>
                    <a:solidFill>
                      <a:srgbClr val="E8F0FE"/>
                    </a:solidFill>
                  </a:tcPr>
                </a:tc>
              </a:tr>
              <a:tr h="381000">
                <a:tc>
                  <a:txBody>
                    <a:bodyPr/>
                    <a:lstStyle/>
                    <a:p>
                      <a:pPr algn="l"/>
                      <a:r>
                        <a:rPr sz="1000" b="0">
                          <a:solidFill>
                            <a:srgbClr val="202020"/>
                          </a:solidFill>
                        </a:rPr>
                        <a:t>Intermediate Fusion</a:t>
                      </a:r>
                    </a:p>
                  </a:txBody>
                  <a:tcPr>
                    <a:solidFill>
                      <a:srgbClr val="FFFFFF"/>
                    </a:solidFill>
                  </a:tcPr>
                </a:tc>
                <a:tc>
                  <a:txBody>
                    <a:bodyPr/>
                    <a:lstStyle/>
                    <a:p>
                      <a:pPr algn="ctr"/>
                      <a:r>
                        <a:rPr sz="1000" b="0">
                          <a:solidFill>
                            <a:srgbClr val="202020"/>
                          </a:solidFill>
                        </a:rPr>
                        <a:t>CNN scratch + FCNN (feature-level)</a:t>
                      </a:r>
                    </a:p>
                  </a:txBody>
                  <a:tcPr>
                    <a:solidFill>
                      <a:srgbClr val="FFFFFF"/>
                    </a:solidFill>
                  </a:tcPr>
                </a:tc>
                <a:tc>
                  <a:txBody>
                    <a:bodyPr/>
                    <a:lstStyle/>
                    <a:p>
                      <a:pPr algn="ctr"/>
                      <a:r>
                        <a:rPr sz="1000" b="0">
                          <a:solidFill>
                            <a:srgbClr val="202020"/>
                          </a:solidFill>
                        </a:rPr>
                        <a:t>ResNet18 + FCNN (feature-level)</a:t>
                      </a:r>
                    </a:p>
                  </a:txBody>
                  <a:tcPr>
                    <a:solidFill>
                      <a:srgbClr val="FFFFFF"/>
                    </a:solidFill>
                  </a:tcPr>
                </a:tc>
                <a:tc>
                  <a:txBody>
                    <a:bodyPr/>
                    <a:lstStyle/>
                    <a:p>
                      <a:pPr algn="ctr"/>
                      <a:r>
                        <a:rPr sz="1000" b="0">
                          <a:solidFill>
                            <a:srgbClr val="202020"/>
                          </a:solidFill>
                        </a:rPr>
                        <a:t/>
                      </a:r>
                    </a:p>
                  </a:txBody>
                  <a:tcPr>
                    <a:solidFill>
                      <a:srgbClr val="FFFFFF"/>
                    </a:solidFill>
                  </a:tcPr>
                </a:tc>
              </a:tr>
              <a:tr h="381000">
                <a:tc>
                  <a:txBody>
                    <a:bodyPr/>
                    <a:lstStyle/>
                    <a:p>
                      <a:pPr algn="l"/>
                      <a:r>
                        <a:rPr sz="1000" b="0">
                          <a:solidFill>
                            <a:srgbClr val="202020"/>
                          </a:solidFill>
                        </a:rPr>
                        <a:t>Learning Rate</a:t>
                      </a:r>
                    </a:p>
                  </a:txBody>
                  <a:tcPr>
                    <a:solidFill>
                      <a:srgbClr val="E8F0FE"/>
                    </a:solidFill>
                  </a:tcPr>
                </a:tc>
                <a:tc>
                  <a:txBody>
                    <a:bodyPr/>
                    <a:lstStyle/>
                    <a:p>
                      <a:pPr algn="ctr"/>
                      <a:r>
                        <a:rPr sz="1000" b="0">
                          <a:solidFill>
                            <a:srgbClr val="202020"/>
                          </a:solidFill>
                        </a:rPr>
                        <a:t>0.0001</a:t>
                      </a:r>
                    </a:p>
                  </a:txBody>
                  <a:tcPr>
                    <a:solidFill>
                      <a:srgbClr val="E8F0FE"/>
                    </a:solidFill>
                  </a:tcPr>
                </a:tc>
                <a:tc>
                  <a:txBody>
                    <a:bodyPr/>
                    <a:lstStyle/>
                    <a:p>
                      <a:pPr algn="ctr"/>
                      <a:r>
                        <a:rPr sz="1000" b="0">
                          <a:solidFill>
                            <a:srgbClr val="202020"/>
                          </a:solidFill>
                        </a:rPr>
                        <a:t>0.00005</a:t>
                      </a:r>
                    </a:p>
                  </a:txBody>
                  <a:tcPr>
                    <a:solidFill>
                      <a:srgbClr val="E8F0FE"/>
                    </a:solidFill>
                  </a:tcPr>
                </a:tc>
                <a:tc>
                  <a:txBody>
                    <a:bodyPr/>
                    <a:lstStyle/>
                    <a:p>
                      <a:pPr algn="ctr"/>
                      <a:r>
                        <a:rPr sz="1000" b="0">
                          <a:solidFill>
                            <a:srgbClr val="202020"/>
                          </a:solidFill>
                        </a:rPr>
                        <a:t>Lebih kecil untuk fine-tuning</a:t>
                      </a:r>
                    </a:p>
                  </a:txBody>
                  <a:tcPr>
                    <a:solidFill>
                      <a:srgbClr val="E8F0FE"/>
                    </a:solidFill>
                  </a:tcPr>
                </a:tc>
              </a:tr>
            </a:tbl>
          </a:graphicData>
        </a:graphic>
      </p:graphicFrame>
      <p:sp>
        <p:nvSpPr>
          <p:cNvPr id="4" name="TextBox 3"/>
          <p:cNvSpPr txBox="1"/>
          <p:nvPr/>
        </p:nvSpPr>
        <p:spPr>
          <a:xfrm>
            <a:off x="365760" y="3337560"/>
            <a:ext cx="8412480" cy="365760"/>
          </a:xfrm>
          <a:prstGeom prst="rect">
            <a:avLst/>
          </a:prstGeom>
          <a:noFill/>
        </p:spPr>
        <p:txBody>
          <a:bodyPr wrap="none">
            <a:spAutoFit/>
          </a:bodyPr>
          <a:lstStyle/>
          <a:p>
            <a:pPr>
              <a:defRPr sz="1100">
                <a:solidFill>
                  <a:srgbClr val="202020"/>
                </a:solidFill>
              </a:defRPr>
            </a:pPr>
            <a:r>
              <a:t>4 model × 3 skenario × 2 konfigurasi kelas (7-class + 4-class) = 24 eksperimen tambahan</a:t>
            </a:r>
          </a:p>
          <a:p>
            <a:r>
              <a:t>Total keseluruhan: 12 + 12 + 24 = 48 eksperimen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Transfer Learning — ResNet18 Pretrained ImageNet</a:t>
            </a:r>
          </a:p>
        </p:txBody>
      </p:sp>
      <p:sp>
        <p:nvSpPr>
          <p:cNvPr id="3" name="TextBox 2"/>
          <p:cNvSpPr txBox="1"/>
          <p:nvPr/>
        </p:nvSpPr>
        <p:spPr>
          <a:xfrm>
            <a:off x="457200" y="960120"/>
            <a:ext cx="8229600" cy="182880"/>
          </a:xfrm>
          <a:prstGeom prst="rect">
            <a:avLst/>
          </a:prstGeom>
          <a:noFill/>
        </p:spPr>
        <p:txBody>
          <a:bodyPr wrap="square">
            <a:spAutoFit/>
          </a:bodyPr>
          <a:lstStyle/>
          <a:p>
            <a:pPr>
              <a:defRPr sz="900">
                <a:solidFill>
                  <a:srgbClr val="202020"/>
                </a:solidFill>
              </a:defRPr>
            </a:pPr>
            <a:r>
              <a:t>Strategi: EmotionCNN (from scratch) → EmotionCNNTransfer (ResNet18)  |  Fine-tune LR: 0.00005</a:t>
            </a:r>
          </a:p>
        </p:txBody>
      </p:sp>
      <p:graphicFrame>
        <p:nvGraphicFramePr>
          <p:cNvPr id="4" name="Table 3"/>
          <p:cNvGraphicFramePr>
            <a:graphicFrameLocks noGrp="1"/>
          </p:cNvGraphicFramePr>
          <p:nvPr/>
        </p:nvGraphicFramePr>
        <p:xfrm>
          <a:off x="457200" y="1234440"/>
          <a:ext cx="8229600" cy="1828800"/>
        </p:xfrm>
        <a:graphic>
          <a:graphicData uri="http://schemas.openxmlformats.org/drawingml/2006/table">
            <a:tbl>
              <a:tblPr firstRow="1" bandRow="1">
                <a:tableStyleId>{5C22544A-7EE6-4342-B048-85BDC9FD1C3A}</a:tableStyleId>
              </a:tblPr>
              <a:tblGrid>
                <a:gridCol w="2057400"/>
                <a:gridCol w="1131570"/>
                <a:gridCol w="1028700"/>
                <a:gridCol w="720090"/>
                <a:gridCol w="1337310"/>
                <a:gridCol w="1028700"/>
                <a:gridCol w="925830"/>
              </a:tblGrid>
              <a:tr h="36576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7-Class Scratch</a:t>
                      </a:r>
                    </a:p>
                  </a:txBody>
                  <a:tcPr>
                    <a:solidFill>
                      <a:srgbClr val="1A73E8"/>
                    </a:solidFill>
                  </a:tcPr>
                </a:tc>
                <a:tc>
                  <a:txBody>
                    <a:bodyPr/>
                    <a:lstStyle/>
                    <a:p>
                      <a:pPr algn="ctr"/>
                      <a:r>
                        <a:rPr sz="900" b="1">
                          <a:solidFill>
                            <a:srgbClr val="FFFFFF"/>
                          </a:solidFill>
                        </a:rPr>
                        <a:t>7-Class TL</a:t>
                      </a:r>
                    </a:p>
                  </a:txBody>
                  <a:tcPr>
                    <a:solidFill>
                      <a:srgbClr val="1A73E8"/>
                    </a:solidFill>
                  </a:tcPr>
                </a:tc>
                <a:tc>
                  <a:txBody>
                    <a:bodyPr/>
                    <a:lstStyle/>
                    <a:p>
                      <a:pPr algn="ctr"/>
                      <a:r>
                        <a:rPr sz="900" b="1">
                          <a:solidFill>
                            <a:srgbClr val="FFFFFF"/>
                          </a:solidFill>
                        </a:rPr>
                        <a:t>Delta</a:t>
                      </a:r>
                    </a:p>
                  </a:txBody>
                  <a:tcPr>
                    <a:solidFill>
                      <a:srgbClr val="1A73E8"/>
                    </a:solidFill>
                  </a:tcPr>
                </a:tc>
                <a:tc>
                  <a:txBody>
                    <a:bodyPr/>
                    <a:lstStyle/>
                    <a:p>
                      <a:pPr algn="ctr"/>
                      <a:r>
                        <a:rPr sz="900" b="1">
                          <a:solidFill>
                            <a:srgbClr val="FFFFFF"/>
                          </a:solidFill>
                        </a:rPr>
                        <a:t>4-Class Scratch</a:t>
                      </a:r>
                    </a:p>
                  </a:txBody>
                  <a:tcPr>
                    <a:solidFill>
                      <a:srgbClr val="1A73E8"/>
                    </a:solidFill>
                  </a:tcPr>
                </a:tc>
                <a:tc>
                  <a:txBody>
                    <a:bodyPr/>
                    <a:lstStyle/>
                    <a:p>
                      <a:pPr algn="ctr"/>
                      <a:r>
                        <a:rPr sz="900" b="1">
                          <a:solidFill>
                            <a:srgbClr val="FFFFFF"/>
                          </a:solidFill>
                        </a:rPr>
                        <a:t>4-Class TL</a:t>
                      </a:r>
                    </a:p>
                  </a:txBody>
                  <a:tcPr>
                    <a:solidFill>
                      <a:srgbClr val="1A73E8"/>
                    </a:solidFill>
                  </a:tcPr>
                </a:tc>
                <a:tc>
                  <a:txBody>
                    <a:bodyPr/>
                    <a:lstStyle/>
                    <a:p>
                      <a:pPr algn="ctr"/>
                      <a:r>
                        <a:rPr sz="900" b="1">
                          <a:solidFill>
                            <a:srgbClr val="FFFFFF"/>
                          </a:solidFill>
                        </a:rPr>
                        <a:t>Delta</a:t>
                      </a:r>
                    </a:p>
                  </a:txBody>
                  <a:tcPr>
                    <a:solidFill>
                      <a:srgbClr val="1A73E8"/>
                    </a:solidFill>
                  </a:tcPr>
                </a:tc>
              </a:tr>
              <a:tr h="365760">
                <a:tc>
                  <a:txBody>
                    <a:bodyPr/>
                    <a:lstStyle/>
                    <a:p>
                      <a:pPr algn="l"/>
                      <a:r>
                        <a:rPr sz="900" b="0">
                          <a:solidFill>
                            <a:srgbClr val="202020"/>
                          </a:solidFill>
                        </a:rPr>
                        <a:t>CNN</a:t>
                      </a:r>
                    </a:p>
                  </a:txBody>
                  <a:tcPr>
                    <a:solidFill>
                      <a:srgbClr val="E8F0FE"/>
                    </a:solidFill>
                  </a:tcPr>
                </a:tc>
                <a:tc>
                  <a:txBody>
                    <a:bodyPr/>
                    <a:lstStyle/>
                    <a:p>
                      <a:pPr algn="ctr"/>
                      <a:r>
                        <a:rPr sz="900" b="0">
                          <a:solidFill>
                            <a:srgbClr val="202020"/>
                          </a:solidFill>
                        </a:rPr>
                        <a:t>0.134</a:t>
                      </a:r>
                    </a:p>
                  </a:txBody>
                  <a:tcPr>
                    <a:solidFill>
                      <a:srgbClr val="E8F0FE"/>
                    </a:solidFill>
                  </a:tcPr>
                </a:tc>
                <a:tc>
                  <a:txBody>
                    <a:bodyPr/>
                    <a:lstStyle/>
                    <a:p>
                      <a:pPr algn="ctr"/>
                      <a:r>
                        <a:rPr sz="900" b="0">
                          <a:solidFill>
                            <a:srgbClr val="202020"/>
                          </a:solidFill>
                        </a:rPr>
                        <a:t>0.177</a:t>
                      </a:r>
                    </a:p>
                  </a:txBody>
                  <a:tcPr>
                    <a:solidFill>
                      <a:srgbClr val="E8F0FE"/>
                    </a:solidFill>
                  </a:tcPr>
                </a:tc>
                <a:tc>
                  <a:txBody>
                    <a:bodyPr/>
                    <a:lstStyle/>
                    <a:p>
                      <a:pPr algn="ctr"/>
                      <a:r>
                        <a:rPr sz="900" b="0">
                          <a:solidFill>
                            <a:srgbClr val="202020"/>
                          </a:solidFill>
                        </a:rPr>
                        <a:t>+32%</a:t>
                      </a:r>
                    </a:p>
                  </a:txBody>
                  <a:tcPr>
                    <a:solidFill>
                      <a:srgbClr val="E8F0FE"/>
                    </a:solidFill>
                  </a:tcPr>
                </a:tc>
                <a:tc>
                  <a:txBody>
                    <a:bodyPr/>
                    <a:lstStyle/>
                    <a:p>
                      <a:pPr algn="ctr"/>
                      <a:r>
                        <a:rPr sz="900" b="0">
                          <a:solidFill>
                            <a:srgbClr val="202020"/>
                          </a:solidFill>
                        </a:rPr>
                        <a:t>0.296</a:t>
                      </a:r>
                    </a:p>
                  </a:txBody>
                  <a:tcPr>
                    <a:solidFill>
                      <a:srgbClr val="E8F0FE"/>
                    </a:solidFill>
                  </a:tcPr>
                </a:tc>
                <a:tc>
                  <a:txBody>
                    <a:bodyPr/>
                    <a:lstStyle/>
                    <a:p>
                      <a:pPr algn="ctr"/>
                      <a:r>
                        <a:rPr sz="900" b="0">
                          <a:solidFill>
                            <a:srgbClr val="202020"/>
                          </a:solidFill>
                        </a:rPr>
                        <a:t>0.407</a:t>
                      </a:r>
                    </a:p>
                  </a:txBody>
                  <a:tcPr>
                    <a:solidFill>
                      <a:srgbClr val="E8F0FE"/>
                    </a:solidFill>
                  </a:tcPr>
                </a:tc>
                <a:tc>
                  <a:txBody>
                    <a:bodyPr/>
                    <a:lstStyle/>
                    <a:p>
                      <a:pPr algn="ctr"/>
                      <a:r>
                        <a:rPr sz="900" b="0">
                          <a:solidFill>
                            <a:srgbClr val="202020"/>
                          </a:solidFill>
                        </a:rPr>
                        <a:t>+37%</a:t>
                      </a:r>
                    </a:p>
                  </a:txBody>
                  <a:tcPr>
                    <a:solidFill>
                      <a:srgbClr val="E8F0FE"/>
                    </a:solidFill>
                  </a:tcPr>
                </a:tc>
              </a:tr>
              <a:tr h="365760">
                <a:tc>
                  <a:txBody>
                    <a:bodyPr/>
                    <a:lstStyle/>
                    <a:p>
                      <a:pPr algn="l"/>
                      <a:r>
                        <a:rPr sz="900" b="0">
                          <a:solidFill>
                            <a:srgbClr val="202020"/>
                          </a:solidFill>
                        </a:rPr>
                        <a:t>FCNN</a:t>
                      </a:r>
                    </a:p>
                  </a:txBody>
                  <a:tcPr>
                    <a:solidFill>
                      <a:srgbClr val="FFFFFF"/>
                    </a:solidFill>
                  </a:tcPr>
                </a:tc>
                <a:tc>
                  <a:txBody>
                    <a:bodyPr/>
                    <a:lstStyle/>
                    <a:p>
                      <a:pPr algn="ctr"/>
                      <a:r>
                        <a:rPr sz="900" b="0">
                          <a:solidFill>
                            <a:srgbClr val="202020"/>
                          </a:solidFill>
                        </a:rPr>
                        <a:t>0.234</a:t>
                      </a:r>
                    </a:p>
                  </a:txBody>
                  <a:tcPr>
                    <a:solidFill>
                      <a:srgbClr val="FFFFFF"/>
                    </a:solidFill>
                  </a:tcPr>
                </a:tc>
                <a:tc>
                  <a:txBody>
                    <a:bodyPr/>
                    <a:lstStyle/>
                    <a:p>
                      <a:pPr algn="ctr"/>
                      <a:r>
                        <a:rPr sz="900" b="0">
                          <a:solidFill>
                            <a:srgbClr val="202020"/>
                          </a:solidFill>
                        </a:rPr>
                        <a:t>0.234</a:t>
                      </a:r>
                    </a:p>
                  </a:txBody>
                  <a:tcPr>
                    <a:solidFill>
                      <a:srgbClr val="FFFFFF"/>
                    </a:solidFill>
                  </a:tcPr>
                </a:tc>
                <a:tc>
                  <a:txBody>
                    <a:bodyPr/>
                    <a:lstStyle/>
                    <a:p>
                      <a:pPr algn="ctr"/>
                      <a:r>
                        <a:rPr sz="900" b="0">
                          <a:solidFill>
                            <a:srgbClr val="202020"/>
                          </a:solidFill>
                        </a:rPr>
                        <a:t>—</a:t>
                      </a:r>
                    </a:p>
                  </a:txBody>
                  <a:tcPr>
                    <a:solidFill>
                      <a:srgbClr val="FFFFFF"/>
                    </a:solidFill>
                  </a:tcPr>
                </a:tc>
                <a:tc>
                  <a:txBody>
                    <a:bodyPr/>
                    <a:lstStyle/>
                    <a:p>
                      <a:pPr algn="ctr"/>
                      <a:r>
                        <a:rPr sz="900" b="0">
                          <a:solidFill>
                            <a:srgbClr val="202020"/>
                          </a:solidFill>
                        </a:rPr>
                        <a:t>0.394</a:t>
                      </a:r>
                    </a:p>
                  </a:txBody>
                  <a:tcPr>
                    <a:solidFill>
                      <a:srgbClr val="FFFFFF"/>
                    </a:solidFill>
                  </a:tcPr>
                </a:tc>
                <a:tc>
                  <a:txBody>
                    <a:bodyPr/>
                    <a:lstStyle/>
                    <a:p>
                      <a:pPr algn="ctr"/>
                      <a:r>
                        <a:rPr sz="900" b="0">
                          <a:solidFill>
                            <a:srgbClr val="202020"/>
                          </a:solidFill>
                        </a:rPr>
                        <a:t>0.394</a:t>
                      </a:r>
                    </a:p>
                  </a:txBody>
                  <a:tcPr>
                    <a:solidFill>
                      <a:srgbClr val="FFFFFF"/>
                    </a:solidFill>
                  </a:tcPr>
                </a:tc>
                <a:tc>
                  <a:txBody>
                    <a:bodyPr/>
                    <a:lstStyle/>
                    <a:p>
                      <a:pPr algn="ctr"/>
                      <a:r>
                        <a:rPr sz="900" b="0">
                          <a:solidFill>
                            <a:srgbClr val="202020"/>
                          </a:solidFill>
                        </a:rPr>
                        <a:t>—</a:t>
                      </a:r>
                    </a:p>
                  </a:txBody>
                  <a:tcPr>
                    <a:solidFill>
                      <a:srgbClr val="FFFFFF"/>
                    </a:solidFill>
                  </a:tcPr>
                </a:tc>
              </a:tr>
              <a:tr h="365760">
                <a:tc>
                  <a:txBody>
                    <a:bodyPr/>
                    <a:lstStyle/>
                    <a:p>
                      <a:pPr algn="l"/>
                      <a:r>
                        <a:rPr sz="900" b="1">
                          <a:solidFill>
                            <a:srgbClr val="FFFFFF"/>
                          </a:solidFill>
                        </a:rPr>
                        <a:t>Late Fusion</a:t>
                      </a:r>
                    </a:p>
                  </a:txBody>
                  <a:tcPr>
                    <a:solidFill>
                      <a:srgbClr val="34A853"/>
                    </a:solidFill>
                  </a:tcPr>
                </a:tc>
                <a:tc>
                  <a:txBody>
                    <a:bodyPr/>
                    <a:lstStyle/>
                    <a:p>
                      <a:pPr algn="ctr"/>
                      <a:r>
                        <a:rPr sz="900" b="1">
                          <a:solidFill>
                            <a:srgbClr val="FFFFFF"/>
                          </a:solidFill>
                        </a:rPr>
                        <a:t>0.230</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+2%</a:t>
                      </a:r>
                    </a:p>
                  </a:txBody>
                  <a:tcPr>
                    <a:solidFill>
                      <a:srgbClr val="34A853"/>
                    </a:solidFill>
                  </a:tcPr>
                </a:tc>
                <a:tc>
                  <a:txBody>
                    <a:bodyPr/>
                    <a:lstStyle/>
                    <a:p>
                      <a:pPr algn="ctr"/>
                      <a:r>
                        <a:rPr sz="900" b="1">
                          <a:solidFill>
                            <a:srgbClr val="FFFFFF"/>
                          </a:solidFill>
                        </a:rPr>
                        <a:t>0.385</a:t>
                      </a:r>
                    </a:p>
                  </a:txBody>
                  <a:tcPr>
                    <a:solidFill>
                      <a:srgbClr val="34A853"/>
                    </a:solidFill>
                  </a:tcPr>
                </a:tc>
                <a:tc>
                  <a:txBody>
                    <a:bodyPr/>
                    <a:lstStyle/>
                    <a:p>
                      <a:pPr algn="ctr"/>
                      <a:r>
                        <a:rPr sz="900" b="1">
                          <a:solidFill>
                            <a:srgbClr val="FFFFFF"/>
                          </a:solidFill>
                        </a:rPr>
                        <a:t>0.442</a:t>
                      </a:r>
                    </a:p>
                  </a:txBody>
                  <a:tcPr>
                    <a:solidFill>
                      <a:srgbClr val="34A853"/>
                    </a:solidFill>
                  </a:tcPr>
                </a:tc>
                <a:tc>
                  <a:txBody>
                    <a:bodyPr/>
                    <a:lstStyle/>
                    <a:p>
                      <a:pPr algn="ctr"/>
                      <a:r>
                        <a:rPr sz="900" b="1">
                          <a:solidFill>
                            <a:srgbClr val="FFFFFF"/>
                          </a:solidFill>
                        </a:rPr>
                        <a:t>+15%</a:t>
                      </a:r>
                    </a:p>
                  </a:txBody>
                  <a:tcPr>
                    <a:solidFill>
                      <a:srgbClr val="34A853"/>
                    </a:solidFill>
                  </a:tcPr>
                </a:tc>
              </a:tr>
              <a:tr h="365760">
                <a:tc>
                  <a:txBody>
                    <a:bodyPr/>
                    <a:lstStyle/>
                    <a:p>
                      <a:pPr algn="l"/>
                      <a:r>
                        <a:rPr sz="900" b="0">
                          <a:solidFill>
                            <a:srgbClr val="202020"/>
                          </a:solidFill>
                        </a:rPr>
                        <a:t>Intermediate Fusion</a:t>
                      </a:r>
                    </a:p>
                  </a:txBody>
                  <a:tcPr>
                    <a:solidFill>
                      <a:srgbClr val="FFFFFF"/>
                    </a:solidFill>
                  </a:tcPr>
                </a:tc>
                <a:tc>
                  <a:txBody>
                    <a:bodyPr/>
                    <a:lstStyle/>
                    <a:p>
                      <a:pPr algn="ctr"/>
                      <a:r>
                        <a:rPr sz="900" b="0">
                          <a:solidFill>
                            <a:srgbClr val="202020"/>
                          </a:solidFill>
                        </a:rPr>
                        <a:t>0.140</a:t>
                      </a:r>
                    </a:p>
                  </a:txBody>
                  <a:tcPr>
                    <a:solidFill>
                      <a:srgbClr val="FFFFFF"/>
                    </a:solidFill>
                  </a:tcPr>
                </a:tc>
                <a:tc>
                  <a:txBody>
                    <a:bodyPr/>
                    <a:lstStyle/>
                    <a:p>
                      <a:pPr algn="ctr"/>
                      <a:r>
                        <a:rPr sz="900" b="0">
                          <a:solidFill>
                            <a:srgbClr val="202020"/>
                          </a:solidFill>
                        </a:rPr>
                        <a:t>0.232</a:t>
                      </a:r>
                    </a:p>
                  </a:txBody>
                  <a:tcPr>
                    <a:solidFill>
                      <a:srgbClr val="FFFFFF"/>
                    </a:solidFill>
                  </a:tcPr>
                </a:tc>
                <a:tc>
                  <a:txBody>
                    <a:bodyPr/>
                    <a:lstStyle/>
                    <a:p>
                      <a:pPr algn="ctr"/>
                      <a:r>
                        <a:rPr sz="900" b="0">
                          <a:solidFill>
                            <a:srgbClr val="202020"/>
                          </a:solidFill>
                        </a:rPr>
                        <a:t>+66%</a:t>
                      </a:r>
                    </a:p>
                  </a:txBody>
                  <a:tcPr>
                    <a:solidFill>
                      <a:srgbClr val="FFFFFF"/>
                    </a:solidFill>
                  </a:tcPr>
                </a:tc>
                <a:tc>
                  <a:txBody>
                    <a:bodyPr/>
                    <a:lstStyle/>
                    <a:p>
                      <a:pPr algn="ctr"/>
                      <a:r>
                        <a:rPr sz="900" b="0">
                          <a:solidFill>
                            <a:srgbClr val="202020"/>
                          </a:solidFill>
                        </a:rPr>
                        <a:t>0.258</a:t>
                      </a:r>
                    </a:p>
                  </a:txBody>
                  <a:tcPr>
                    <a:solidFill>
                      <a:srgbClr val="FFFFFF"/>
                    </a:solidFill>
                  </a:tcPr>
                </a:tc>
                <a:tc>
                  <a:txBody>
                    <a:bodyPr/>
                    <a:lstStyle/>
                    <a:p>
                      <a:pPr algn="ctr"/>
                      <a:r>
                        <a:rPr sz="900" b="0">
                          <a:solidFill>
                            <a:srgbClr val="202020"/>
                          </a:solidFill>
                        </a:rPr>
                        <a:t>0.376</a:t>
                      </a:r>
                    </a:p>
                  </a:txBody>
                  <a:tcPr>
                    <a:solidFill>
                      <a:srgbClr val="FFFFFF"/>
                    </a:solidFill>
                  </a:tcPr>
                </a:tc>
                <a:tc>
                  <a:txBody>
                    <a:bodyPr/>
                    <a:lstStyle/>
                    <a:p>
                      <a:pPr algn="ctr"/>
                      <a:r>
                        <a:rPr sz="900" b="0">
                          <a:solidFill>
                            <a:srgbClr val="202020"/>
                          </a:solidFill>
                        </a:rPr>
                        <a:t>+46%</a:t>
                      </a:r>
                    </a:p>
                  </a:txBody>
                  <a:tcPr>
                    <a:solidFill>
                      <a:srgbClr val="FFFFFF"/>
                    </a:solidFill>
                  </a:tcPr>
                </a:tc>
              </a:tr>
            </a:tbl>
          </a:graphicData>
        </a:graphic>
      </p:graphicFrame>
      <p:sp>
        <p:nvSpPr>
          <p:cNvPr id="5" name="TextBox 4"/>
          <p:cNvSpPr txBox="1"/>
          <p:nvPr/>
        </p:nvSpPr>
        <p:spPr>
          <a:xfrm>
            <a:off x="457200" y="3200400"/>
            <a:ext cx="8229600" cy="1645920"/>
          </a:xfrm>
          <a:prstGeom prst="rect">
            <a:avLst/>
          </a:prstGeom>
          <a:noFill/>
        </p:spPr>
        <p:txBody>
          <a:bodyPr wrap="square">
            <a:spAutoFit/>
          </a:bodyPr>
          <a:lstStyle/>
          <a:p>
            <a:pPr>
              <a:defRPr sz="1000">
                <a:solidFill>
                  <a:srgbClr val="202020"/>
                </a:solidFill>
              </a:defRPr>
            </a:pPr>
            <a:r>
              <a:t>BEST OVERALL: Late Fusion TL 4-class B2 — Macro F1: 0.442</a:t>
            </a:r>
          </a:p>
          <a:p>
            <a:pPr>
              <a:defRPr sz="1000">
                <a:solidFill>
                  <a:srgbClr val="202020"/>
                </a:solidFill>
              </a:defRPr>
            </a:pPr>
          </a:p>
          <a:p>
            <a:pPr>
              <a:defRPr sz="1000">
                <a:solidFill>
                  <a:srgbClr val="202020"/>
                </a:solidFill>
              </a:defRPr>
            </a:pPr>
            <a:r>
              <a:t>Temuan 8: ResNet18 pretrained (ImageNet) meningkatkan CNN secara signifikan (+37% di 4-class)</a:t>
            </a:r>
          </a:p>
          <a:p>
            <a:pPr>
              <a:defRPr sz="1000">
                <a:solidFill>
                  <a:srgbClr val="202020"/>
                </a:solidFill>
              </a:defRPr>
            </a:pPr>
            <a:r>
              <a:t>Temuan 9: FCNN tidak terpengaruh TL — landmark adalah data numerik, tidak butuh pretrained</a:t>
            </a:r>
          </a:p>
          <a:p>
            <a:pPr>
              <a:defRPr sz="1000">
                <a:solidFill>
                  <a:srgbClr val="202020"/>
                </a:solidFill>
              </a:defRPr>
            </a:pPr>
            <a:r>
              <a:t>Temuan 10: Dengan TL, Late Fusion akhirnya menjadi model terbaik (CNN TL tidak lagi noisy)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Final — Perbandingan 48 Kombinasi</a:t>
            </a:r>
          </a:p>
        </p:txBody>
      </p:sp>
      <p:pic>
        <p:nvPicPr>
          <p:cNvPr id="3" name="Picture 2" descr="final_comparison_bar.png"/>
          <p:cNvPicPr>
            <a:picLocks noChangeAspect="1"/>
          </p:cNvPicPr>
          <p:nvPr/>
        </p:nvPicPr>
        <p:blipFill>
          <a:blip r:embed="rId2"/>
          <a:stretch>
            <a:fillRect/>
          </a:stretch>
        </p:blipFill>
        <p:spPr>
          <a:xfrm>
            <a:off x="185457" y="1005840"/>
            <a:ext cx="8773086"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Bar chart: Macro F1 semua kombinasi (from scratch vs transfer learning, 7-class vs 4-class)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Heatmap Final — Semua Eksperimen</a:t>
            </a:r>
          </a:p>
        </p:txBody>
      </p:sp>
      <p:pic>
        <p:nvPicPr>
          <p:cNvPr id="3" name="Picture 2" descr="final_comparison_heatmap.png"/>
          <p:cNvPicPr>
            <a:picLocks noChangeAspect="1"/>
          </p:cNvPicPr>
          <p:nvPr/>
        </p:nvPicPr>
        <p:blipFill>
          <a:blip r:embed="rId2"/>
          <a:stretch>
            <a:fillRect/>
          </a:stretch>
        </p:blipFill>
        <p:spPr>
          <a:xfrm>
            <a:off x="916820" y="1005840"/>
            <a:ext cx="7310359"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Heatmap Macro F1: seluruh 48 kombinasi eksperimen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Lengkap — 48 Kombinasi Eksperimen</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914400"/>
                <a:gridCol w="1828800"/>
                <a:gridCol w="2286000"/>
                <a:gridCol w="1097280"/>
                <a:gridCol w="2103120"/>
              </a:tblGrid>
              <a:tr h="342900">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Konfigurasi</a:t>
                      </a:r>
                    </a:p>
                  </a:txBody>
                  <a:tcPr>
                    <a:solidFill>
                      <a:srgbClr val="1A73E8"/>
                    </a:solidFill>
                  </a:tcPr>
                </a:tc>
                <a:tc>
                  <a:txBody>
                    <a:bodyPr/>
                    <a:lstStyle/>
                    <a:p>
                      <a:pPr algn="ctr"/>
                      <a:r>
                        <a:rPr sz="1000" b="1">
                          <a:solidFill>
                            <a:srgbClr val="FFFFFF"/>
                          </a:solidFill>
                        </a:rPr>
                        <a:t>Model Terbaik</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Catatan</a:t>
                      </a:r>
                    </a:p>
                  </a:txBody>
                  <a:tcPr>
                    <a:solidFill>
                      <a:srgbClr val="1A73E8"/>
                    </a:solidFill>
                  </a:tcPr>
                </a:tc>
              </a:tr>
              <a:tr h="342900">
                <a:tc>
                  <a:txBody>
                    <a:bodyPr/>
                    <a:lstStyle/>
                    <a:p>
                      <a:pPr algn="l"/>
                      <a:r>
                        <a:rPr sz="1000" b="0">
                          <a:solidFill>
                            <a:srgbClr val="202020"/>
                          </a:solidFill>
                        </a:rPr>
                        <a:t>Tahap 1</a:t>
                      </a:r>
                    </a:p>
                  </a:txBody>
                  <a:tcPr>
                    <a:solidFill>
                      <a:srgbClr val="E8F0FE"/>
                    </a:solidFill>
                  </a:tcPr>
                </a:tc>
                <a:tc>
                  <a:txBody>
                    <a:bodyPr/>
                    <a:lstStyle/>
                    <a:p>
                      <a:pPr algn="ctr"/>
                      <a:r>
                        <a:rPr sz="1000" b="0">
                          <a:solidFill>
                            <a:srgbClr val="202020"/>
                          </a:solidFill>
                        </a:rPr>
                        <a:t>7-class, From Scratch</a:t>
                      </a:r>
                    </a:p>
                  </a:txBody>
                  <a:tcPr>
                    <a:solidFill>
                      <a:srgbClr val="E8F0FE"/>
                    </a:solidFill>
                  </a:tcPr>
                </a:tc>
                <a:tc>
                  <a:txBody>
                    <a:bodyPr/>
                    <a:lstStyle/>
                    <a:p>
                      <a:pPr algn="ctr"/>
                      <a:r>
                        <a:rPr sz="1000" b="0">
                          <a:solidFill>
                            <a:srgbClr val="202020"/>
                          </a:solidFill>
                        </a:rPr>
                        <a:t>FCNN B1 Baseline</a:t>
                      </a:r>
                    </a:p>
                  </a:txBody>
                  <a:tcPr>
                    <a:solidFill>
                      <a:srgbClr val="E8F0FE"/>
                    </a:solidFill>
                  </a:tcPr>
                </a:tc>
                <a:tc>
                  <a:txBody>
                    <a:bodyPr/>
                    <a:lstStyle/>
                    <a:p>
                      <a:pPr algn="ctr"/>
                      <a:r>
                        <a:rPr sz="1000" b="0">
                          <a:solidFill>
                            <a:srgbClr val="202020"/>
                          </a:solidFill>
                        </a:rPr>
                        <a:t>0.234</a:t>
                      </a:r>
                    </a:p>
                  </a:txBody>
                  <a:tcPr>
                    <a:solidFill>
                      <a:srgbClr val="E8F0FE"/>
                    </a:solidFill>
                  </a:tcPr>
                </a:tc>
                <a:tc>
                  <a:txBody>
                    <a:bodyPr/>
                    <a:lstStyle/>
                    <a:p>
                      <a:pPr algn="ctr"/>
                      <a:r>
                        <a:rPr sz="1000" b="0">
                          <a:solidFill>
                            <a:srgbClr val="202020"/>
                          </a:solidFill>
                        </a:rPr>
                        <a:t>Baseline awal</a:t>
                      </a:r>
                    </a:p>
                  </a:txBody>
                  <a:tcPr>
                    <a:solidFill>
                      <a:srgbClr val="E8F0FE"/>
                    </a:solidFill>
                  </a:tcPr>
                </a:tc>
              </a:tr>
              <a:tr h="342900">
                <a:tc>
                  <a:txBody>
                    <a:bodyPr/>
                    <a:lstStyle/>
                    <a:p>
                      <a:pPr algn="l"/>
                      <a:r>
                        <a:rPr sz="1000" b="0">
                          <a:solidFill>
                            <a:srgbClr val="202020"/>
                          </a:solidFill>
                        </a:rPr>
                        <a:t>Tahap 2</a:t>
                      </a:r>
                    </a:p>
                  </a:txBody>
                  <a:tcPr>
                    <a:solidFill>
                      <a:srgbClr val="FFFFFF"/>
                    </a:solidFill>
                  </a:tcPr>
                </a:tc>
                <a:tc>
                  <a:txBody>
                    <a:bodyPr/>
                    <a:lstStyle/>
                    <a:p>
                      <a:pPr algn="ctr"/>
                      <a:r>
                        <a:rPr sz="1000" b="0">
                          <a:solidFill>
                            <a:srgbClr val="202020"/>
                          </a:solidFill>
                        </a:rPr>
                        <a:t>4-class, From Scratch</a:t>
                      </a:r>
                    </a:p>
                  </a:txBody>
                  <a:tcPr>
                    <a:solidFill>
                      <a:srgbClr val="FFFFFF"/>
                    </a:solidFill>
                  </a:tcPr>
                </a:tc>
                <a:tc>
                  <a:txBody>
                    <a:bodyPr/>
                    <a:lstStyle/>
                    <a:p>
                      <a:pPr algn="ctr"/>
                      <a:r>
                        <a:rPr sz="1000" b="0">
                          <a:solidFill>
                            <a:srgbClr val="202020"/>
                          </a:solidFill>
                        </a:rPr>
                        <a:t>FCNN B3 Aug</a:t>
                      </a:r>
                    </a:p>
                  </a:txBody>
                  <a:tcPr>
                    <a:solidFill>
                      <a:srgbClr val="FFFFFF"/>
                    </a:solidFill>
                  </a:tcPr>
                </a:tc>
                <a:tc>
                  <a:txBody>
                    <a:bodyPr/>
                    <a:lstStyle/>
                    <a:p>
                      <a:pPr algn="ctr"/>
                      <a:r>
                        <a:rPr sz="1000" b="0">
                          <a:solidFill>
                            <a:srgbClr val="202020"/>
                          </a:solidFill>
                        </a:rPr>
                        <a:t>0.394</a:t>
                      </a:r>
                    </a:p>
                  </a:txBody>
                  <a:tcPr>
                    <a:solidFill>
                      <a:srgbClr val="FFFFFF"/>
                    </a:solidFill>
                  </a:tcPr>
                </a:tc>
                <a:tc>
                  <a:txBody>
                    <a:bodyPr/>
                    <a:lstStyle/>
                    <a:p>
                      <a:pPr algn="ctr"/>
                      <a:r>
                        <a:rPr sz="1000" b="0">
                          <a:solidFill>
                            <a:srgbClr val="202020"/>
                          </a:solidFill>
                        </a:rPr>
                        <a:t>+68% dari Tahap 1</a:t>
                      </a:r>
                    </a:p>
                  </a:txBody>
                  <a:tcPr>
                    <a:solidFill>
                      <a:srgbClr val="FFFFFF"/>
                    </a:solidFill>
                  </a:tcPr>
                </a:tc>
              </a:tr>
              <a:tr h="342900">
                <a:tc>
                  <a:txBody>
                    <a:bodyPr/>
                    <a:lstStyle/>
                    <a:p>
                      <a:pPr algn="l"/>
                      <a:r>
                        <a:rPr sz="1000" b="1">
                          <a:solidFill>
                            <a:srgbClr val="FFFFFF"/>
                          </a:solidFill>
                        </a:rPr>
                        <a:t>Tahap 3</a:t>
                      </a:r>
                    </a:p>
                  </a:txBody>
                  <a:tcPr>
                    <a:solidFill>
                      <a:srgbClr val="34A853"/>
                    </a:solidFill>
                  </a:tcPr>
                </a:tc>
                <a:tc>
                  <a:txBody>
                    <a:bodyPr/>
                    <a:lstStyle/>
                    <a:p>
                      <a:pPr algn="ctr"/>
                      <a:r>
                        <a:rPr sz="1000" b="1">
                          <a:solidFill>
                            <a:srgbClr val="FFFFFF"/>
                          </a:solidFill>
                        </a:rPr>
                        <a:t>Transfer Learning</a:t>
                      </a:r>
                    </a:p>
                  </a:txBody>
                  <a:tcPr>
                    <a:solidFill>
                      <a:srgbClr val="34A853"/>
                    </a:solidFill>
                  </a:tcPr>
                </a:tc>
                <a:tc>
                  <a:txBody>
                    <a:bodyPr/>
                    <a:lstStyle/>
                    <a:p>
                      <a:pPr algn="ctr"/>
                      <a:r>
                        <a:rPr sz="1000" b="1">
                          <a:solidFill>
                            <a:srgbClr val="FFFFFF"/>
                          </a:solidFill>
                        </a:rPr>
                        <a:t>Late Fusion TL B2 4-class</a:t>
                      </a:r>
                    </a:p>
                  </a:txBody>
                  <a:tcPr>
                    <a:solidFill>
                      <a:srgbClr val="34A853"/>
                    </a:solidFill>
                  </a:tcPr>
                </a:tc>
                <a:tc>
                  <a:txBody>
                    <a:bodyPr/>
                    <a:lstStyle/>
                    <a:p>
                      <a:pPr algn="ctr"/>
                      <a:r>
                        <a:rPr sz="1000" b="1">
                          <a:solidFill>
                            <a:srgbClr val="FFFFFF"/>
                          </a:solidFill>
                        </a:rPr>
                        <a:t>0.442</a:t>
                      </a:r>
                    </a:p>
                  </a:txBody>
                  <a:tcPr>
                    <a:solidFill>
                      <a:srgbClr val="34A853"/>
                    </a:solidFill>
                  </a:tcPr>
                </a:tc>
                <a:tc>
                  <a:txBody>
                    <a:bodyPr/>
                    <a:lstStyle/>
                    <a:p>
                      <a:pPr algn="ctr"/>
                      <a:r>
                        <a:rPr sz="1000" b="1">
                          <a:solidFill>
                            <a:srgbClr val="FFFFFF"/>
                          </a:solidFill>
                        </a:rPr>
                        <a:t>+12% dari Tahap 2</a:t>
                      </a:r>
                    </a:p>
                  </a:txBody>
                  <a:tcPr>
                    <a:solidFill>
                      <a:srgbClr val="34A853"/>
                    </a:solidFill>
                  </a:tcPr>
                </a:tc>
              </a:tr>
            </a:tbl>
          </a:graphicData>
        </a:graphic>
      </p:graphicFrame>
      <p:graphicFrame>
        <p:nvGraphicFramePr>
          <p:cNvPr id="4" name="Table 3"/>
          <p:cNvGraphicFramePr>
            <a:graphicFrameLocks noGrp="1"/>
          </p:cNvGraphicFramePr>
          <p:nvPr/>
        </p:nvGraphicFramePr>
        <p:xfrm>
          <a:off x="457200" y="2651760"/>
          <a:ext cx="8229600" cy="2103120"/>
        </p:xfrm>
        <a:graphic>
          <a:graphicData uri="http://schemas.openxmlformats.org/drawingml/2006/table">
            <a:tbl>
              <a:tblPr firstRow="1" bandRow="1">
                <a:tableStyleId>{5C22544A-7EE6-4342-B048-85BDC9FD1C3A}</a:tableStyleId>
              </a:tblPr>
              <a:tblGrid>
                <a:gridCol w="514350"/>
                <a:gridCol w="1851660"/>
                <a:gridCol w="2263140"/>
                <a:gridCol w="1234440"/>
                <a:gridCol w="1234440"/>
                <a:gridCol w="1131570"/>
              </a:tblGrid>
              <a:tr h="350520">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CNN Variant</a:t>
                      </a:r>
                    </a:p>
                  </a:txBody>
                  <a:tcPr>
                    <a:solidFill>
                      <a:srgbClr val="1A73E8"/>
                    </a:solidFill>
                  </a:tcPr>
                </a:tc>
                <a:tc>
                  <a:txBody>
                    <a:bodyPr/>
                    <a:lstStyle/>
                    <a:p>
                      <a:pPr algn="ctr"/>
                      <a:r>
                        <a:rPr sz="1000" b="1">
                          <a:solidFill>
                            <a:srgbClr val="FFFFFF"/>
                          </a:solidFill>
                        </a:rPr>
                        <a:t>Kelas</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Macro F1</a:t>
                      </a:r>
                    </a:p>
                  </a:txBody>
                  <a:tcPr>
                    <a:solidFill>
                      <a:srgbClr val="1A73E8"/>
                    </a:solidFill>
                  </a:tcPr>
                </a:tc>
              </a:tr>
              <a:tr h="350520">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Late Fusion</a:t>
                      </a:r>
                    </a:p>
                  </a:txBody>
                  <a:tcPr>
                    <a:solidFill>
                      <a:srgbClr val="34A853"/>
                    </a:solidFill>
                  </a:tcPr>
                </a:tc>
                <a:tc>
                  <a:txBody>
                    <a:bodyPr/>
                    <a:lstStyle/>
                    <a:p>
                      <a:pPr algn="ctr"/>
                      <a:r>
                        <a:rPr sz="900" b="1">
                          <a:solidFill>
                            <a:srgbClr val="FFFFFF"/>
                          </a:solidFill>
                        </a:rPr>
                        <a:t>Transfer Learning</a:t>
                      </a:r>
                    </a:p>
                  </a:txBody>
                  <a:tcPr>
                    <a:solidFill>
                      <a:srgbClr val="34A853"/>
                    </a:solidFill>
                  </a:tcPr>
                </a:tc>
                <a:tc>
                  <a:txBody>
                    <a:bodyPr/>
                    <a:lstStyle/>
                    <a:p>
                      <a:pPr algn="ctr"/>
                      <a:r>
                        <a:rPr sz="900" b="1">
                          <a:solidFill>
                            <a:srgbClr val="FFFFFF"/>
                          </a:solidFill>
                        </a:rPr>
                        <a:t>4-class</a:t>
                      </a:r>
                    </a:p>
                  </a:txBody>
                  <a:tcPr>
                    <a:solidFill>
                      <a:srgbClr val="34A853"/>
                    </a:solidFill>
                  </a:tcPr>
                </a:tc>
                <a:tc>
                  <a:txBody>
                    <a:bodyPr/>
                    <a:lstStyle/>
                    <a:p>
                      <a:pPr algn="ctr"/>
                      <a:r>
                        <a:rPr sz="900" b="1">
                          <a:solidFill>
                            <a:srgbClr val="FFFFFF"/>
                          </a:solidFill>
                        </a:rPr>
                        <a:t>B2</a:t>
                      </a:r>
                    </a:p>
                  </a:txBody>
                  <a:tcPr>
                    <a:solidFill>
                      <a:srgbClr val="34A853"/>
                    </a:solidFill>
                  </a:tcPr>
                </a:tc>
                <a:tc>
                  <a:txBody>
                    <a:bodyPr/>
                    <a:lstStyle/>
                    <a:p>
                      <a:pPr algn="ctr"/>
                      <a:r>
                        <a:rPr sz="900" b="1">
                          <a:solidFill>
                            <a:srgbClr val="FFFFFF"/>
                          </a:solidFill>
                        </a:rPr>
                        <a:t>0.442</a:t>
                      </a:r>
                    </a:p>
                  </a:txBody>
                  <a:tcPr>
                    <a:solidFill>
                      <a:srgbClr val="34A853"/>
                    </a:solidFill>
                  </a:tcPr>
                </a:tc>
              </a:tr>
              <a:tr h="350520">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Transfer Learning</a:t>
                      </a:r>
                    </a:p>
                  </a:txBody>
                  <a:tcPr>
                    <a:solidFill>
                      <a:srgbClr val="FFFFFF"/>
                    </a:solidFill>
                  </a:tcPr>
                </a:tc>
                <a:tc>
                  <a:txBody>
                    <a:bodyPr/>
                    <a:lstStyle/>
                    <a:p>
                      <a:pPr algn="ctr"/>
                      <a:r>
                        <a:rPr sz="900" b="0">
                          <a:solidFill>
                            <a:srgbClr val="202020"/>
                          </a:solidFill>
                        </a:rPr>
                        <a:t>4-class</a:t>
                      </a:r>
                    </a:p>
                  </a:txBody>
                  <a:tcPr>
                    <a:solidFill>
                      <a:srgbClr val="FFFFFF"/>
                    </a:solidFill>
                  </a:tcPr>
                </a:tc>
                <a:tc>
                  <a:txBody>
                    <a:bodyPr/>
                    <a:lstStyle/>
                    <a:p>
                      <a:pPr algn="ctr"/>
                      <a:r>
                        <a:rPr sz="900" b="0">
                          <a:solidFill>
                            <a:srgbClr val="202020"/>
                          </a:solidFill>
                        </a:rPr>
                        <a:t>B2</a:t>
                      </a:r>
                    </a:p>
                  </a:txBody>
                  <a:tcPr>
                    <a:solidFill>
                      <a:srgbClr val="FFFFFF"/>
                    </a:solidFill>
                  </a:tcPr>
                </a:tc>
                <a:tc>
                  <a:txBody>
                    <a:bodyPr/>
                    <a:lstStyle/>
                    <a:p>
                      <a:pPr algn="ctr"/>
                      <a:r>
                        <a:rPr sz="900" b="0">
                          <a:solidFill>
                            <a:srgbClr val="202020"/>
                          </a:solidFill>
                        </a:rPr>
                        <a:t>0.407</a:t>
                      </a:r>
                    </a:p>
                  </a:txBody>
                  <a:tcPr>
                    <a:solidFill>
                      <a:srgbClr val="FFFFFF"/>
                    </a:solidFill>
                  </a:tcPr>
                </a:tc>
              </a:tr>
              <a:tr h="350520">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Transfer Learning</a:t>
                      </a:r>
                    </a:p>
                  </a:txBody>
                  <a:tcPr>
                    <a:solidFill>
                      <a:srgbClr val="E8F0FE"/>
                    </a:solidFill>
                  </a:tcPr>
                </a:tc>
                <a:tc>
                  <a:txBody>
                    <a:bodyPr/>
                    <a:lstStyle/>
                    <a:p>
                      <a:pPr algn="ctr"/>
                      <a:r>
                        <a:rPr sz="900" b="0">
                          <a:solidFill>
                            <a:srgbClr val="202020"/>
                          </a:solidFill>
                        </a:rPr>
                        <a:t>4-class</a:t>
                      </a:r>
                    </a:p>
                  </a:txBody>
                  <a:tcPr>
                    <a:solidFill>
                      <a:srgbClr val="E8F0FE"/>
                    </a:solidFill>
                  </a:tcPr>
                </a:tc>
                <a:tc>
                  <a:txBody>
                    <a:bodyPr/>
                    <a:lstStyle/>
                    <a:p>
                      <a:pPr algn="ctr"/>
                      <a:r>
                        <a:rPr sz="900" b="0">
                          <a:solidFill>
                            <a:srgbClr val="202020"/>
                          </a:solidFill>
                        </a:rPr>
                        <a:t>B3</a:t>
                      </a:r>
                    </a:p>
                  </a:txBody>
                  <a:tcPr>
                    <a:solidFill>
                      <a:srgbClr val="E8F0FE"/>
                    </a:solidFill>
                  </a:tcPr>
                </a:tc>
                <a:tc>
                  <a:txBody>
                    <a:bodyPr/>
                    <a:lstStyle/>
                    <a:p>
                      <a:pPr algn="ctr"/>
                      <a:r>
                        <a:rPr sz="900" b="0">
                          <a:solidFill>
                            <a:srgbClr val="202020"/>
                          </a:solidFill>
                        </a:rPr>
                        <a:t>0.394</a:t>
                      </a:r>
                    </a:p>
                  </a:txBody>
                  <a:tcPr>
                    <a:solidFill>
                      <a:srgbClr val="E8F0FE"/>
                    </a:solidFill>
                  </a:tcPr>
                </a:tc>
              </a:tr>
              <a:tr h="350520">
                <a:tc>
                  <a:txBody>
                    <a:bodyPr/>
                    <a:lstStyle/>
                    <a:p>
                      <a:pPr algn="l"/>
                      <a:r>
                        <a:rPr sz="900" b="0">
                          <a:solidFill>
                            <a:srgbClr val="202020"/>
                          </a:solidFill>
                        </a:rPr>
                        <a:t>3</a:t>
                      </a:r>
                    </a:p>
                  </a:txBody>
                  <a:tcPr>
                    <a:solidFill>
                      <a:srgbClr val="FFFFFF"/>
                    </a:solidFill>
                  </a:tcPr>
                </a:tc>
                <a:tc>
                  <a:txBody>
                    <a:bodyPr/>
                    <a:lstStyle/>
                    <a:p>
                      <a:pPr algn="ctr"/>
                      <a:r>
                        <a:rPr sz="900" b="0">
                          <a:solidFill>
                            <a:srgbClr val="202020"/>
                          </a:solidFill>
                        </a:rPr>
                        <a:t>FCNN</a:t>
                      </a:r>
                    </a:p>
                  </a:txBody>
                  <a:tcPr>
                    <a:solidFill>
                      <a:srgbClr val="FFFFFF"/>
                    </a:solidFill>
                  </a:tcPr>
                </a:tc>
                <a:tc>
                  <a:txBody>
                    <a:bodyPr/>
                    <a:lstStyle/>
                    <a:p>
                      <a:pPr algn="ctr"/>
                      <a:r>
                        <a:rPr sz="900" b="0">
                          <a:solidFill>
                            <a:srgbClr val="202020"/>
                          </a:solidFill>
                        </a:rPr>
                        <a:t>From Scratch</a:t>
                      </a:r>
                    </a:p>
                  </a:txBody>
                  <a:tcPr>
                    <a:solidFill>
                      <a:srgbClr val="FFFFFF"/>
                    </a:solidFill>
                  </a:tcPr>
                </a:tc>
                <a:tc>
                  <a:txBody>
                    <a:bodyPr/>
                    <a:lstStyle/>
                    <a:p>
                      <a:pPr algn="ctr"/>
                      <a:r>
                        <a:rPr sz="900" b="0">
                          <a:solidFill>
                            <a:srgbClr val="202020"/>
                          </a:solidFill>
                        </a:rPr>
                        <a:t>4-class</a:t>
                      </a:r>
                    </a:p>
                  </a:txBody>
                  <a:tcPr>
                    <a:solidFill>
                      <a:srgbClr val="FFFFFF"/>
                    </a:solidFill>
                  </a:tcPr>
                </a:tc>
                <a:tc>
                  <a:txBody>
                    <a:bodyPr/>
                    <a:lstStyle/>
                    <a:p>
                      <a:pPr algn="ctr"/>
                      <a:r>
                        <a:rPr sz="900" b="0">
                          <a:solidFill>
                            <a:srgbClr val="202020"/>
                          </a:solidFill>
                        </a:rPr>
                        <a:t>B3</a:t>
                      </a:r>
                    </a:p>
                  </a:txBody>
                  <a:tcPr>
                    <a:solidFill>
                      <a:srgbClr val="FFFFFF"/>
                    </a:solidFill>
                  </a:tcPr>
                </a:tc>
                <a:tc>
                  <a:txBody>
                    <a:bodyPr/>
                    <a:lstStyle/>
                    <a:p>
                      <a:pPr algn="ctr"/>
                      <a:r>
                        <a:rPr sz="900" b="0">
                          <a:solidFill>
                            <a:srgbClr val="202020"/>
                          </a:solidFill>
                        </a:rPr>
                        <a:t>0.394</a:t>
                      </a:r>
                    </a:p>
                  </a:txBody>
                  <a:tcPr>
                    <a:solidFill>
                      <a:srgbClr val="FFFFFF"/>
                    </a:solidFill>
                  </a:tcPr>
                </a:tc>
              </a:tr>
              <a:tr h="350520">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Late Fusion</a:t>
                      </a:r>
                    </a:p>
                  </a:txBody>
                  <a:tcPr>
                    <a:solidFill>
                      <a:srgbClr val="E8F0FE"/>
                    </a:solidFill>
                  </a:tcPr>
                </a:tc>
                <a:tc>
                  <a:txBody>
                    <a:bodyPr/>
                    <a:lstStyle/>
                    <a:p>
                      <a:pPr algn="ctr"/>
                      <a:r>
                        <a:rPr sz="900" b="0">
                          <a:solidFill>
                            <a:srgbClr val="202020"/>
                          </a:solidFill>
                        </a:rPr>
                        <a:t>From Scratch</a:t>
                      </a:r>
                    </a:p>
                  </a:txBody>
                  <a:tcPr>
                    <a:solidFill>
                      <a:srgbClr val="E8F0FE"/>
                    </a:solidFill>
                  </a:tcPr>
                </a:tc>
                <a:tc>
                  <a:txBody>
                    <a:bodyPr/>
                    <a:lstStyle/>
                    <a:p>
                      <a:pPr algn="ctr"/>
                      <a:r>
                        <a:rPr sz="900" b="0">
                          <a:solidFill>
                            <a:srgbClr val="202020"/>
                          </a:solidFill>
                        </a:rPr>
                        <a:t>4-class</a:t>
                      </a:r>
                    </a:p>
                  </a:txBody>
                  <a:tcPr>
                    <a:solidFill>
                      <a:srgbClr val="E8F0FE"/>
                    </a:solidFill>
                  </a:tcPr>
                </a:tc>
                <a:tc>
                  <a:txBody>
                    <a:bodyPr/>
                    <a:lstStyle/>
                    <a:p>
                      <a:pPr algn="ctr"/>
                      <a:r>
                        <a:rPr sz="900" b="0">
                          <a:solidFill>
                            <a:srgbClr val="202020"/>
                          </a:solidFill>
                        </a:rPr>
                        <a:t>B3</a:t>
                      </a:r>
                    </a:p>
                  </a:txBody>
                  <a:tcPr>
                    <a:solidFill>
                      <a:srgbClr val="E8F0FE"/>
                    </a:solidFill>
                  </a:tcPr>
                </a:tc>
                <a:tc>
                  <a:txBody>
                    <a:bodyPr/>
                    <a:lstStyle/>
                    <a:p>
                      <a:pPr algn="ctr"/>
                      <a:r>
                        <a:rPr sz="900" b="0">
                          <a:solidFill>
                            <a:srgbClr val="202020"/>
                          </a:solidFill>
                        </a:rPr>
                        <a:t>0.385</a:t>
                      </a:r>
                    </a:p>
                  </a:txBody>
                  <a:tcPr>
                    <a:solidFill>
                      <a:srgbClr val="E8F0FE"/>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Rancangan Eksperimen — Tahap 4: Front-Only</a:t>
            </a:r>
          </a:p>
        </p:txBody>
      </p:sp>
      <p:sp>
        <p:nvSpPr>
          <p:cNvPr id="3" name="TextBox 2"/>
          <p:cNvSpPr txBox="1"/>
          <p:nvPr/>
        </p:nvSpPr>
        <p:spPr>
          <a:xfrm>
            <a:off x="274320" y="777240"/>
            <a:ext cx="8595360" cy="1188720"/>
          </a:xfrm>
          <a:prstGeom prst="rect">
            <a:avLst/>
          </a:prstGeom>
          <a:solidFill>
            <a:srgbClr val="FFF0CC"/>
          </a:solidFill>
        </p:spPr>
        <p:txBody>
          <a:bodyPr wrap="square">
            <a:spAutoFit/>
          </a:bodyPr>
          <a:lstStyle/>
          <a:p>
            <a:pPr algn="l"/>
            <a:r>
              <a:rPr sz="1000" b="1" i="0">
                <a:solidFill>
                  <a:srgbClr val="202020"/>
                </a:solidFill>
              </a:rPr>
              <a:t>Motivasi:</a:t>
            </a:r>
          </a:p>
          <a:p>
            <a:pPr algn="l"/>
            <a:r>
              <a:rPr sz="950" b="0" i="0">
                <a:solidFill>
                  <a:srgbClr val="202020"/>
                </a:solidFill>
              </a:rPr>
              <a:t>-&gt; Batch 1 hanya memiliki sudut kamera depan (front)</a:t>
            </a:r>
          </a:p>
          <a:p>
            <a:pPr algn="l"/>
            <a:r>
              <a:rPr sz="950" b="0" i="0">
                <a:solidFill>
                  <a:srgbClr val="202020"/>
                </a:solidFill>
              </a:rPr>
              <a:t>-&gt; Batch 2 memiliki depan + samping (side)</a:t>
            </a:r>
          </a:p>
          <a:p>
            <a:pPr algn="l"/>
            <a:r>
              <a:rPr sz="950" b="0" i="0">
                <a:solidFill>
                  <a:srgbClr val="202020"/>
                </a:solidFill>
              </a:rPr>
              <a:t>-&gt; Inkonsistensi ini bisa bias hasil eksperimen</a:t>
            </a:r>
          </a:p>
          <a:p>
            <a:pPr algn="l"/>
            <a:r>
              <a:rPr sz="950" b="0" i="0">
                <a:solidFill>
                  <a:srgbClr val="202020"/>
                </a:solidFill>
              </a:rPr>
              <a:t>-&gt; Solusi: ulangi seluruh eksperimen dengan front-only</a:t>
            </a:r>
          </a:p>
        </p:txBody>
      </p:sp>
      <p:graphicFrame>
        <p:nvGraphicFramePr>
          <p:cNvPr id="4" name="Table 3"/>
          <p:cNvGraphicFramePr>
            <a:graphicFrameLocks noGrp="1"/>
          </p:cNvGraphicFramePr>
          <p:nvPr/>
        </p:nvGraphicFramePr>
        <p:xfrm>
          <a:off x="274320" y="2103120"/>
          <a:ext cx="8595360" cy="1554480"/>
        </p:xfrm>
        <a:graphic>
          <a:graphicData uri="http://schemas.openxmlformats.org/drawingml/2006/table">
            <a:tbl>
              <a:tblPr firstRow="1" bandRow="1"/>
              <a:tblGrid>
                <a:gridCol w="2286000"/>
                <a:gridCol w="3200400"/>
                <a:gridCol w="3108960"/>
              </a:tblGrid>
              <a:tr h="310896">
                <a:tc>
                  <a:txBody>
                    <a:bodyPr/>
                    <a:lstStyle/>
                    <a:p>
                      <a:pPr algn="ctr"/>
                      <a:r>
                        <a:rPr sz="1000" b="1">
                          <a:solidFill>
                            <a:srgbClr val="FFFFFF"/>
                          </a:solidFill>
                        </a:rPr>
                        <a:t/>
                      </a:r>
                    </a:p>
                  </a:txBody>
                  <a:tcPr>
                    <a:solidFill>
                      <a:srgbClr val="1A73E8"/>
                    </a:solidFill>
                  </a:tcPr>
                </a:tc>
                <a:tc>
                  <a:txBody>
                    <a:bodyPr/>
                    <a:lstStyle/>
                    <a:p>
                      <a:pPr algn="ctr"/>
                      <a:r>
                        <a:rPr sz="1000" b="1">
                          <a:solidFill>
                            <a:srgbClr val="FFFFFF"/>
                          </a:solidFill>
                        </a:rPr>
                        <a:t>Front+Side (sebelumnya)</a:t>
                      </a:r>
                    </a:p>
                  </a:txBody>
                  <a:tcPr>
                    <a:solidFill>
                      <a:srgbClr val="1A73E8"/>
                    </a:solidFill>
                  </a:tcPr>
                </a:tc>
                <a:tc>
                  <a:txBody>
                    <a:bodyPr/>
                    <a:lstStyle/>
                    <a:p>
                      <a:pPr algn="ctr"/>
                      <a:r>
                        <a:rPr sz="1000" b="1">
                          <a:solidFill>
                            <a:srgbClr val="FFFFFF"/>
                          </a:solidFill>
                        </a:rPr>
                        <a:t>Front-Only</a:t>
                      </a:r>
                    </a:p>
                  </a:txBody>
                  <a:tcPr>
                    <a:solidFill>
                      <a:srgbClr val="1A73E8"/>
                    </a:solidFill>
                  </a:tcPr>
                </a:tc>
              </a:tr>
              <a:tr h="310896">
                <a:tc>
                  <a:txBody>
                    <a:bodyPr/>
                    <a:lstStyle/>
                    <a:p>
                      <a:pPr algn="l"/>
                      <a:r>
                        <a:rPr sz="1000" b="1">
                          <a:solidFill>
                            <a:srgbClr val="202020"/>
                          </a:solidFill>
                        </a:rPr>
                        <a:t>Batch 1</a:t>
                      </a:r>
                    </a:p>
                  </a:txBody>
                  <a:tcPr>
                    <a:solidFill>
                      <a:srgbClr val="E8F0FE"/>
                    </a:solidFill>
                  </a:tcPr>
                </a:tc>
                <a:tc>
                  <a:txBody>
                    <a:bodyPr/>
                    <a:lstStyle/>
                    <a:p>
                      <a:pPr algn="l"/>
                      <a:r>
                        <a:rPr sz="1000" b="0">
                          <a:solidFill>
                            <a:srgbClr val="202020"/>
                          </a:solidFill>
                        </a:rPr>
                        <a:t>3,824 (front)</a:t>
                      </a:r>
                    </a:p>
                  </a:txBody>
                  <a:tcPr>
                    <a:solidFill>
                      <a:srgbClr val="E8F0FE"/>
                    </a:solidFill>
                  </a:tcPr>
                </a:tc>
                <a:tc>
                  <a:txBody>
                    <a:bodyPr/>
                    <a:lstStyle/>
                    <a:p>
                      <a:pPr algn="ctr"/>
                      <a:r>
                        <a:rPr sz="1000" b="0">
                          <a:solidFill>
                            <a:srgbClr val="202020"/>
                          </a:solidFill>
                        </a:rPr>
                        <a:t>3,824 (front)</a:t>
                      </a:r>
                    </a:p>
                  </a:txBody>
                  <a:tcPr>
                    <a:solidFill>
                      <a:srgbClr val="E8F0FE"/>
                    </a:solidFill>
                  </a:tcPr>
                </a:tc>
              </a:tr>
              <a:tr h="310896">
                <a:tc>
                  <a:txBody>
                    <a:bodyPr/>
                    <a:lstStyle/>
                    <a:p>
                      <a:pPr algn="l"/>
                      <a:r>
                        <a:rPr sz="1000" b="1">
                          <a:solidFill>
                            <a:srgbClr val="202020"/>
                          </a:solidFill>
                        </a:rPr>
                        <a:t>Batch 2</a:t>
                      </a:r>
                    </a:p>
                  </a:txBody>
                  <a:tcPr>
                    <a:solidFill>
                      <a:srgbClr val="FFFFFF"/>
                    </a:solidFill>
                  </a:tcPr>
                </a:tc>
                <a:tc>
                  <a:txBody>
                    <a:bodyPr/>
                    <a:lstStyle/>
                    <a:p>
                      <a:pPr algn="l"/>
                      <a:r>
                        <a:rPr sz="1000" b="0">
                          <a:solidFill>
                            <a:srgbClr val="202020"/>
                          </a:solidFill>
                        </a:rPr>
                        <a:t>~6,070 (front+side)</a:t>
                      </a:r>
                    </a:p>
                  </a:txBody>
                  <a:tcPr>
                    <a:solidFill>
                      <a:srgbClr val="FFFFFF"/>
                    </a:solidFill>
                  </a:tcPr>
                </a:tc>
                <a:tc>
                  <a:txBody>
                    <a:bodyPr/>
                    <a:lstStyle/>
                    <a:p>
                      <a:pPr algn="ctr"/>
                      <a:r>
                        <a:rPr sz="1000" b="0">
                          <a:solidFill>
                            <a:srgbClr val="202020"/>
                          </a:solidFill>
                        </a:rPr>
                        <a:t>~3,267 (front saja)</a:t>
                      </a:r>
                    </a:p>
                  </a:txBody>
                  <a:tcPr>
                    <a:solidFill>
                      <a:srgbClr val="FFFFFF"/>
                    </a:solidFill>
                  </a:tcPr>
                </a:tc>
              </a:tr>
              <a:tr h="310896">
                <a:tc>
                  <a:txBody>
                    <a:bodyPr/>
                    <a:lstStyle/>
                    <a:p>
                      <a:pPr algn="l"/>
                      <a:r>
                        <a:rPr sz="1000" b="1">
                          <a:solidFill>
                            <a:srgbClr val="202020"/>
                          </a:solidFill>
                        </a:rPr>
                        <a:t>Total</a:t>
                      </a:r>
                    </a:p>
                  </a:txBody>
                  <a:tcPr>
                    <a:solidFill>
                      <a:srgbClr val="E8F0FE"/>
                    </a:solidFill>
                  </a:tcPr>
                </a:tc>
                <a:tc>
                  <a:txBody>
                    <a:bodyPr/>
                    <a:lstStyle/>
                    <a:p>
                      <a:pPr algn="l"/>
                      <a:r>
                        <a:rPr sz="1000" b="0">
                          <a:solidFill>
                            <a:srgbClr val="202020"/>
                          </a:solidFill>
                        </a:rPr>
                        <a:t>9,894</a:t>
                      </a:r>
                    </a:p>
                  </a:txBody>
                  <a:tcPr>
                    <a:solidFill>
                      <a:srgbClr val="E8F0FE"/>
                    </a:solidFill>
                  </a:tcPr>
                </a:tc>
                <a:tc>
                  <a:txBody>
                    <a:bodyPr/>
                    <a:lstStyle/>
                    <a:p>
                      <a:pPr algn="ctr"/>
                      <a:r>
                        <a:rPr sz="1000" b="0">
                          <a:solidFill>
                            <a:srgbClr val="202020"/>
                          </a:solidFill>
                        </a:rPr>
                        <a:t>7,091</a:t>
                      </a:r>
                    </a:p>
                  </a:txBody>
                  <a:tcPr>
                    <a:solidFill>
                      <a:srgbClr val="E8F0FE"/>
                    </a:solidFill>
                  </a:tcPr>
                </a:tc>
              </a:tr>
              <a:tr h="310896">
                <a:tc>
                  <a:txBody>
                    <a:bodyPr/>
                    <a:lstStyle/>
                    <a:p>
                      <a:pPr algn="l"/>
                      <a:r>
                        <a:rPr sz="1000" b="1">
                          <a:solidFill>
                            <a:srgbClr val="202020"/>
                          </a:solidFill>
                        </a:rPr>
                        <a:t>Train / Val / Test</a:t>
                      </a:r>
                    </a:p>
                  </a:txBody>
                  <a:tcPr>
                    <a:solidFill>
                      <a:srgbClr val="FFFFFF"/>
                    </a:solidFill>
                  </a:tcPr>
                </a:tc>
                <a:tc>
                  <a:txBody>
                    <a:bodyPr/>
                    <a:lstStyle/>
                    <a:p>
                      <a:pPr algn="l"/>
                      <a:r>
                        <a:rPr sz="1000" b="0">
                          <a:solidFill>
                            <a:srgbClr val="202020"/>
                          </a:solidFill>
                        </a:rPr>
                        <a:t>7,064 / 1,174 / 1,656</a:t>
                      </a:r>
                    </a:p>
                  </a:txBody>
                  <a:tcPr>
                    <a:solidFill>
                      <a:srgbClr val="FFFFFF"/>
                    </a:solidFill>
                  </a:tcPr>
                </a:tc>
                <a:tc>
                  <a:txBody>
                    <a:bodyPr/>
                    <a:lstStyle/>
                    <a:p>
                      <a:pPr algn="ctr"/>
                      <a:r>
                        <a:rPr sz="1000" b="0">
                          <a:solidFill>
                            <a:srgbClr val="202020"/>
                          </a:solidFill>
                        </a:rPr>
                        <a:t>5,348 / 707 / 1,036</a:t>
                      </a:r>
                    </a:p>
                  </a:txBody>
                  <a:tcPr>
                    <a:solidFill>
                      <a:srgbClr val="FFFFFF"/>
                    </a:solidFill>
                  </a:tcPr>
                </a:tc>
              </a:tr>
            </a:tbl>
          </a:graphicData>
        </a:graphic>
      </p:graphicFrame>
      <p:sp>
        <p:nvSpPr>
          <p:cNvPr id="5" name="TextBox 4"/>
          <p:cNvSpPr txBox="1"/>
          <p:nvPr/>
        </p:nvSpPr>
        <p:spPr>
          <a:xfrm>
            <a:off x="274320" y="3749039"/>
            <a:ext cx="8595360" cy="274320"/>
          </a:xfrm>
          <a:prstGeom prst="rect">
            <a:avLst/>
          </a:prstGeom>
          <a:noFill/>
        </p:spPr>
        <p:txBody>
          <a:bodyPr wrap="none">
            <a:spAutoFit/>
          </a:bodyPr>
          <a:lstStyle/>
          <a:p>
            <a:pPr algn="l"/>
            <a:r>
              <a:rPr sz="1000" b="0" i="0">
                <a:solidFill>
                  <a:srgbClr val="202020"/>
                </a:solidFill>
              </a:rPr>
              <a:t>48 eksperimen front-only (4 model x 3 skenario x 2 kelas x 2 CNN variant) | User split identik</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Training 7-Class Front-Only (12 Eksperimen)</a:t>
            </a:r>
          </a:p>
        </p:txBody>
      </p:sp>
      <p:graphicFrame>
        <p:nvGraphicFramePr>
          <p:cNvPr id="3" name="Table 2"/>
          <p:cNvGraphicFramePr>
            <a:graphicFrameLocks noGrp="1"/>
          </p:cNvGraphicFramePr>
          <p:nvPr/>
        </p:nvGraphicFramePr>
        <p:xfrm>
          <a:off x="274320" y="731520"/>
          <a:ext cx="8595357" cy="3474720"/>
        </p:xfrm>
        <a:graphic>
          <a:graphicData uri="http://schemas.openxmlformats.org/drawingml/2006/table">
            <a:tbl>
              <a:tblPr firstRow="1" bandRow="1"/>
              <a:tblGrid>
                <a:gridCol w="613954"/>
                <a:gridCol w="2046514"/>
                <a:gridCol w="1534885"/>
                <a:gridCol w="1330234"/>
                <a:gridCol w="1534885"/>
                <a:gridCol w="1534885"/>
              </a:tblGrid>
              <a:tr h="267286">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W-F1</a:t>
                      </a:r>
                    </a:p>
                  </a:txBody>
                  <a:tcPr>
                    <a:solidFill>
                      <a:srgbClr val="1A73E8"/>
                    </a:solidFill>
                  </a:tcPr>
                </a:tc>
              </a:tr>
              <a:tr h="267286">
                <a:tc>
                  <a:txBody>
                    <a:bodyPr/>
                    <a:lstStyle/>
                    <a:p>
                      <a:pPr algn="l"/>
                      <a:r>
                        <a:rPr sz="950" b="1">
                          <a:solidFill>
                            <a:srgbClr val="202020"/>
                          </a:solidFill>
                        </a:rPr>
                        <a:t>1</a:t>
                      </a:r>
                    </a:p>
                  </a:txBody>
                  <a:tcPr>
                    <a:solidFill>
                      <a:srgbClr val="C6EFCE"/>
                    </a:solidFill>
                  </a:tcPr>
                </a:tc>
                <a:tc>
                  <a:txBody>
                    <a:bodyPr/>
                    <a:lstStyle/>
                    <a:p>
                      <a:pPr algn="l"/>
                      <a:r>
                        <a:rPr sz="950" b="1">
                          <a:solidFill>
                            <a:srgbClr val="202020"/>
                          </a:solidFill>
                        </a:rPr>
                        <a:t>Late Fusion</a:t>
                      </a:r>
                    </a:p>
                  </a:txBody>
                  <a:tcPr>
                    <a:solidFill>
                      <a:srgbClr val="C6EFCE"/>
                    </a:solidFill>
                  </a:tcPr>
                </a:tc>
                <a:tc>
                  <a:txBody>
                    <a:bodyPr/>
                    <a:lstStyle/>
                    <a:p>
                      <a:pPr algn="ctr"/>
                      <a:r>
                        <a:rPr sz="950" b="1">
                          <a:solidFill>
                            <a:srgbClr val="202020"/>
                          </a:solidFill>
                        </a:rPr>
                        <a:t>B3 Aug</a:t>
                      </a:r>
                    </a:p>
                  </a:txBody>
                  <a:tcPr>
                    <a:solidFill>
                      <a:srgbClr val="C6EFCE"/>
                    </a:solidFill>
                  </a:tcPr>
                </a:tc>
                <a:tc>
                  <a:txBody>
                    <a:bodyPr/>
                    <a:lstStyle/>
                    <a:p>
                      <a:pPr algn="ctr"/>
                      <a:r>
                        <a:rPr sz="950" b="1">
                          <a:solidFill>
                            <a:srgbClr val="202020"/>
                          </a:solidFill>
                        </a:rPr>
                        <a:t>93.3%</a:t>
                      </a:r>
                    </a:p>
                  </a:txBody>
                  <a:tcPr>
                    <a:solidFill>
                      <a:srgbClr val="C6EFCE"/>
                    </a:solidFill>
                  </a:tcPr>
                </a:tc>
                <a:tc>
                  <a:txBody>
                    <a:bodyPr/>
                    <a:lstStyle/>
                    <a:p>
                      <a:pPr algn="ctr"/>
                      <a:r>
                        <a:rPr sz="950" b="1">
                          <a:solidFill>
                            <a:srgbClr val="202020"/>
                          </a:solidFill>
                        </a:rPr>
                        <a:t>0.175</a:t>
                      </a:r>
                    </a:p>
                  </a:txBody>
                  <a:tcPr>
                    <a:solidFill>
                      <a:srgbClr val="C6EFCE"/>
                    </a:solidFill>
                  </a:tcPr>
                </a:tc>
                <a:tc>
                  <a:txBody>
                    <a:bodyPr/>
                    <a:lstStyle/>
                    <a:p>
                      <a:pPr algn="ctr"/>
                      <a:r>
                        <a:rPr sz="950" b="1">
                          <a:solidFill>
                            <a:srgbClr val="202020"/>
                          </a:solidFill>
                        </a:rPr>
                        <a:t>0.919</a:t>
                      </a:r>
                    </a:p>
                  </a:txBody>
                  <a:tcPr>
                    <a:solidFill>
                      <a:srgbClr val="C6EFCE"/>
                    </a:solidFill>
                  </a:tcPr>
                </a:tc>
              </a:tr>
              <a:tr h="267286">
                <a:tc>
                  <a:txBody>
                    <a:bodyPr/>
                    <a:lstStyle/>
                    <a:p>
                      <a:pPr algn="l"/>
                      <a:r>
                        <a:rPr sz="950" b="1">
                          <a:solidFill>
                            <a:srgbClr val="202020"/>
                          </a:solidFill>
                        </a:rPr>
                        <a:t>2</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93.1%</a:t>
                      </a:r>
                    </a:p>
                  </a:txBody>
                  <a:tcPr>
                    <a:solidFill>
                      <a:srgbClr val="FFFFFF"/>
                    </a:solidFill>
                  </a:tcPr>
                </a:tc>
                <a:tc>
                  <a:txBody>
                    <a:bodyPr/>
                    <a:lstStyle/>
                    <a:p>
                      <a:pPr algn="ctr"/>
                      <a:r>
                        <a:rPr sz="950" b="0">
                          <a:solidFill>
                            <a:srgbClr val="202020"/>
                          </a:solidFill>
                        </a:rPr>
                        <a:t>0.171</a:t>
                      </a:r>
                    </a:p>
                  </a:txBody>
                  <a:tcPr>
                    <a:solidFill>
                      <a:srgbClr val="FFFFFF"/>
                    </a:solidFill>
                  </a:tcPr>
                </a:tc>
                <a:tc>
                  <a:txBody>
                    <a:bodyPr/>
                    <a:lstStyle/>
                    <a:p>
                      <a:pPr algn="ctr"/>
                      <a:r>
                        <a:rPr sz="950" b="0">
                          <a:solidFill>
                            <a:srgbClr val="202020"/>
                          </a:solidFill>
                        </a:rPr>
                        <a:t>0.917</a:t>
                      </a:r>
                    </a:p>
                  </a:txBody>
                  <a:tcPr>
                    <a:solidFill>
                      <a:srgbClr val="FFFFFF"/>
                    </a:solidFill>
                  </a:tcPr>
                </a:tc>
              </a:tr>
              <a:tr h="267286">
                <a:tc>
                  <a:txBody>
                    <a:bodyPr/>
                    <a:lstStyle/>
                    <a:p>
                      <a:pPr algn="l"/>
                      <a:r>
                        <a:rPr sz="950" b="1">
                          <a:solidFill>
                            <a:srgbClr val="202020"/>
                          </a:solidFill>
                        </a:rPr>
                        <a:t>3</a:t>
                      </a:r>
                    </a:p>
                  </a:txBody>
                  <a:tcPr>
                    <a:solidFill>
                      <a:srgbClr val="E8F0FE"/>
                    </a:solidFill>
                  </a:tcPr>
                </a:tc>
                <a:tc>
                  <a:txBody>
                    <a:bodyPr/>
                    <a:lstStyle/>
                    <a:p>
                      <a:pPr algn="l"/>
                      <a:r>
                        <a:rPr sz="950" b="0">
                          <a:solidFill>
                            <a:srgbClr val="202020"/>
                          </a:solidFill>
                        </a:rPr>
                        <a:t>FCNN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90.9%</a:t>
                      </a:r>
                    </a:p>
                  </a:txBody>
                  <a:tcPr>
                    <a:solidFill>
                      <a:srgbClr val="E8F0FE"/>
                    </a:solidFill>
                  </a:tcPr>
                </a:tc>
                <a:tc>
                  <a:txBody>
                    <a:bodyPr/>
                    <a:lstStyle/>
                    <a:p>
                      <a:pPr algn="ctr"/>
                      <a:r>
                        <a:rPr sz="950" b="0">
                          <a:solidFill>
                            <a:srgbClr val="202020"/>
                          </a:solidFill>
                        </a:rPr>
                        <a:t>0.158</a:t>
                      </a:r>
                    </a:p>
                  </a:txBody>
                  <a:tcPr>
                    <a:solidFill>
                      <a:srgbClr val="E8F0FE"/>
                    </a:solidFill>
                  </a:tcPr>
                </a:tc>
                <a:tc>
                  <a:txBody>
                    <a:bodyPr/>
                    <a:lstStyle/>
                    <a:p>
                      <a:pPr algn="ctr"/>
                      <a:r>
                        <a:rPr sz="950" b="0">
                          <a:solidFill>
                            <a:srgbClr val="202020"/>
                          </a:solidFill>
                        </a:rPr>
                        <a:t>0.906</a:t>
                      </a:r>
                    </a:p>
                  </a:txBody>
                  <a:tcPr>
                    <a:solidFill>
                      <a:srgbClr val="E8F0FE"/>
                    </a:solidFill>
                  </a:tcPr>
                </a:tc>
              </a:tr>
              <a:tr h="267286">
                <a:tc>
                  <a:txBody>
                    <a:bodyPr/>
                    <a:lstStyle/>
                    <a:p>
                      <a:pPr algn="l"/>
                      <a:r>
                        <a:rPr sz="950" b="1">
                          <a:solidFill>
                            <a:srgbClr val="202020"/>
                          </a:solidFill>
                        </a:rPr>
                        <a:t>4</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88.3%</a:t>
                      </a:r>
                    </a:p>
                  </a:txBody>
                  <a:tcPr>
                    <a:solidFill>
                      <a:srgbClr val="FFFFFF"/>
                    </a:solidFill>
                  </a:tcPr>
                </a:tc>
                <a:tc>
                  <a:txBody>
                    <a:bodyPr/>
                    <a:lstStyle/>
                    <a:p>
                      <a:pPr algn="ctr"/>
                      <a:r>
                        <a:rPr sz="950" b="0">
                          <a:solidFill>
                            <a:srgbClr val="202020"/>
                          </a:solidFill>
                        </a:rPr>
                        <a:t>0.157</a:t>
                      </a:r>
                    </a:p>
                  </a:txBody>
                  <a:tcPr>
                    <a:solidFill>
                      <a:srgbClr val="FFFFFF"/>
                    </a:solidFill>
                  </a:tcPr>
                </a:tc>
                <a:tc>
                  <a:txBody>
                    <a:bodyPr/>
                    <a:lstStyle/>
                    <a:p>
                      <a:pPr algn="ctr"/>
                      <a:r>
                        <a:rPr sz="950" b="0">
                          <a:solidFill>
                            <a:srgbClr val="202020"/>
                          </a:solidFill>
                        </a:rPr>
                        <a:t>0.892</a:t>
                      </a:r>
                    </a:p>
                  </a:txBody>
                  <a:tcPr>
                    <a:solidFill>
                      <a:srgbClr val="FFFFFF"/>
                    </a:solidFill>
                  </a:tcPr>
                </a:tc>
              </a:tr>
              <a:tr h="267286">
                <a:tc>
                  <a:txBody>
                    <a:bodyPr/>
                    <a:lstStyle/>
                    <a:p>
                      <a:pPr algn="l"/>
                      <a:r>
                        <a:rPr sz="950" b="1">
                          <a:solidFill>
                            <a:srgbClr val="202020"/>
                          </a:solidFill>
                        </a:rPr>
                        <a:t>5</a:t>
                      </a:r>
                    </a:p>
                  </a:txBody>
                  <a:tcPr>
                    <a:solidFill>
                      <a:srgbClr val="E8F0FE"/>
                    </a:solidFill>
                  </a:tcPr>
                </a:tc>
                <a:tc>
                  <a:txBody>
                    <a:bodyPr/>
                    <a:lstStyle/>
                    <a:p>
                      <a:pPr algn="l"/>
                      <a:r>
                        <a:rPr sz="950" b="0">
                          <a:solidFill>
                            <a:srgbClr val="202020"/>
                          </a:solidFill>
                        </a:rPr>
                        <a:t>Late Fusion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94.1%</a:t>
                      </a:r>
                    </a:p>
                  </a:txBody>
                  <a:tcPr>
                    <a:solidFill>
                      <a:srgbClr val="E8F0FE"/>
                    </a:solidFill>
                  </a:tcPr>
                </a:tc>
                <a:tc>
                  <a:txBody>
                    <a:bodyPr/>
                    <a:lstStyle/>
                    <a:p>
                      <a:pPr algn="ctr"/>
                      <a:r>
                        <a:rPr sz="950" b="0">
                          <a:solidFill>
                            <a:srgbClr val="202020"/>
                          </a:solidFill>
                        </a:rPr>
                        <a:t>0.151</a:t>
                      </a:r>
                    </a:p>
                  </a:txBody>
                  <a:tcPr>
                    <a:solidFill>
                      <a:srgbClr val="E8F0FE"/>
                    </a:solidFill>
                  </a:tcPr>
                </a:tc>
                <a:tc>
                  <a:txBody>
                    <a:bodyPr/>
                    <a:lstStyle/>
                    <a:p>
                      <a:pPr algn="ctr"/>
                      <a:r>
                        <a:rPr sz="950" b="0">
                          <a:solidFill>
                            <a:srgbClr val="202020"/>
                          </a:solidFill>
                        </a:rPr>
                        <a:t>0.921</a:t>
                      </a:r>
                    </a:p>
                  </a:txBody>
                  <a:tcPr>
                    <a:solidFill>
                      <a:srgbClr val="E8F0FE"/>
                    </a:solidFill>
                  </a:tcPr>
                </a:tc>
              </a:tr>
              <a:tr h="267286">
                <a:tc>
                  <a:txBody>
                    <a:bodyPr/>
                    <a:lstStyle/>
                    <a:p>
                      <a:pPr algn="l"/>
                      <a:r>
                        <a:rPr sz="950" b="1">
                          <a:solidFill>
                            <a:srgbClr val="202020"/>
                          </a:solidFill>
                        </a:rPr>
                        <a:t>6</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91.7%</a:t>
                      </a:r>
                    </a:p>
                  </a:txBody>
                  <a:tcPr>
                    <a:solidFill>
                      <a:srgbClr val="FFFFFF"/>
                    </a:solidFill>
                  </a:tcPr>
                </a:tc>
                <a:tc>
                  <a:txBody>
                    <a:bodyPr/>
                    <a:lstStyle/>
                    <a:p>
                      <a:pPr algn="ctr"/>
                      <a:r>
                        <a:rPr sz="950" b="0">
                          <a:solidFill>
                            <a:srgbClr val="202020"/>
                          </a:solidFill>
                        </a:rPr>
                        <a:t>0.148</a:t>
                      </a:r>
                    </a:p>
                  </a:txBody>
                  <a:tcPr>
                    <a:solidFill>
                      <a:srgbClr val="FFFFFF"/>
                    </a:solidFill>
                  </a:tcPr>
                </a:tc>
                <a:tc>
                  <a:txBody>
                    <a:bodyPr/>
                    <a:lstStyle/>
                    <a:p>
                      <a:pPr algn="ctr"/>
                      <a:r>
                        <a:rPr sz="950" b="0">
                          <a:solidFill>
                            <a:srgbClr val="202020"/>
                          </a:solidFill>
                        </a:rPr>
                        <a:t>0.913</a:t>
                      </a:r>
                    </a:p>
                  </a:txBody>
                  <a:tcPr>
                    <a:solidFill>
                      <a:srgbClr val="FFFFFF"/>
                    </a:solidFill>
                  </a:tcPr>
                </a:tc>
              </a:tr>
              <a:tr h="267286">
                <a:tc>
                  <a:txBody>
                    <a:bodyPr/>
                    <a:lstStyle/>
                    <a:p>
                      <a:pPr algn="l"/>
                      <a:r>
                        <a:rPr sz="950" b="1">
                          <a:solidFill>
                            <a:srgbClr val="202020"/>
                          </a:solidFill>
                        </a:rPr>
                        <a:t>7</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91.8%</a:t>
                      </a:r>
                    </a:p>
                  </a:txBody>
                  <a:tcPr>
                    <a:solidFill>
                      <a:srgbClr val="E8F0FE"/>
                    </a:solidFill>
                  </a:tcPr>
                </a:tc>
                <a:tc>
                  <a:txBody>
                    <a:bodyPr/>
                    <a:lstStyle/>
                    <a:p>
                      <a:pPr algn="ctr"/>
                      <a:r>
                        <a:rPr sz="950" b="0">
                          <a:solidFill>
                            <a:srgbClr val="202020"/>
                          </a:solidFill>
                        </a:rPr>
                        <a:t>0.137</a:t>
                      </a:r>
                    </a:p>
                  </a:txBody>
                  <a:tcPr>
                    <a:solidFill>
                      <a:srgbClr val="E8F0FE"/>
                    </a:solidFill>
                  </a:tcPr>
                </a:tc>
                <a:tc>
                  <a:txBody>
                    <a:bodyPr/>
                    <a:lstStyle/>
                    <a:p>
                      <a:pPr algn="ctr"/>
                      <a:r>
                        <a:rPr sz="950" b="0">
                          <a:solidFill>
                            <a:srgbClr val="202020"/>
                          </a:solidFill>
                        </a:rPr>
                        <a:t>0.911</a:t>
                      </a:r>
                    </a:p>
                  </a:txBody>
                  <a:tcPr>
                    <a:solidFill>
                      <a:srgbClr val="E8F0FE"/>
                    </a:solidFill>
                  </a:tcPr>
                </a:tc>
              </a:tr>
              <a:tr h="267286">
                <a:tc>
                  <a:txBody>
                    <a:bodyPr/>
                    <a:lstStyle/>
                    <a:p>
                      <a:pPr algn="l"/>
                      <a:r>
                        <a:rPr sz="950" b="1">
                          <a:solidFill>
                            <a:srgbClr val="202020"/>
                          </a:solidFill>
                        </a:rPr>
                        <a:t>8</a:t>
                      </a:r>
                    </a:p>
                  </a:txBody>
                  <a:tcPr>
                    <a:solidFill>
                      <a:srgbClr val="FFFFFF"/>
                    </a:solidFill>
                  </a:tcPr>
                </a:tc>
                <a:tc>
                  <a:txBody>
                    <a:bodyPr/>
                    <a:lstStyle/>
                    <a:p>
                      <a:pPr algn="l"/>
                      <a:r>
                        <a:rPr sz="950" b="0">
                          <a:solidFill>
                            <a:srgbClr val="202020"/>
                          </a:solidFill>
                        </a:rPr>
                        <a:t>Intermediate</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91.4%</a:t>
                      </a:r>
                    </a:p>
                  </a:txBody>
                  <a:tcPr>
                    <a:solidFill>
                      <a:srgbClr val="FFFFFF"/>
                    </a:solidFill>
                  </a:tcPr>
                </a:tc>
                <a:tc>
                  <a:txBody>
                    <a:bodyPr/>
                    <a:lstStyle/>
                    <a:p>
                      <a:pPr algn="ctr"/>
                      <a:r>
                        <a:rPr sz="950" b="0">
                          <a:solidFill>
                            <a:srgbClr val="202020"/>
                          </a:solidFill>
                        </a:rPr>
                        <a:t>0.137</a:t>
                      </a:r>
                    </a:p>
                  </a:txBody>
                  <a:tcPr>
                    <a:solidFill>
                      <a:srgbClr val="FFFFFF"/>
                    </a:solidFill>
                  </a:tcPr>
                </a:tc>
                <a:tc>
                  <a:txBody>
                    <a:bodyPr/>
                    <a:lstStyle/>
                    <a:p>
                      <a:pPr algn="ctr"/>
                      <a:r>
                        <a:rPr sz="950" b="0">
                          <a:solidFill>
                            <a:srgbClr val="202020"/>
                          </a:solidFill>
                        </a:rPr>
                        <a:t>0.909</a:t>
                      </a:r>
                    </a:p>
                  </a:txBody>
                  <a:tcPr>
                    <a:solidFill>
                      <a:srgbClr val="FFFFFF"/>
                    </a:solidFill>
                  </a:tcPr>
                </a:tc>
              </a:tr>
              <a:tr h="267286">
                <a:tc>
                  <a:txBody>
                    <a:bodyPr/>
                    <a:lstStyle/>
                    <a:p>
                      <a:pPr algn="l"/>
                      <a:r>
                        <a:rPr sz="950" b="1">
                          <a:solidFill>
                            <a:srgbClr val="202020"/>
                          </a:solidFill>
                        </a:rPr>
                        <a:t>9</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90.5%</a:t>
                      </a:r>
                    </a:p>
                  </a:txBody>
                  <a:tcPr>
                    <a:solidFill>
                      <a:srgbClr val="E8F0FE"/>
                    </a:solidFill>
                  </a:tcPr>
                </a:tc>
                <a:tc>
                  <a:txBody>
                    <a:bodyPr/>
                    <a:lstStyle/>
                    <a:p>
                      <a:pPr algn="ctr"/>
                      <a:r>
                        <a:rPr sz="950" b="0">
                          <a:solidFill>
                            <a:srgbClr val="202020"/>
                          </a:solidFill>
                        </a:rPr>
                        <a:t>0.137</a:t>
                      </a:r>
                    </a:p>
                  </a:txBody>
                  <a:tcPr>
                    <a:solidFill>
                      <a:srgbClr val="E8F0FE"/>
                    </a:solidFill>
                  </a:tcPr>
                </a:tc>
                <a:tc>
                  <a:txBody>
                    <a:bodyPr/>
                    <a:lstStyle/>
                    <a:p>
                      <a:pPr algn="ctr"/>
                      <a:r>
                        <a:rPr sz="950" b="0">
                          <a:solidFill>
                            <a:srgbClr val="202020"/>
                          </a:solidFill>
                        </a:rPr>
                        <a:t>0.905</a:t>
                      </a:r>
                    </a:p>
                  </a:txBody>
                  <a:tcPr>
                    <a:solidFill>
                      <a:srgbClr val="E8F0FE"/>
                    </a:solidFill>
                  </a:tcPr>
                </a:tc>
              </a:tr>
              <a:tr h="267286">
                <a:tc>
                  <a:txBody>
                    <a:bodyPr/>
                    <a:lstStyle/>
                    <a:p>
                      <a:pPr algn="l"/>
                      <a:r>
                        <a:rPr sz="950" b="1">
                          <a:solidFill>
                            <a:srgbClr val="202020"/>
                          </a:solidFill>
                        </a:rPr>
                        <a:t>10</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89.3%</a:t>
                      </a:r>
                    </a:p>
                  </a:txBody>
                  <a:tcPr>
                    <a:solidFill>
                      <a:srgbClr val="FFFFFF"/>
                    </a:solidFill>
                  </a:tcPr>
                </a:tc>
                <a:tc>
                  <a:txBody>
                    <a:bodyPr/>
                    <a:lstStyle/>
                    <a:p>
                      <a:pPr algn="ctr"/>
                      <a:r>
                        <a:rPr sz="950" b="0">
                          <a:solidFill>
                            <a:srgbClr val="202020"/>
                          </a:solidFill>
                        </a:rPr>
                        <a:t>0.136</a:t>
                      </a:r>
                    </a:p>
                  </a:txBody>
                  <a:tcPr>
                    <a:solidFill>
                      <a:srgbClr val="FFFFFF"/>
                    </a:solidFill>
                  </a:tcPr>
                </a:tc>
                <a:tc>
                  <a:txBody>
                    <a:bodyPr/>
                    <a:lstStyle/>
                    <a:p>
                      <a:pPr algn="ctr"/>
                      <a:r>
                        <a:rPr sz="950" b="0">
                          <a:solidFill>
                            <a:srgbClr val="202020"/>
                          </a:solidFill>
                        </a:rPr>
                        <a:t>0.902</a:t>
                      </a:r>
                    </a:p>
                  </a:txBody>
                  <a:tcPr>
                    <a:solidFill>
                      <a:srgbClr val="FFFFFF"/>
                    </a:solidFill>
                  </a:tcPr>
                </a:tc>
              </a:tr>
              <a:tr h="267286">
                <a:tc>
                  <a:txBody>
                    <a:bodyPr/>
                    <a:lstStyle/>
                    <a:p>
                      <a:pPr algn="l"/>
                      <a:r>
                        <a:rPr sz="950" b="1">
                          <a:solidFill>
                            <a:srgbClr val="202020"/>
                          </a:solidFill>
                        </a:rPr>
                        <a:t>11</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84.9%</a:t>
                      </a:r>
                    </a:p>
                  </a:txBody>
                  <a:tcPr>
                    <a:solidFill>
                      <a:srgbClr val="E8F0FE"/>
                    </a:solidFill>
                  </a:tcPr>
                </a:tc>
                <a:tc>
                  <a:txBody>
                    <a:bodyPr/>
                    <a:lstStyle/>
                    <a:p>
                      <a:pPr algn="ctr"/>
                      <a:r>
                        <a:rPr sz="950" b="0">
                          <a:solidFill>
                            <a:srgbClr val="202020"/>
                          </a:solidFill>
                        </a:rPr>
                        <a:t>0.136</a:t>
                      </a:r>
                    </a:p>
                  </a:txBody>
                  <a:tcPr>
                    <a:solidFill>
                      <a:srgbClr val="E8F0FE"/>
                    </a:solidFill>
                  </a:tcPr>
                </a:tc>
                <a:tc>
                  <a:txBody>
                    <a:bodyPr/>
                    <a:lstStyle/>
                    <a:p>
                      <a:pPr algn="ctr"/>
                      <a:r>
                        <a:rPr sz="950" b="0">
                          <a:solidFill>
                            <a:srgbClr val="202020"/>
                          </a:solidFill>
                        </a:rPr>
                        <a:t>0.885</a:t>
                      </a:r>
                    </a:p>
                  </a:txBody>
                  <a:tcPr>
                    <a:solidFill>
                      <a:srgbClr val="E8F0FE"/>
                    </a:solidFill>
                  </a:tcPr>
                </a:tc>
              </a:tr>
              <a:tr h="267288">
                <a:tc>
                  <a:txBody>
                    <a:bodyPr/>
                    <a:lstStyle/>
                    <a:p>
                      <a:pPr algn="l"/>
                      <a:r>
                        <a:rPr sz="950" b="1">
                          <a:solidFill>
                            <a:srgbClr val="202020"/>
                          </a:solidFill>
                        </a:rPr>
                        <a:t>12</a:t>
                      </a:r>
                    </a:p>
                  </a:txBody>
                  <a:tcPr>
                    <a:solidFill>
                      <a:srgbClr val="FFFFFF"/>
                    </a:solidFill>
                  </a:tcPr>
                </a:tc>
                <a:tc>
                  <a:txBody>
                    <a:bodyPr/>
                    <a:lstStyle/>
                    <a:p>
                      <a:pPr algn="l"/>
                      <a:r>
                        <a:rPr sz="950" b="0">
                          <a:solidFill>
                            <a:srgbClr val="202020"/>
                          </a:solidFill>
                        </a:rPr>
                        <a:t>Intermediate</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85.7%</a:t>
                      </a:r>
                    </a:p>
                  </a:txBody>
                  <a:tcPr>
                    <a:solidFill>
                      <a:srgbClr val="FFFFFF"/>
                    </a:solidFill>
                  </a:tcPr>
                </a:tc>
                <a:tc>
                  <a:txBody>
                    <a:bodyPr/>
                    <a:lstStyle/>
                    <a:p>
                      <a:pPr algn="ctr"/>
                      <a:r>
                        <a:rPr sz="950" b="0">
                          <a:solidFill>
                            <a:srgbClr val="202020"/>
                          </a:solidFill>
                        </a:rPr>
                        <a:t>0.135</a:t>
                      </a:r>
                    </a:p>
                  </a:txBody>
                  <a:tcPr>
                    <a:solidFill>
                      <a:srgbClr val="FFFFFF"/>
                    </a:solidFill>
                  </a:tcPr>
                </a:tc>
                <a:tc>
                  <a:txBody>
                    <a:bodyPr/>
                    <a:lstStyle/>
                    <a:p>
                      <a:pPr algn="ctr"/>
                      <a:r>
                        <a:rPr sz="950" b="0">
                          <a:solidFill>
                            <a:srgbClr val="202020"/>
                          </a:solidFill>
                        </a:rPr>
                        <a:t>0.876</a:t>
                      </a:r>
                    </a:p>
                  </a:txBody>
                  <a:tcPr>
                    <a:solidFill>
                      <a:srgbClr val="FFFFFF"/>
                    </a:solidFill>
                  </a:tcPr>
                </a:tc>
              </a:tr>
            </a:tbl>
          </a:graphicData>
        </a:graphic>
      </p:graphicFrame>
      <p:sp>
        <p:nvSpPr>
          <p:cNvPr id="4" name="TextBox 3"/>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Late Fusion B3 (Macro F1: 0.175) | FCNN dan Late Fusion mendominasi</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Training 4-Class Front-Only (12 Eksperimen)</a:t>
            </a:r>
          </a:p>
        </p:txBody>
      </p:sp>
      <p:graphicFrame>
        <p:nvGraphicFramePr>
          <p:cNvPr id="3" name="Table 2"/>
          <p:cNvGraphicFramePr>
            <a:graphicFrameLocks noGrp="1"/>
          </p:cNvGraphicFramePr>
          <p:nvPr/>
        </p:nvGraphicFramePr>
        <p:xfrm>
          <a:off x="274320" y="731520"/>
          <a:ext cx="8595357" cy="3474720"/>
        </p:xfrm>
        <a:graphic>
          <a:graphicData uri="http://schemas.openxmlformats.org/drawingml/2006/table">
            <a:tbl>
              <a:tblPr firstRow="1" bandRow="1"/>
              <a:tblGrid>
                <a:gridCol w="613954"/>
                <a:gridCol w="2046514"/>
                <a:gridCol w="1534885"/>
                <a:gridCol w="1330234"/>
                <a:gridCol w="1534885"/>
                <a:gridCol w="1534885"/>
              </a:tblGrid>
              <a:tr h="267286">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W-F1</a:t>
                      </a:r>
                    </a:p>
                  </a:txBody>
                  <a:tcPr>
                    <a:solidFill>
                      <a:srgbClr val="1A73E8"/>
                    </a:solidFill>
                  </a:tcPr>
                </a:tc>
              </a:tr>
              <a:tr h="267286">
                <a:tc>
                  <a:txBody>
                    <a:bodyPr/>
                    <a:lstStyle/>
                    <a:p>
                      <a:pPr algn="l"/>
                      <a:r>
                        <a:rPr sz="950" b="1">
                          <a:solidFill>
                            <a:srgbClr val="202020"/>
                          </a:solidFill>
                        </a:rPr>
                        <a:t>1</a:t>
                      </a:r>
                    </a:p>
                  </a:txBody>
                  <a:tcPr>
                    <a:solidFill>
                      <a:srgbClr val="C6EFCE"/>
                    </a:solidFill>
                  </a:tcPr>
                </a:tc>
                <a:tc>
                  <a:txBody>
                    <a:bodyPr/>
                    <a:lstStyle/>
                    <a:p>
                      <a:pPr algn="l"/>
                      <a:r>
                        <a:rPr sz="950" b="1">
                          <a:solidFill>
                            <a:srgbClr val="202020"/>
                          </a:solidFill>
                        </a:rPr>
                        <a:t>Late Fusion</a:t>
                      </a:r>
                    </a:p>
                  </a:txBody>
                  <a:tcPr>
                    <a:solidFill>
                      <a:srgbClr val="C6EFCE"/>
                    </a:solidFill>
                  </a:tcPr>
                </a:tc>
                <a:tc>
                  <a:txBody>
                    <a:bodyPr/>
                    <a:lstStyle/>
                    <a:p>
                      <a:pPr algn="ctr"/>
                      <a:r>
                        <a:rPr sz="950" b="1">
                          <a:solidFill>
                            <a:srgbClr val="202020"/>
                          </a:solidFill>
                        </a:rPr>
                        <a:t>B3 Aug</a:t>
                      </a:r>
                    </a:p>
                  </a:txBody>
                  <a:tcPr>
                    <a:solidFill>
                      <a:srgbClr val="C6EFCE"/>
                    </a:solidFill>
                  </a:tcPr>
                </a:tc>
                <a:tc>
                  <a:txBody>
                    <a:bodyPr/>
                    <a:lstStyle/>
                    <a:p>
                      <a:pPr algn="ctr"/>
                      <a:r>
                        <a:rPr sz="950" b="1">
                          <a:solidFill>
                            <a:srgbClr val="202020"/>
                          </a:solidFill>
                        </a:rPr>
                        <a:t>92.3%</a:t>
                      </a:r>
                    </a:p>
                  </a:txBody>
                  <a:tcPr>
                    <a:solidFill>
                      <a:srgbClr val="C6EFCE"/>
                    </a:solidFill>
                  </a:tcPr>
                </a:tc>
                <a:tc>
                  <a:txBody>
                    <a:bodyPr/>
                    <a:lstStyle/>
                    <a:p>
                      <a:pPr algn="ctr"/>
                      <a:r>
                        <a:rPr sz="950" b="1">
                          <a:solidFill>
                            <a:srgbClr val="202020"/>
                          </a:solidFill>
                        </a:rPr>
                        <a:t>0.394</a:t>
                      </a:r>
                    </a:p>
                  </a:txBody>
                  <a:tcPr>
                    <a:solidFill>
                      <a:srgbClr val="C6EFCE"/>
                    </a:solidFill>
                  </a:tcPr>
                </a:tc>
                <a:tc>
                  <a:txBody>
                    <a:bodyPr/>
                    <a:lstStyle/>
                    <a:p>
                      <a:pPr algn="ctr"/>
                      <a:r>
                        <a:rPr sz="950" b="1">
                          <a:solidFill>
                            <a:srgbClr val="202020"/>
                          </a:solidFill>
                        </a:rPr>
                        <a:t>0.924</a:t>
                      </a:r>
                    </a:p>
                  </a:txBody>
                  <a:tcPr>
                    <a:solidFill>
                      <a:srgbClr val="C6EFCE"/>
                    </a:solidFill>
                  </a:tcPr>
                </a:tc>
              </a:tr>
              <a:tr h="267286">
                <a:tc>
                  <a:txBody>
                    <a:bodyPr/>
                    <a:lstStyle/>
                    <a:p>
                      <a:pPr algn="l"/>
                      <a:r>
                        <a:rPr sz="950" b="1">
                          <a:solidFill>
                            <a:srgbClr val="202020"/>
                          </a:solidFill>
                        </a:rPr>
                        <a:t>2</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89.4%</a:t>
                      </a:r>
                    </a:p>
                  </a:txBody>
                  <a:tcPr>
                    <a:solidFill>
                      <a:srgbClr val="FFFFFF"/>
                    </a:solidFill>
                  </a:tcPr>
                </a:tc>
                <a:tc>
                  <a:txBody>
                    <a:bodyPr/>
                    <a:lstStyle/>
                    <a:p>
                      <a:pPr algn="ctr"/>
                      <a:r>
                        <a:rPr sz="950" b="0">
                          <a:solidFill>
                            <a:srgbClr val="202020"/>
                          </a:solidFill>
                        </a:rPr>
                        <a:t>0.361</a:t>
                      </a:r>
                    </a:p>
                  </a:txBody>
                  <a:tcPr>
                    <a:solidFill>
                      <a:srgbClr val="FFFFFF"/>
                    </a:solidFill>
                  </a:tcPr>
                </a:tc>
                <a:tc>
                  <a:txBody>
                    <a:bodyPr/>
                    <a:lstStyle/>
                    <a:p>
                      <a:pPr algn="ctr"/>
                      <a:r>
                        <a:rPr sz="950" b="0">
                          <a:solidFill>
                            <a:srgbClr val="202020"/>
                          </a:solidFill>
                        </a:rPr>
                        <a:t>0.909</a:t>
                      </a:r>
                    </a:p>
                  </a:txBody>
                  <a:tcPr>
                    <a:solidFill>
                      <a:srgbClr val="FFFFFF"/>
                    </a:solidFill>
                  </a:tcPr>
                </a:tc>
              </a:tr>
              <a:tr h="267286">
                <a:tc>
                  <a:txBody>
                    <a:bodyPr/>
                    <a:lstStyle/>
                    <a:p>
                      <a:pPr algn="l"/>
                      <a:r>
                        <a:rPr sz="950" b="1">
                          <a:solidFill>
                            <a:srgbClr val="202020"/>
                          </a:solidFill>
                        </a:rPr>
                        <a:t>3</a:t>
                      </a:r>
                    </a:p>
                  </a:txBody>
                  <a:tcPr>
                    <a:solidFill>
                      <a:srgbClr val="E8F0FE"/>
                    </a:solidFill>
                  </a:tcPr>
                </a:tc>
                <a:tc>
                  <a:txBody>
                    <a:bodyPr/>
                    <a:lstStyle/>
                    <a:p>
                      <a:pPr algn="l"/>
                      <a:r>
                        <a:rPr sz="950" b="0">
                          <a:solidFill>
                            <a:srgbClr val="202020"/>
                          </a:solidFill>
                        </a:rPr>
                        <a:t>FCNN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89.7%</a:t>
                      </a:r>
                    </a:p>
                  </a:txBody>
                  <a:tcPr>
                    <a:solidFill>
                      <a:srgbClr val="E8F0FE"/>
                    </a:solidFill>
                  </a:tcPr>
                </a:tc>
                <a:tc>
                  <a:txBody>
                    <a:bodyPr/>
                    <a:lstStyle/>
                    <a:p>
                      <a:pPr algn="ctr"/>
                      <a:r>
                        <a:rPr sz="950" b="0">
                          <a:solidFill>
                            <a:srgbClr val="202020"/>
                          </a:solidFill>
                        </a:rPr>
                        <a:t>0.307</a:t>
                      </a:r>
                    </a:p>
                  </a:txBody>
                  <a:tcPr>
                    <a:solidFill>
                      <a:srgbClr val="E8F0FE"/>
                    </a:solidFill>
                  </a:tcPr>
                </a:tc>
                <a:tc>
                  <a:txBody>
                    <a:bodyPr/>
                    <a:lstStyle/>
                    <a:p>
                      <a:pPr algn="ctr"/>
                      <a:r>
                        <a:rPr sz="950" b="0">
                          <a:solidFill>
                            <a:srgbClr val="202020"/>
                          </a:solidFill>
                        </a:rPr>
                        <a:t>0.901</a:t>
                      </a:r>
                    </a:p>
                  </a:txBody>
                  <a:tcPr>
                    <a:solidFill>
                      <a:srgbClr val="E8F0FE"/>
                    </a:solidFill>
                  </a:tcPr>
                </a:tc>
              </a:tr>
              <a:tr h="267286">
                <a:tc>
                  <a:txBody>
                    <a:bodyPr/>
                    <a:lstStyle/>
                    <a:p>
                      <a:pPr algn="l"/>
                      <a:r>
                        <a:rPr sz="950" b="1">
                          <a:solidFill>
                            <a:srgbClr val="202020"/>
                          </a:solidFill>
                        </a:rPr>
                        <a:t>4</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89.7%</a:t>
                      </a:r>
                    </a:p>
                  </a:txBody>
                  <a:tcPr>
                    <a:solidFill>
                      <a:srgbClr val="FFFFFF"/>
                    </a:solidFill>
                  </a:tcPr>
                </a:tc>
                <a:tc>
                  <a:txBody>
                    <a:bodyPr/>
                    <a:lstStyle/>
                    <a:p>
                      <a:pPr algn="ctr"/>
                      <a:r>
                        <a:rPr sz="950" b="0">
                          <a:solidFill>
                            <a:srgbClr val="202020"/>
                          </a:solidFill>
                        </a:rPr>
                        <a:t>0.307</a:t>
                      </a:r>
                    </a:p>
                  </a:txBody>
                  <a:tcPr>
                    <a:solidFill>
                      <a:srgbClr val="FFFFFF"/>
                    </a:solidFill>
                  </a:tcPr>
                </a:tc>
                <a:tc>
                  <a:txBody>
                    <a:bodyPr/>
                    <a:lstStyle/>
                    <a:p>
                      <a:pPr algn="ctr"/>
                      <a:r>
                        <a:rPr sz="950" b="0">
                          <a:solidFill>
                            <a:srgbClr val="202020"/>
                          </a:solidFill>
                        </a:rPr>
                        <a:t>0.901</a:t>
                      </a:r>
                    </a:p>
                  </a:txBody>
                  <a:tcPr>
                    <a:solidFill>
                      <a:srgbClr val="FFFFFF"/>
                    </a:solidFill>
                  </a:tcPr>
                </a:tc>
              </a:tr>
              <a:tr h="267286">
                <a:tc>
                  <a:txBody>
                    <a:bodyPr/>
                    <a:lstStyle/>
                    <a:p>
                      <a:pPr algn="l"/>
                      <a:r>
                        <a:rPr sz="950" b="1">
                          <a:solidFill>
                            <a:srgbClr val="202020"/>
                          </a:solidFill>
                        </a:rPr>
                        <a:t>5</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90.1%</a:t>
                      </a:r>
                    </a:p>
                  </a:txBody>
                  <a:tcPr>
                    <a:solidFill>
                      <a:srgbClr val="E8F0FE"/>
                    </a:solidFill>
                  </a:tcPr>
                </a:tc>
                <a:tc>
                  <a:txBody>
                    <a:bodyPr/>
                    <a:lstStyle/>
                    <a:p>
                      <a:pPr algn="ctr"/>
                      <a:r>
                        <a:rPr sz="950" b="0">
                          <a:solidFill>
                            <a:srgbClr val="202020"/>
                          </a:solidFill>
                        </a:rPr>
                        <a:t>0.240</a:t>
                      </a:r>
                    </a:p>
                  </a:txBody>
                  <a:tcPr>
                    <a:solidFill>
                      <a:srgbClr val="E8F0FE"/>
                    </a:solidFill>
                  </a:tcPr>
                </a:tc>
                <a:tc>
                  <a:txBody>
                    <a:bodyPr/>
                    <a:lstStyle/>
                    <a:p>
                      <a:pPr algn="ctr"/>
                      <a:r>
                        <a:rPr sz="950" b="0">
                          <a:solidFill>
                            <a:srgbClr val="202020"/>
                          </a:solidFill>
                        </a:rPr>
                        <a:t>0.908</a:t>
                      </a:r>
                    </a:p>
                  </a:txBody>
                  <a:tcPr>
                    <a:solidFill>
                      <a:srgbClr val="E8F0FE"/>
                    </a:solidFill>
                  </a:tcPr>
                </a:tc>
              </a:tr>
              <a:tr h="267286">
                <a:tc>
                  <a:txBody>
                    <a:bodyPr/>
                    <a:lstStyle/>
                    <a:p>
                      <a:pPr algn="l"/>
                      <a:r>
                        <a:rPr sz="950" b="1">
                          <a:solidFill>
                            <a:srgbClr val="202020"/>
                          </a:solidFill>
                        </a:rPr>
                        <a:t>6</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91.9%</a:t>
                      </a:r>
                    </a:p>
                  </a:txBody>
                  <a:tcPr>
                    <a:solidFill>
                      <a:srgbClr val="FFFFFF"/>
                    </a:solidFill>
                  </a:tcPr>
                </a:tc>
                <a:tc>
                  <a:txBody>
                    <a:bodyPr/>
                    <a:lstStyle/>
                    <a:p>
                      <a:pPr algn="ctr"/>
                      <a:r>
                        <a:rPr sz="950" b="0">
                          <a:solidFill>
                            <a:srgbClr val="202020"/>
                          </a:solidFill>
                        </a:rPr>
                        <a:t>0.276</a:t>
                      </a:r>
                    </a:p>
                  </a:txBody>
                  <a:tcPr>
                    <a:solidFill>
                      <a:srgbClr val="FFFFFF"/>
                    </a:solidFill>
                  </a:tcPr>
                </a:tc>
                <a:tc>
                  <a:txBody>
                    <a:bodyPr/>
                    <a:lstStyle/>
                    <a:p>
                      <a:pPr algn="ctr"/>
                      <a:r>
                        <a:rPr sz="950" b="0">
                          <a:solidFill>
                            <a:srgbClr val="202020"/>
                          </a:solidFill>
                        </a:rPr>
                        <a:t>0.914</a:t>
                      </a:r>
                    </a:p>
                  </a:txBody>
                  <a:tcPr>
                    <a:solidFill>
                      <a:srgbClr val="FFFFFF"/>
                    </a:solidFill>
                  </a:tcPr>
                </a:tc>
              </a:tr>
              <a:tr h="267286">
                <a:tc>
                  <a:txBody>
                    <a:bodyPr/>
                    <a:lstStyle/>
                    <a:p>
                      <a:pPr algn="l"/>
                      <a:r>
                        <a:rPr sz="950" b="1">
                          <a:solidFill>
                            <a:srgbClr val="202020"/>
                          </a:solidFill>
                        </a:rPr>
                        <a:t>7</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87.5%</a:t>
                      </a:r>
                    </a:p>
                  </a:txBody>
                  <a:tcPr>
                    <a:solidFill>
                      <a:srgbClr val="E8F0FE"/>
                    </a:solidFill>
                  </a:tcPr>
                </a:tc>
                <a:tc>
                  <a:txBody>
                    <a:bodyPr/>
                    <a:lstStyle/>
                    <a:p>
                      <a:pPr algn="ctr"/>
                      <a:r>
                        <a:rPr sz="950" b="0">
                          <a:solidFill>
                            <a:srgbClr val="202020"/>
                          </a:solidFill>
                        </a:rPr>
                        <a:t>0.269</a:t>
                      </a:r>
                    </a:p>
                  </a:txBody>
                  <a:tcPr>
                    <a:solidFill>
                      <a:srgbClr val="E8F0FE"/>
                    </a:solidFill>
                  </a:tcPr>
                </a:tc>
                <a:tc>
                  <a:txBody>
                    <a:bodyPr/>
                    <a:lstStyle/>
                    <a:p>
                      <a:pPr algn="ctr"/>
                      <a:r>
                        <a:rPr sz="950" b="0">
                          <a:solidFill>
                            <a:srgbClr val="202020"/>
                          </a:solidFill>
                        </a:rPr>
                        <a:t>0.892</a:t>
                      </a:r>
                    </a:p>
                  </a:txBody>
                  <a:tcPr>
                    <a:solidFill>
                      <a:srgbClr val="E8F0FE"/>
                    </a:solidFill>
                  </a:tcPr>
                </a:tc>
              </a:tr>
              <a:tr h="267286">
                <a:tc>
                  <a:txBody>
                    <a:bodyPr/>
                    <a:lstStyle/>
                    <a:p>
                      <a:pPr algn="l"/>
                      <a:r>
                        <a:rPr sz="950" b="1">
                          <a:solidFill>
                            <a:srgbClr val="202020"/>
                          </a:solidFill>
                        </a:rPr>
                        <a:t>8</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90.2%</a:t>
                      </a:r>
                    </a:p>
                  </a:txBody>
                  <a:tcPr>
                    <a:solidFill>
                      <a:srgbClr val="FFFFFF"/>
                    </a:solidFill>
                  </a:tcPr>
                </a:tc>
                <a:tc>
                  <a:txBody>
                    <a:bodyPr/>
                    <a:lstStyle/>
                    <a:p>
                      <a:pPr algn="ctr"/>
                      <a:r>
                        <a:rPr sz="950" b="0">
                          <a:solidFill>
                            <a:srgbClr val="202020"/>
                          </a:solidFill>
                        </a:rPr>
                        <a:t>0.265</a:t>
                      </a:r>
                    </a:p>
                  </a:txBody>
                  <a:tcPr>
                    <a:solidFill>
                      <a:srgbClr val="FFFFFF"/>
                    </a:solidFill>
                  </a:tcPr>
                </a:tc>
                <a:tc>
                  <a:txBody>
                    <a:bodyPr/>
                    <a:lstStyle/>
                    <a:p>
                      <a:pPr algn="ctr"/>
                      <a:r>
                        <a:rPr sz="950" b="0">
                          <a:solidFill>
                            <a:srgbClr val="202020"/>
                          </a:solidFill>
                        </a:rPr>
                        <a:t>0.906</a:t>
                      </a:r>
                    </a:p>
                  </a:txBody>
                  <a:tcPr>
                    <a:solidFill>
                      <a:srgbClr val="FFFFFF"/>
                    </a:solidFill>
                  </a:tcPr>
                </a:tc>
              </a:tr>
              <a:tr h="267286">
                <a:tc>
                  <a:txBody>
                    <a:bodyPr/>
                    <a:lstStyle/>
                    <a:p>
                      <a:pPr algn="l"/>
                      <a:r>
                        <a:rPr sz="950" b="1">
                          <a:solidFill>
                            <a:srgbClr val="202020"/>
                          </a:solidFill>
                        </a:rPr>
                        <a:t>9</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94.3%</a:t>
                      </a:r>
                    </a:p>
                  </a:txBody>
                  <a:tcPr>
                    <a:solidFill>
                      <a:srgbClr val="E8F0FE"/>
                    </a:solidFill>
                  </a:tcPr>
                </a:tc>
                <a:tc>
                  <a:txBody>
                    <a:bodyPr/>
                    <a:lstStyle/>
                    <a:p>
                      <a:pPr algn="ctr"/>
                      <a:r>
                        <a:rPr sz="950" b="0">
                          <a:solidFill>
                            <a:srgbClr val="202020"/>
                          </a:solidFill>
                        </a:rPr>
                        <a:t>0.243</a:t>
                      </a:r>
                    </a:p>
                  </a:txBody>
                  <a:tcPr>
                    <a:solidFill>
                      <a:srgbClr val="E8F0FE"/>
                    </a:solidFill>
                  </a:tcPr>
                </a:tc>
                <a:tc>
                  <a:txBody>
                    <a:bodyPr/>
                    <a:lstStyle/>
                    <a:p>
                      <a:pPr algn="ctr"/>
                      <a:r>
                        <a:rPr sz="950" b="0">
                          <a:solidFill>
                            <a:srgbClr val="202020"/>
                          </a:solidFill>
                        </a:rPr>
                        <a:t>0.919</a:t>
                      </a:r>
                    </a:p>
                  </a:txBody>
                  <a:tcPr>
                    <a:solidFill>
                      <a:srgbClr val="E8F0FE"/>
                    </a:solidFill>
                  </a:tcPr>
                </a:tc>
              </a:tr>
              <a:tr h="267286">
                <a:tc>
                  <a:txBody>
                    <a:bodyPr/>
                    <a:lstStyle/>
                    <a:p>
                      <a:pPr algn="l"/>
                      <a:r>
                        <a:rPr sz="950" b="1">
                          <a:solidFill>
                            <a:srgbClr val="202020"/>
                          </a:solidFill>
                        </a:rPr>
                        <a:t>10</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89.3%</a:t>
                      </a:r>
                    </a:p>
                  </a:txBody>
                  <a:tcPr>
                    <a:solidFill>
                      <a:srgbClr val="FFFFFF"/>
                    </a:solidFill>
                  </a:tcPr>
                </a:tc>
                <a:tc>
                  <a:txBody>
                    <a:bodyPr/>
                    <a:lstStyle/>
                    <a:p>
                      <a:pPr algn="ctr"/>
                      <a:r>
                        <a:rPr sz="950" b="0">
                          <a:solidFill>
                            <a:srgbClr val="202020"/>
                          </a:solidFill>
                        </a:rPr>
                        <a:t>0.238</a:t>
                      </a:r>
                    </a:p>
                  </a:txBody>
                  <a:tcPr>
                    <a:solidFill>
                      <a:srgbClr val="FFFFFF"/>
                    </a:solidFill>
                  </a:tcPr>
                </a:tc>
                <a:tc>
                  <a:txBody>
                    <a:bodyPr/>
                    <a:lstStyle/>
                    <a:p>
                      <a:pPr algn="ctr"/>
                      <a:r>
                        <a:rPr sz="950" b="0">
                          <a:solidFill>
                            <a:srgbClr val="202020"/>
                          </a:solidFill>
                        </a:rPr>
                        <a:t>0.901</a:t>
                      </a:r>
                    </a:p>
                  </a:txBody>
                  <a:tcPr>
                    <a:solidFill>
                      <a:srgbClr val="FFFFFF"/>
                    </a:solidFill>
                  </a:tcPr>
                </a:tc>
              </a:tr>
              <a:tr h="267286">
                <a:tc>
                  <a:txBody>
                    <a:bodyPr/>
                    <a:lstStyle/>
                    <a:p>
                      <a:pPr algn="l"/>
                      <a:r>
                        <a:rPr sz="950" b="1">
                          <a:solidFill>
                            <a:srgbClr val="202020"/>
                          </a:solidFill>
                        </a:rPr>
                        <a:t>11</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B3 Aug</a:t>
                      </a:r>
                    </a:p>
                  </a:txBody>
                  <a:tcPr>
                    <a:solidFill>
                      <a:srgbClr val="E8F0FE"/>
                    </a:solidFill>
                  </a:tcPr>
                </a:tc>
                <a:tc>
                  <a:txBody>
                    <a:bodyPr/>
                    <a:lstStyle/>
                    <a:p>
                      <a:pPr algn="ctr"/>
                      <a:r>
                        <a:rPr sz="950" b="0">
                          <a:solidFill>
                            <a:srgbClr val="202020"/>
                          </a:solidFill>
                        </a:rPr>
                        <a:t>90.7%</a:t>
                      </a:r>
                    </a:p>
                  </a:txBody>
                  <a:tcPr>
                    <a:solidFill>
                      <a:srgbClr val="E8F0FE"/>
                    </a:solidFill>
                  </a:tcPr>
                </a:tc>
                <a:tc>
                  <a:txBody>
                    <a:bodyPr/>
                    <a:lstStyle/>
                    <a:p>
                      <a:pPr algn="ctr"/>
                      <a:r>
                        <a:rPr sz="950" b="0">
                          <a:solidFill>
                            <a:srgbClr val="202020"/>
                          </a:solidFill>
                        </a:rPr>
                        <a:t>0.239</a:t>
                      </a:r>
                    </a:p>
                  </a:txBody>
                  <a:tcPr>
                    <a:solidFill>
                      <a:srgbClr val="E8F0FE"/>
                    </a:solidFill>
                  </a:tcPr>
                </a:tc>
                <a:tc>
                  <a:txBody>
                    <a:bodyPr/>
                    <a:lstStyle/>
                    <a:p>
                      <a:pPr algn="ctr"/>
                      <a:r>
                        <a:rPr sz="950" b="0">
                          <a:solidFill>
                            <a:srgbClr val="202020"/>
                          </a:solidFill>
                        </a:rPr>
                        <a:t>0.903</a:t>
                      </a:r>
                    </a:p>
                  </a:txBody>
                  <a:tcPr>
                    <a:solidFill>
                      <a:srgbClr val="E8F0FE"/>
                    </a:solidFill>
                  </a:tcPr>
                </a:tc>
              </a:tr>
              <a:tr h="267288">
                <a:tc>
                  <a:txBody>
                    <a:bodyPr/>
                    <a:lstStyle/>
                    <a:p>
                      <a:pPr algn="l"/>
                      <a:r>
                        <a:rPr sz="950" b="1">
                          <a:solidFill>
                            <a:srgbClr val="202020"/>
                          </a:solidFill>
                        </a:rPr>
                        <a:t>12</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84.2%</a:t>
                      </a:r>
                    </a:p>
                  </a:txBody>
                  <a:tcPr>
                    <a:solidFill>
                      <a:srgbClr val="FFFFFF"/>
                    </a:solidFill>
                  </a:tcPr>
                </a:tc>
                <a:tc>
                  <a:txBody>
                    <a:bodyPr/>
                    <a:lstStyle/>
                    <a:p>
                      <a:pPr algn="ctr"/>
                      <a:r>
                        <a:rPr sz="950" b="0">
                          <a:solidFill>
                            <a:srgbClr val="202020"/>
                          </a:solidFill>
                        </a:rPr>
                        <a:t>0.245</a:t>
                      </a:r>
                    </a:p>
                  </a:txBody>
                  <a:tcPr>
                    <a:solidFill>
                      <a:srgbClr val="FFFFFF"/>
                    </a:solidFill>
                  </a:tcPr>
                </a:tc>
                <a:tc>
                  <a:txBody>
                    <a:bodyPr/>
                    <a:lstStyle/>
                    <a:p>
                      <a:pPr algn="ctr"/>
                      <a:r>
                        <a:rPr sz="950" b="0">
                          <a:solidFill>
                            <a:srgbClr val="202020"/>
                          </a:solidFill>
                        </a:rPr>
                        <a:t>0.872</a:t>
                      </a:r>
                    </a:p>
                  </a:txBody>
                  <a:tcPr>
                    <a:solidFill>
                      <a:srgbClr val="FFFFFF"/>
                    </a:solidFill>
                  </a:tcPr>
                </a:tc>
              </a:tr>
            </a:tbl>
          </a:graphicData>
        </a:graphic>
      </p:graphicFrame>
      <p:sp>
        <p:nvSpPr>
          <p:cNvPr id="4" name="TextBox 3"/>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Late Fusion B3 (Macro F1: 0.394) | +125% dari 7-class (0.175)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Transfer Learning Front-Only (ResNet18)</a:t>
            </a:r>
          </a:p>
        </p:txBody>
      </p:sp>
      <p:sp>
        <p:nvSpPr>
          <p:cNvPr id="3" name="TextBox 2"/>
          <p:cNvSpPr txBox="1"/>
          <p:nvPr/>
        </p:nvSpPr>
        <p:spPr>
          <a:xfrm>
            <a:off x="274320" y="685800"/>
            <a:ext cx="8595360" cy="274320"/>
          </a:xfrm>
          <a:prstGeom prst="rect">
            <a:avLst/>
          </a:prstGeom>
          <a:noFill/>
        </p:spPr>
        <p:txBody>
          <a:bodyPr wrap="none">
            <a:spAutoFit/>
          </a:bodyPr>
          <a:lstStyle/>
          <a:p>
            <a:pPr algn="l"/>
            <a:r>
              <a:rPr sz="1100" b="1" i="0">
                <a:solidFill>
                  <a:srgbClr val="202020"/>
                </a:solidFill>
              </a:rPr>
              <a:t>7-Class TL: Best per Model</a:t>
            </a:r>
          </a:p>
        </p:txBody>
      </p:sp>
      <p:graphicFrame>
        <p:nvGraphicFramePr>
          <p:cNvPr id="4" name="Table 3"/>
          <p:cNvGraphicFramePr>
            <a:graphicFrameLocks noGrp="1"/>
          </p:cNvGraphicFramePr>
          <p:nvPr/>
        </p:nvGraphicFramePr>
        <p:xfrm>
          <a:off x="274320" y="1005840"/>
          <a:ext cx="8595360" cy="1371600"/>
        </p:xfrm>
        <a:graphic>
          <a:graphicData uri="http://schemas.openxmlformats.org/drawingml/2006/table">
            <a:tbl>
              <a:tblPr firstRow="1" bandRow="1"/>
              <a:tblGrid>
                <a:gridCol w="2011680"/>
                <a:gridCol w="2194560"/>
                <a:gridCol w="2194560"/>
                <a:gridCol w="2194560"/>
              </a:tblGrid>
              <a:tr h="274320">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From Scratch (Best)</a:t>
                      </a:r>
                    </a:p>
                  </a:txBody>
                  <a:tcPr>
                    <a:solidFill>
                      <a:srgbClr val="1A73E8"/>
                    </a:solidFill>
                  </a:tcPr>
                </a:tc>
                <a:tc>
                  <a:txBody>
                    <a:bodyPr/>
                    <a:lstStyle/>
                    <a:p>
                      <a:pPr algn="ctr"/>
                      <a:r>
                        <a:rPr sz="950" b="1">
                          <a:solidFill>
                            <a:srgbClr val="FFFFFF"/>
                          </a:solidFill>
                        </a:rPr>
                        <a:t>Transfer Learning (Best)</a:t>
                      </a:r>
                    </a:p>
                  </a:txBody>
                  <a:tcPr>
                    <a:solidFill>
                      <a:srgbClr val="1A73E8"/>
                    </a:solidFill>
                  </a:tcPr>
                </a:tc>
                <a:tc>
                  <a:txBody>
                    <a:bodyPr/>
                    <a:lstStyle/>
                    <a:p>
                      <a:pPr algn="ctr"/>
                      <a:r>
                        <a:rPr sz="950" b="1">
                          <a:solidFill>
                            <a:srgbClr val="FFFFFF"/>
                          </a:solidFill>
                        </a:rPr>
                        <a:t>Peningkatan</a:t>
                      </a:r>
                    </a:p>
                  </a:txBody>
                  <a:tcPr>
                    <a:solidFill>
                      <a:srgbClr val="1A73E8"/>
                    </a:solidFill>
                  </a:tcPr>
                </a:tc>
              </a:tr>
              <a:tr h="274320">
                <a:tc>
                  <a:txBody>
                    <a:bodyPr/>
                    <a:lstStyle/>
                    <a:p>
                      <a:pPr algn="l"/>
                      <a:r>
                        <a:rPr sz="950" b="1">
                          <a:solidFill>
                            <a:srgbClr val="202020"/>
                          </a:solidFill>
                        </a:rPr>
                        <a:t>CNN</a:t>
                      </a:r>
                    </a:p>
                  </a:txBody>
                  <a:tcPr>
                    <a:solidFill>
                      <a:srgbClr val="E8F0FE"/>
                    </a:solidFill>
                  </a:tcPr>
                </a:tc>
                <a:tc>
                  <a:txBody>
                    <a:bodyPr/>
                    <a:lstStyle/>
                    <a:p>
                      <a:pPr algn="l"/>
                      <a:r>
                        <a:rPr sz="950" b="0">
                          <a:solidFill>
                            <a:srgbClr val="202020"/>
                          </a:solidFill>
                        </a:rPr>
                        <a:t>0.137 (B1)</a:t>
                      </a:r>
                    </a:p>
                  </a:txBody>
                  <a:tcPr>
                    <a:solidFill>
                      <a:srgbClr val="E8F0FE"/>
                    </a:solidFill>
                  </a:tcPr>
                </a:tc>
                <a:tc>
                  <a:txBody>
                    <a:bodyPr/>
                    <a:lstStyle/>
                    <a:p>
                      <a:pPr algn="ctr"/>
                      <a:r>
                        <a:rPr sz="950" b="0">
                          <a:solidFill>
                            <a:srgbClr val="202020"/>
                          </a:solidFill>
                        </a:rPr>
                        <a:t>0.154 (B1)</a:t>
                      </a:r>
                    </a:p>
                  </a:txBody>
                  <a:tcPr>
                    <a:solidFill>
                      <a:srgbClr val="E8F0FE"/>
                    </a:solidFill>
                  </a:tcPr>
                </a:tc>
                <a:tc>
                  <a:txBody>
                    <a:bodyPr/>
                    <a:lstStyle/>
                    <a:p>
                      <a:pPr algn="ctr"/>
                      <a:r>
                        <a:rPr sz="950" b="0">
                          <a:solidFill>
                            <a:srgbClr val="202020"/>
                          </a:solidFill>
                        </a:rPr>
                        <a:t>+12%</a:t>
                      </a:r>
                    </a:p>
                  </a:txBody>
                  <a:tcPr>
                    <a:solidFill>
                      <a:srgbClr val="E8F0FE"/>
                    </a:solidFill>
                  </a:tcPr>
                </a:tc>
              </a:tr>
              <a:tr h="274320">
                <a:tc>
                  <a:txBody>
                    <a:bodyPr/>
                    <a:lstStyle/>
                    <a:p>
                      <a:pPr algn="l"/>
                      <a:r>
                        <a:rPr sz="950" b="1">
                          <a:solidFill>
                            <a:srgbClr val="202020"/>
                          </a:solidFill>
                        </a:rPr>
                        <a:t>FCNN</a:t>
                      </a:r>
                    </a:p>
                  </a:txBody>
                  <a:tcPr>
                    <a:solidFill>
                      <a:srgbClr val="FFFFFF"/>
                    </a:solidFill>
                  </a:tcPr>
                </a:tc>
                <a:tc>
                  <a:txBody>
                    <a:bodyPr/>
                    <a:lstStyle/>
                    <a:p>
                      <a:pPr algn="l"/>
                      <a:r>
                        <a:rPr sz="950" b="0">
                          <a:solidFill>
                            <a:srgbClr val="202020"/>
                          </a:solidFill>
                        </a:rPr>
                        <a:t>0.158 (B1)</a:t>
                      </a:r>
                    </a:p>
                  </a:txBody>
                  <a:tcPr>
                    <a:solidFill>
                      <a:srgbClr val="FFFFFF"/>
                    </a:solidFill>
                  </a:tcPr>
                </a:tc>
                <a:tc>
                  <a:txBody>
                    <a:bodyPr/>
                    <a:lstStyle/>
                    <a:p>
                      <a:pPr algn="ctr"/>
                      <a:r>
                        <a:rPr sz="950" b="0">
                          <a:solidFill>
                            <a:srgbClr val="202020"/>
                          </a:solidFill>
                        </a:rPr>
                        <a:t>0.158 (B1)</a:t>
                      </a:r>
                    </a:p>
                  </a:txBody>
                  <a:tcPr>
                    <a:solidFill>
                      <a:srgbClr val="FFFFFF"/>
                    </a:solidFill>
                  </a:tcPr>
                </a:tc>
                <a:tc>
                  <a:txBody>
                    <a:bodyPr/>
                    <a:lstStyle/>
                    <a:p>
                      <a:pPr algn="ctr"/>
                      <a:r>
                        <a:rPr sz="950" b="0">
                          <a:solidFill>
                            <a:srgbClr val="202020"/>
                          </a:solidFill>
                        </a:rPr>
                        <a:t>- (sama)</a:t>
                      </a:r>
                    </a:p>
                  </a:txBody>
                  <a:tcPr>
                    <a:solidFill>
                      <a:srgbClr val="FFFFFF"/>
                    </a:solidFill>
                  </a:tcPr>
                </a:tc>
              </a:tr>
              <a:tr h="274320">
                <a:tc>
                  <a:txBody>
                    <a:bodyPr/>
                    <a:lstStyle/>
                    <a:p>
                      <a:pPr algn="l"/>
                      <a:r>
                        <a:rPr sz="950" b="1">
                          <a:solidFill>
                            <a:srgbClr val="202020"/>
                          </a:solidFill>
                        </a:rPr>
                        <a:t>Late Fusion</a:t>
                      </a:r>
                    </a:p>
                  </a:txBody>
                  <a:tcPr>
                    <a:solidFill>
                      <a:srgbClr val="E8F0FE"/>
                    </a:solidFill>
                  </a:tcPr>
                </a:tc>
                <a:tc>
                  <a:txBody>
                    <a:bodyPr/>
                    <a:lstStyle/>
                    <a:p>
                      <a:pPr algn="l"/>
                      <a:r>
                        <a:rPr sz="950" b="0">
                          <a:solidFill>
                            <a:srgbClr val="202020"/>
                          </a:solidFill>
                        </a:rPr>
                        <a:t>0.175 (B3)</a:t>
                      </a:r>
                    </a:p>
                  </a:txBody>
                  <a:tcPr>
                    <a:solidFill>
                      <a:srgbClr val="E8F0FE"/>
                    </a:solidFill>
                  </a:tcPr>
                </a:tc>
                <a:tc>
                  <a:txBody>
                    <a:bodyPr/>
                    <a:lstStyle/>
                    <a:p>
                      <a:pPr algn="ctr"/>
                      <a:r>
                        <a:rPr sz="950" b="0">
                          <a:solidFill>
                            <a:srgbClr val="202020"/>
                          </a:solidFill>
                        </a:rPr>
                        <a:t>0.167 (B1)</a:t>
                      </a:r>
                    </a:p>
                  </a:txBody>
                  <a:tcPr>
                    <a:solidFill>
                      <a:srgbClr val="E8F0FE"/>
                    </a:solidFill>
                  </a:tcPr>
                </a:tc>
                <a:tc>
                  <a:txBody>
                    <a:bodyPr/>
                    <a:lstStyle/>
                    <a:p>
                      <a:pPr algn="ctr"/>
                      <a:r>
                        <a:rPr sz="950" b="0">
                          <a:solidFill>
                            <a:srgbClr val="202020"/>
                          </a:solidFill>
                        </a:rPr>
                        <a:t>-5%</a:t>
                      </a:r>
                    </a:p>
                  </a:txBody>
                  <a:tcPr>
                    <a:solidFill>
                      <a:srgbClr val="E8F0FE"/>
                    </a:solidFill>
                  </a:tcPr>
                </a:tc>
              </a:tr>
              <a:tr h="274320">
                <a:tc>
                  <a:txBody>
                    <a:bodyPr/>
                    <a:lstStyle/>
                    <a:p>
                      <a:pPr algn="l"/>
                      <a:r>
                        <a:rPr sz="950" b="1">
                          <a:solidFill>
                            <a:srgbClr val="202020"/>
                          </a:solidFill>
                        </a:rPr>
                        <a:t>Intermediate</a:t>
                      </a:r>
                    </a:p>
                  </a:txBody>
                  <a:tcPr>
                    <a:solidFill>
                      <a:srgbClr val="C6EFCE"/>
                    </a:solidFill>
                  </a:tcPr>
                </a:tc>
                <a:tc>
                  <a:txBody>
                    <a:bodyPr/>
                    <a:lstStyle/>
                    <a:p>
                      <a:pPr algn="l"/>
                      <a:r>
                        <a:rPr sz="950" b="1">
                          <a:solidFill>
                            <a:srgbClr val="202020"/>
                          </a:solidFill>
                        </a:rPr>
                        <a:t>0.137 (B1)</a:t>
                      </a:r>
                    </a:p>
                  </a:txBody>
                  <a:tcPr>
                    <a:solidFill>
                      <a:srgbClr val="C6EFCE"/>
                    </a:solidFill>
                  </a:tcPr>
                </a:tc>
                <a:tc>
                  <a:txBody>
                    <a:bodyPr/>
                    <a:lstStyle/>
                    <a:p>
                      <a:pPr algn="ctr"/>
                      <a:r>
                        <a:rPr sz="950" b="1">
                          <a:solidFill>
                            <a:srgbClr val="202020"/>
                          </a:solidFill>
                        </a:rPr>
                        <a:t>0.180 (B3)</a:t>
                      </a:r>
                    </a:p>
                  </a:txBody>
                  <a:tcPr>
                    <a:solidFill>
                      <a:srgbClr val="C6EFCE"/>
                    </a:solidFill>
                  </a:tcPr>
                </a:tc>
                <a:tc>
                  <a:txBody>
                    <a:bodyPr/>
                    <a:lstStyle/>
                    <a:p>
                      <a:pPr algn="ctr"/>
                      <a:r>
                        <a:rPr sz="950" b="1">
                          <a:solidFill>
                            <a:srgbClr val="202020"/>
                          </a:solidFill>
                        </a:rPr>
                        <a:t>+31%</a:t>
                      </a:r>
                    </a:p>
                  </a:txBody>
                  <a:tcPr>
                    <a:solidFill>
                      <a:srgbClr val="C6EFCE"/>
                    </a:solidFill>
                  </a:tcPr>
                </a:tc>
              </a:tr>
            </a:tbl>
          </a:graphicData>
        </a:graphic>
      </p:graphicFrame>
      <p:sp>
        <p:nvSpPr>
          <p:cNvPr id="5" name="TextBox 4"/>
          <p:cNvSpPr txBox="1"/>
          <p:nvPr/>
        </p:nvSpPr>
        <p:spPr>
          <a:xfrm>
            <a:off x="274320" y="2514600"/>
            <a:ext cx="8595360" cy="274320"/>
          </a:xfrm>
          <a:prstGeom prst="rect">
            <a:avLst/>
          </a:prstGeom>
          <a:noFill/>
        </p:spPr>
        <p:txBody>
          <a:bodyPr wrap="none">
            <a:spAutoFit/>
          </a:bodyPr>
          <a:lstStyle/>
          <a:p>
            <a:pPr algn="l"/>
            <a:r>
              <a:rPr sz="1100" b="1" i="0">
                <a:solidFill>
                  <a:srgbClr val="202020"/>
                </a:solidFill>
              </a:rPr>
              <a:t>4-Class TL: Best per Model</a:t>
            </a:r>
          </a:p>
        </p:txBody>
      </p:sp>
      <p:graphicFrame>
        <p:nvGraphicFramePr>
          <p:cNvPr id="6" name="Table 5"/>
          <p:cNvGraphicFramePr>
            <a:graphicFrameLocks noGrp="1"/>
          </p:cNvGraphicFramePr>
          <p:nvPr/>
        </p:nvGraphicFramePr>
        <p:xfrm>
          <a:off x="274320" y="2834640"/>
          <a:ext cx="8595360" cy="1371600"/>
        </p:xfrm>
        <a:graphic>
          <a:graphicData uri="http://schemas.openxmlformats.org/drawingml/2006/table">
            <a:tbl>
              <a:tblPr firstRow="1" bandRow="1"/>
              <a:tblGrid>
                <a:gridCol w="2011680"/>
                <a:gridCol w="2194560"/>
                <a:gridCol w="2194560"/>
                <a:gridCol w="2194560"/>
              </a:tblGrid>
              <a:tr h="274320">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From Scratch (Best)</a:t>
                      </a:r>
                    </a:p>
                  </a:txBody>
                  <a:tcPr>
                    <a:solidFill>
                      <a:srgbClr val="1A73E8"/>
                    </a:solidFill>
                  </a:tcPr>
                </a:tc>
                <a:tc>
                  <a:txBody>
                    <a:bodyPr/>
                    <a:lstStyle/>
                    <a:p>
                      <a:pPr algn="ctr"/>
                      <a:r>
                        <a:rPr sz="950" b="1">
                          <a:solidFill>
                            <a:srgbClr val="FFFFFF"/>
                          </a:solidFill>
                        </a:rPr>
                        <a:t>Transfer Learning (Best)</a:t>
                      </a:r>
                    </a:p>
                  </a:txBody>
                  <a:tcPr>
                    <a:solidFill>
                      <a:srgbClr val="1A73E8"/>
                    </a:solidFill>
                  </a:tcPr>
                </a:tc>
                <a:tc>
                  <a:txBody>
                    <a:bodyPr/>
                    <a:lstStyle/>
                    <a:p>
                      <a:pPr algn="ctr"/>
                      <a:r>
                        <a:rPr sz="950" b="1">
                          <a:solidFill>
                            <a:srgbClr val="FFFFFF"/>
                          </a:solidFill>
                        </a:rPr>
                        <a:t>Peningkatan</a:t>
                      </a:r>
                    </a:p>
                  </a:txBody>
                  <a:tcPr>
                    <a:solidFill>
                      <a:srgbClr val="1A73E8"/>
                    </a:solidFill>
                  </a:tcPr>
                </a:tc>
              </a:tr>
              <a:tr h="274320">
                <a:tc>
                  <a:txBody>
                    <a:bodyPr/>
                    <a:lstStyle/>
                    <a:p>
                      <a:pPr algn="l"/>
                      <a:r>
                        <a:rPr sz="950" b="1">
                          <a:solidFill>
                            <a:srgbClr val="202020"/>
                          </a:solidFill>
                        </a:rPr>
                        <a:t>CNN</a:t>
                      </a:r>
                    </a:p>
                  </a:txBody>
                  <a:tcPr>
                    <a:solidFill>
                      <a:srgbClr val="E8F0FE"/>
                    </a:solidFill>
                  </a:tcPr>
                </a:tc>
                <a:tc>
                  <a:txBody>
                    <a:bodyPr/>
                    <a:lstStyle/>
                    <a:p>
                      <a:pPr algn="l"/>
                      <a:r>
                        <a:rPr sz="950" b="0">
                          <a:solidFill>
                            <a:srgbClr val="202020"/>
                          </a:solidFill>
                        </a:rPr>
                        <a:t>0.265 (B3)</a:t>
                      </a:r>
                    </a:p>
                  </a:txBody>
                  <a:tcPr>
                    <a:solidFill>
                      <a:srgbClr val="E8F0FE"/>
                    </a:solidFill>
                  </a:tcPr>
                </a:tc>
                <a:tc>
                  <a:txBody>
                    <a:bodyPr/>
                    <a:lstStyle/>
                    <a:p>
                      <a:pPr algn="ctr"/>
                      <a:r>
                        <a:rPr sz="950" b="0">
                          <a:solidFill>
                            <a:srgbClr val="202020"/>
                          </a:solidFill>
                        </a:rPr>
                        <a:t>0.274 (B1)</a:t>
                      </a:r>
                    </a:p>
                  </a:txBody>
                  <a:tcPr>
                    <a:solidFill>
                      <a:srgbClr val="E8F0FE"/>
                    </a:solidFill>
                  </a:tcPr>
                </a:tc>
                <a:tc>
                  <a:txBody>
                    <a:bodyPr/>
                    <a:lstStyle/>
                    <a:p>
                      <a:pPr algn="ctr"/>
                      <a:r>
                        <a:rPr sz="950" b="0">
                          <a:solidFill>
                            <a:srgbClr val="202020"/>
                          </a:solidFill>
                        </a:rPr>
                        <a:t>+3%</a:t>
                      </a:r>
                    </a:p>
                  </a:txBody>
                  <a:tcPr>
                    <a:solidFill>
                      <a:srgbClr val="E8F0FE"/>
                    </a:solidFill>
                  </a:tcPr>
                </a:tc>
              </a:tr>
              <a:tr h="274320">
                <a:tc>
                  <a:txBody>
                    <a:bodyPr/>
                    <a:lstStyle/>
                    <a:p>
                      <a:pPr algn="l"/>
                      <a:r>
                        <a:rPr sz="950" b="1">
                          <a:solidFill>
                            <a:srgbClr val="202020"/>
                          </a:solidFill>
                        </a:rPr>
                        <a:t>FCNN</a:t>
                      </a:r>
                    </a:p>
                  </a:txBody>
                  <a:tcPr>
                    <a:solidFill>
                      <a:srgbClr val="FFFFFF"/>
                    </a:solidFill>
                  </a:tcPr>
                </a:tc>
                <a:tc>
                  <a:txBody>
                    <a:bodyPr/>
                    <a:lstStyle/>
                    <a:p>
                      <a:pPr algn="l"/>
                      <a:r>
                        <a:rPr sz="950" b="0">
                          <a:solidFill>
                            <a:srgbClr val="202020"/>
                          </a:solidFill>
                        </a:rPr>
                        <a:t>0.361 (B3)</a:t>
                      </a:r>
                    </a:p>
                  </a:txBody>
                  <a:tcPr>
                    <a:solidFill>
                      <a:srgbClr val="FFFFFF"/>
                    </a:solidFill>
                  </a:tcPr>
                </a:tc>
                <a:tc>
                  <a:txBody>
                    <a:bodyPr/>
                    <a:lstStyle/>
                    <a:p>
                      <a:pPr algn="ctr"/>
                      <a:r>
                        <a:rPr sz="950" b="0">
                          <a:solidFill>
                            <a:srgbClr val="202020"/>
                          </a:solidFill>
                        </a:rPr>
                        <a:t>0.361 (B3)</a:t>
                      </a:r>
                    </a:p>
                  </a:txBody>
                  <a:tcPr>
                    <a:solidFill>
                      <a:srgbClr val="FFFFFF"/>
                    </a:solidFill>
                  </a:tcPr>
                </a:tc>
                <a:tc>
                  <a:txBody>
                    <a:bodyPr/>
                    <a:lstStyle/>
                    <a:p>
                      <a:pPr algn="ctr"/>
                      <a:r>
                        <a:rPr sz="950" b="0">
                          <a:solidFill>
                            <a:srgbClr val="202020"/>
                          </a:solidFill>
                        </a:rPr>
                        <a:t>- (sama)</a:t>
                      </a:r>
                    </a:p>
                  </a:txBody>
                  <a:tcPr>
                    <a:solidFill>
                      <a:srgbClr val="FFFFFF"/>
                    </a:solidFill>
                  </a:tcPr>
                </a:tc>
              </a:tr>
              <a:tr h="274320">
                <a:tc>
                  <a:txBody>
                    <a:bodyPr/>
                    <a:lstStyle/>
                    <a:p>
                      <a:pPr algn="l"/>
                      <a:r>
                        <a:rPr sz="950" b="1">
                          <a:solidFill>
                            <a:srgbClr val="202020"/>
                          </a:solidFill>
                        </a:rPr>
                        <a:t>Late Fusion</a:t>
                      </a:r>
                    </a:p>
                  </a:txBody>
                  <a:tcPr>
                    <a:solidFill>
                      <a:srgbClr val="E8F0FE"/>
                    </a:solidFill>
                  </a:tcPr>
                </a:tc>
                <a:tc>
                  <a:txBody>
                    <a:bodyPr/>
                    <a:lstStyle/>
                    <a:p>
                      <a:pPr algn="l"/>
                      <a:r>
                        <a:rPr sz="950" b="0">
                          <a:solidFill>
                            <a:srgbClr val="202020"/>
                          </a:solidFill>
                        </a:rPr>
                        <a:t>0.394 (B3)</a:t>
                      </a:r>
                    </a:p>
                  </a:txBody>
                  <a:tcPr>
                    <a:solidFill>
                      <a:srgbClr val="E8F0FE"/>
                    </a:solidFill>
                  </a:tcPr>
                </a:tc>
                <a:tc>
                  <a:txBody>
                    <a:bodyPr/>
                    <a:lstStyle/>
                    <a:p>
                      <a:pPr algn="ctr"/>
                      <a:r>
                        <a:rPr sz="950" b="0">
                          <a:solidFill>
                            <a:srgbClr val="202020"/>
                          </a:solidFill>
                        </a:rPr>
                        <a:t>0.372 (B3)</a:t>
                      </a:r>
                    </a:p>
                  </a:txBody>
                  <a:tcPr>
                    <a:solidFill>
                      <a:srgbClr val="E8F0FE"/>
                    </a:solidFill>
                  </a:tcPr>
                </a:tc>
                <a:tc>
                  <a:txBody>
                    <a:bodyPr/>
                    <a:lstStyle/>
                    <a:p>
                      <a:pPr algn="ctr"/>
                      <a:r>
                        <a:rPr sz="950" b="0">
                          <a:solidFill>
                            <a:srgbClr val="202020"/>
                          </a:solidFill>
                        </a:rPr>
                        <a:t>-6%</a:t>
                      </a:r>
                    </a:p>
                  </a:txBody>
                  <a:tcPr>
                    <a:solidFill>
                      <a:srgbClr val="E8F0FE"/>
                    </a:solidFill>
                  </a:tcPr>
                </a:tc>
              </a:tr>
              <a:tr h="274320">
                <a:tc>
                  <a:txBody>
                    <a:bodyPr/>
                    <a:lstStyle/>
                    <a:p>
                      <a:pPr algn="l"/>
                      <a:r>
                        <a:rPr sz="950" b="1">
                          <a:solidFill>
                            <a:srgbClr val="202020"/>
                          </a:solidFill>
                        </a:rPr>
                        <a:t>Intermediate</a:t>
                      </a:r>
                    </a:p>
                  </a:txBody>
                  <a:tcPr>
                    <a:solidFill>
                      <a:srgbClr val="C6EFCE"/>
                    </a:solidFill>
                  </a:tcPr>
                </a:tc>
                <a:tc>
                  <a:txBody>
                    <a:bodyPr/>
                    <a:lstStyle/>
                    <a:p>
                      <a:pPr algn="l"/>
                      <a:r>
                        <a:rPr sz="950" b="1">
                          <a:solidFill>
                            <a:srgbClr val="202020"/>
                          </a:solidFill>
                        </a:rPr>
                        <a:t>0.269 (B2)</a:t>
                      </a:r>
                    </a:p>
                  </a:txBody>
                  <a:tcPr>
                    <a:solidFill>
                      <a:srgbClr val="C6EFCE"/>
                    </a:solidFill>
                  </a:tcPr>
                </a:tc>
                <a:tc>
                  <a:txBody>
                    <a:bodyPr/>
                    <a:lstStyle/>
                    <a:p>
                      <a:pPr algn="ctr"/>
                      <a:r>
                        <a:rPr sz="950" b="1">
                          <a:solidFill>
                            <a:srgbClr val="202020"/>
                          </a:solidFill>
                        </a:rPr>
                        <a:t>0.412 (B1)</a:t>
                      </a:r>
                    </a:p>
                  </a:txBody>
                  <a:tcPr>
                    <a:solidFill>
                      <a:srgbClr val="C6EFCE"/>
                    </a:solidFill>
                  </a:tcPr>
                </a:tc>
                <a:tc>
                  <a:txBody>
                    <a:bodyPr/>
                    <a:lstStyle/>
                    <a:p>
                      <a:pPr algn="ctr"/>
                      <a:r>
                        <a:rPr sz="950" b="1">
                          <a:solidFill>
                            <a:srgbClr val="202020"/>
                          </a:solidFill>
                        </a:rPr>
                        <a:t>+53%</a:t>
                      </a:r>
                    </a:p>
                  </a:txBody>
                  <a:tcPr>
                    <a:solidFill>
                      <a:srgbClr val="C6EFCE"/>
                    </a:solidFill>
                  </a:tcPr>
                </a:tc>
              </a:tr>
            </a:tbl>
          </a:graphicData>
        </a:graphic>
      </p:graphicFrame>
      <p:sp>
        <p:nvSpPr>
          <p:cNvPr id="7" name="TextBox 6"/>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Overall: Intermediate Fusion TL 4-class B1 (Macro F1: 0.412)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Perbandingan Front-Only vs Front+Side</a:t>
            </a:r>
          </a:p>
        </p:txBody>
      </p:sp>
      <p:graphicFrame>
        <p:nvGraphicFramePr>
          <p:cNvPr id="3" name="Table 2"/>
          <p:cNvGraphicFramePr>
            <a:graphicFrameLocks noGrp="1"/>
          </p:cNvGraphicFramePr>
          <p:nvPr/>
        </p:nvGraphicFramePr>
        <p:xfrm>
          <a:off x="274320" y="731520"/>
          <a:ext cx="8595360" cy="1463040"/>
        </p:xfrm>
        <a:graphic>
          <a:graphicData uri="http://schemas.openxmlformats.org/drawingml/2006/table">
            <a:tbl>
              <a:tblPr firstRow="1" bandRow="1"/>
              <a:tblGrid>
                <a:gridCol w="1828800"/>
                <a:gridCol w="2560320"/>
                <a:gridCol w="2560320"/>
                <a:gridCol w="1645920"/>
              </a:tblGrid>
              <a:tr h="292608">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Front-Only (F1)</a:t>
                      </a:r>
                    </a:p>
                  </a:txBody>
                  <a:tcPr>
                    <a:solidFill>
                      <a:srgbClr val="1A73E8"/>
                    </a:solidFill>
                  </a:tcPr>
                </a:tc>
                <a:tc>
                  <a:txBody>
                    <a:bodyPr/>
                    <a:lstStyle/>
                    <a:p>
                      <a:pPr algn="ctr"/>
                      <a:r>
                        <a:rPr sz="1000" b="1">
                          <a:solidFill>
                            <a:srgbClr val="FFFFFF"/>
                          </a:solidFill>
                        </a:rPr>
                        <a:t>Front+Side (F1)</a:t>
                      </a:r>
                    </a:p>
                  </a:txBody>
                  <a:tcPr>
                    <a:solidFill>
                      <a:srgbClr val="1A73E8"/>
                    </a:solidFill>
                  </a:tcPr>
                </a:tc>
                <a:tc>
                  <a:txBody>
                    <a:bodyPr/>
                    <a:lstStyle/>
                    <a:p>
                      <a:pPr algn="ctr"/>
                      <a:r>
                        <a:rPr sz="1000" b="1">
                          <a:solidFill>
                            <a:srgbClr val="FFFFFF"/>
                          </a:solidFill>
                        </a:rPr>
                        <a:t>Selisih</a:t>
                      </a:r>
                    </a:p>
                  </a:txBody>
                  <a:tcPr>
                    <a:solidFill>
                      <a:srgbClr val="1A73E8"/>
                    </a:solidFill>
                  </a:tcPr>
                </a:tc>
              </a:tr>
              <a:tr h="292608">
                <a:tc>
                  <a:txBody>
                    <a:bodyPr/>
                    <a:lstStyle/>
                    <a:p>
                      <a:pPr algn="l"/>
                      <a:r>
                        <a:rPr sz="1000" b="1">
                          <a:solidFill>
                            <a:srgbClr val="202020"/>
                          </a:solidFill>
                        </a:rPr>
                        <a:t>7-class scratch</a:t>
                      </a:r>
                    </a:p>
                  </a:txBody>
                  <a:tcPr>
                    <a:solidFill>
                      <a:srgbClr val="E8F0FE"/>
                    </a:solidFill>
                  </a:tcPr>
                </a:tc>
                <a:tc>
                  <a:txBody>
                    <a:bodyPr/>
                    <a:lstStyle/>
                    <a:p>
                      <a:pPr algn="l"/>
                      <a:r>
                        <a:rPr sz="1000" b="0">
                          <a:solidFill>
                            <a:srgbClr val="202020"/>
                          </a:solidFill>
                        </a:rPr>
                        <a:t>0.175 (Late Fusion B3)</a:t>
                      </a:r>
                    </a:p>
                  </a:txBody>
                  <a:tcPr>
                    <a:solidFill>
                      <a:srgbClr val="E8F0FE"/>
                    </a:solidFill>
                  </a:tcPr>
                </a:tc>
                <a:tc>
                  <a:txBody>
                    <a:bodyPr/>
                    <a:lstStyle/>
                    <a:p>
                      <a:pPr algn="ctr"/>
                      <a:r>
                        <a:rPr sz="1000" b="0">
                          <a:solidFill>
                            <a:srgbClr val="202020"/>
                          </a:solidFill>
                        </a:rPr>
                        <a:t>0.234 (FCNN B1)</a:t>
                      </a:r>
                    </a:p>
                  </a:txBody>
                  <a:tcPr>
                    <a:solidFill>
                      <a:srgbClr val="E8F0FE"/>
                    </a:solidFill>
                  </a:tcPr>
                </a:tc>
                <a:tc>
                  <a:txBody>
                    <a:bodyPr/>
                    <a:lstStyle/>
                    <a:p>
                      <a:pPr algn="ctr"/>
                      <a:r>
                        <a:rPr sz="1000" b="0">
                          <a:solidFill>
                            <a:srgbClr val="202020"/>
                          </a:solidFill>
                        </a:rPr>
                        <a:t>-0.060</a:t>
                      </a:r>
                    </a:p>
                  </a:txBody>
                  <a:tcPr>
                    <a:solidFill>
                      <a:srgbClr val="E8F0FE"/>
                    </a:solidFill>
                  </a:tcPr>
                </a:tc>
              </a:tr>
              <a:tr h="292608">
                <a:tc>
                  <a:txBody>
                    <a:bodyPr/>
                    <a:lstStyle/>
                    <a:p>
                      <a:pPr algn="l"/>
                      <a:r>
                        <a:rPr sz="1000" b="1">
                          <a:solidFill>
                            <a:srgbClr val="202020"/>
                          </a:solidFill>
                        </a:rPr>
                        <a:t>4-class scratch</a:t>
                      </a:r>
                    </a:p>
                  </a:txBody>
                  <a:tcPr>
                    <a:solidFill>
                      <a:srgbClr val="FFFFFF"/>
                    </a:solidFill>
                  </a:tcPr>
                </a:tc>
                <a:tc>
                  <a:txBody>
                    <a:bodyPr/>
                    <a:lstStyle/>
                    <a:p>
                      <a:pPr algn="l"/>
                      <a:r>
                        <a:rPr sz="1000" b="0">
                          <a:solidFill>
                            <a:srgbClr val="202020"/>
                          </a:solidFill>
                        </a:rPr>
                        <a:t>0.394 (Late Fusion B3)</a:t>
                      </a:r>
                    </a:p>
                  </a:txBody>
                  <a:tcPr>
                    <a:solidFill>
                      <a:srgbClr val="FFFFFF"/>
                    </a:solidFill>
                  </a:tcPr>
                </a:tc>
                <a:tc>
                  <a:txBody>
                    <a:bodyPr/>
                    <a:lstStyle/>
                    <a:p>
                      <a:pPr algn="ctr"/>
                      <a:r>
                        <a:rPr sz="1000" b="0">
                          <a:solidFill>
                            <a:srgbClr val="202020"/>
                          </a:solidFill>
                        </a:rPr>
                        <a:t>0.394 (FCNN B3)</a:t>
                      </a:r>
                    </a:p>
                  </a:txBody>
                  <a:tcPr>
                    <a:solidFill>
                      <a:srgbClr val="FFFFFF"/>
                    </a:solidFill>
                  </a:tcPr>
                </a:tc>
                <a:tc>
                  <a:txBody>
                    <a:bodyPr/>
                    <a:lstStyle/>
                    <a:p>
                      <a:pPr algn="ctr"/>
                      <a:r>
                        <a:rPr sz="1000" b="0">
                          <a:solidFill>
                            <a:srgbClr val="202020"/>
                          </a:solidFill>
                        </a:rPr>
                        <a:t>-0.001</a:t>
                      </a:r>
                    </a:p>
                  </a:txBody>
                  <a:tcPr>
                    <a:solidFill>
                      <a:srgbClr val="FFFFFF"/>
                    </a:solidFill>
                  </a:tcPr>
                </a:tc>
              </a:tr>
              <a:tr h="292608">
                <a:tc>
                  <a:txBody>
                    <a:bodyPr/>
                    <a:lstStyle/>
                    <a:p>
                      <a:pPr algn="l"/>
                      <a:r>
                        <a:rPr sz="1000" b="1">
                          <a:solidFill>
                            <a:srgbClr val="202020"/>
                          </a:solidFill>
                        </a:rPr>
                        <a:t>7-class TL</a:t>
                      </a:r>
                    </a:p>
                  </a:txBody>
                  <a:tcPr>
                    <a:solidFill>
                      <a:srgbClr val="E8F0FE"/>
                    </a:solidFill>
                  </a:tcPr>
                </a:tc>
                <a:tc>
                  <a:txBody>
                    <a:bodyPr/>
                    <a:lstStyle/>
                    <a:p>
                      <a:pPr algn="l"/>
                      <a:r>
                        <a:rPr sz="1000" b="0">
                          <a:solidFill>
                            <a:srgbClr val="202020"/>
                          </a:solidFill>
                        </a:rPr>
                        <a:t>0.180 (Intermediate TL B3)</a:t>
                      </a:r>
                    </a:p>
                  </a:txBody>
                  <a:tcPr>
                    <a:solidFill>
                      <a:srgbClr val="E8F0FE"/>
                    </a:solidFill>
                  </a:tcPr>
                </a:tc>
                <a:tc>
                  <a:txBody>
                    <a:bodyPr/>
                    <a:lstStyle/>
                    <a:p>
                      <a:pPr algn="ctr"/>
                      <a:r>
                        <a:rPr sz="1000" b="0">
                          <a:solidFill>
                            <a:srgbClr val="202020"/>
                          </a:solidFill>
                        </a:rPr>
                        <a:t>0.232 (Intermediate TL B1)</a:t>
                      </a:r>
                    </a:p>
                  </a:txBody>
                  <a:tcPr>
                    <a:solidFill>
                      <a:srgbClr val="E8F0FE"/>
                    </a:solidFill>
                  </a:tcPr>
                </a:tc>
                <a:tc>
                  <a:txBody>
                    <a:bodyPr/>
                    <a:lstStyle/>
                    <a:p>
                      <a:pPr algn="ctr"/>
                      <a:r>
                        <a:rPr sz="1000" b="0">
                          <a:solidFill>
                            <a:srgbClr val="202020"/>
                          </a:solidFill>
                        </a:rPr>
                        <a:t>-0.052</a:t>
                      </a:r>
                    </a:p>
                  </a:txBody>
                  <a:tcPr>
                    <a:solidFill>
                      <a:srgbClr val="E8F0FE"/>
                    </a:solidFill>
                  </a:tcPr>
                </a:tc>
              </a:tr>
              <a:tr h="292608">
                <a:tc>
                  <a:txBody>
                    <a:bodyPr/>
                    <a:lstStyle/>
                    <a:p>
                      <a:pPr algn="l"/>
                      <a:r>
                        <a:rPr sz="1000" b="1">
                          <a:solidFill>
                            <a:srgbClr val="202020"/>
                          </a:solidFill>
                        </a:rPr>
                        <a:t>4-class TL</a:t>
                      </a:r>
                    </a:p>
                  </a:txBody>
                  <a:tcPr>
                    <a:solidFill>
                      <a:srgbClr val="C6EFCE"/>
                    </a:solidFill>
                  </a:tcPr>
                </a:tc>
                <a:tc>
                  <a:txBody>
                    <a:bodyPr/>
                    <a:lstStyle/>
                    <a:p>
                      <a:pPr algn="l"/>
                      <a:r>
                        <a:rPr sz="1000" b="1">
                          <a:solidFill>
                            <a:srgbClr val="202020"/>
                          </a:solidFill>
                        </a:rPr>
                        <a:t>0.412 (Intermediate TL B1)</a:t>
                      </a:r>
                    </a:p>
                  </a:txBody>
                  <a:tcPr>
                    <a:solidFill>
                      <a:srgbClr val="C6EFCE"/>
                    </a:solidFill>
                  </a:tcPr>
                </a:tc>
                <a:tc>
                  <a:txBody>
                    <a:bodyPr/>
                    <a:lstStyle/>
                    <a:p>
                      <a:pPr algn="ctr"/>
                      <a:r>
                        <a:rPr sz="1000" b="1">
                          <a:solidFill>
                            <a:srgbClr val="202020"/>
                          </a:solidFill>
                        </a:rPr>
                        <a:t>0.407 (CNN TL B2)</a:t>
                      </a:r>
                    </a:p>
                  </a:txBody>
                  <a:tcPr>
                    <a:solidFill>
                      <a:srgbClr val="C6EFCE"/>
                    </a:solidFill>
                  </a:tcPr>
                </a:tc>
                <a:tc>
                  <a:txBody>
                    <a:bodyPr/>
                    <a:lstStyle/>
                    <a:p>
                      <a:pPr algn="ctr"/>
                      <a:r>
                        <a:rPr sz="1000" b="1">
                          <a:solidFill>
                            <a:srgbClr val="202020"/>
                          </a:solidFill>
                        </a:rPr>
                        <a:t>+0.005</a:t>
                      </a:r>
                    </a:p>
                  </a:txBody>
                  <a:tcPr>
                    <a:solidFill>
                      <a:srgbClr val="C6EFCE"/>
                    </a:solidFill>
                  </a:tcPr>
                </a:tc>
              </a:tr>
            </a:tbl>
          </a:graphicData>
        </a:graphic>
      </p:graphicFrame>
      <p:sp>
        <p:nvSpPr>
          <p:cNvPr id="4" name="TextBox 3"/>
          <p:cNvSpPr txBox="1"/>
          <p:nvPr/>
        </p:nvSpPr>
        <p:spPr>
          <a:xfrm>
            <a:off x="274320" y="2331720"/>
            <a:ext cx="4114800" cy="1463040"/>
          </a:xfrm>
          <a:prstGeom prst="rect">
            <a:avLst/>
          </a:prstGeom>
          <a:solidFill>
            <a:srgbClr val="E6F4EA"/>
          </a:solidFill>
        </p:spPr>
        <p:txBody>
          <a:bodyPr wrap="square">
            <a:spAutoFit/>
          </a:bodyPr>
          <a:lstStyle/>
          <a:p>
            <a:pPr algn="l"/>
            <a:r>
              <a:rPr sz="1000" b="1" i="0">
                <a:solidFill>
                  <a:srgbClr val="0F9D58"/>
                </a:solidFill>
              </a:rPr>
              <a:t>Temuan Positif</a:t>
            </a:r>
          </a:p>
          <a:p>
            <a:pPr algn="l"/>
            <a:r>
              <a:rPr sz="400" b="0" i="0"/>
              <a:t/>
            </a:r>
          </a:p>
          <a:p>
            <a:pPr algn="l"/>
            <a:r>
              <a:rPr sz="950" b="0" i="0">
                <a:solidFill>
                  <a:srgbClr val="202020"/>
                </a:solidFill>
              </a:rPr>
              <a:t>-&gt; Best overall front-only (0.412) sedikit</a:t>
            </a:r>
          </a:p>
          <a:p>
            <a:pPr algn="l"/>
            <a:r>
              <a:rPr sz="950" b="0" i="0">
                <a:solidFill>
                  <a:srgbClr val="202020"/>
                </a:solidFill>
              </a:rPr>
              <a:t>   lebih baik dari front+side (0.407)</a:t>
            </a:r>
          </a:p>
          <a:p>
            <a:pPr algn="l"/>
            <a:r>
              <a:rPr sz="950" b="0" i="0">
                <a:solidFill>
                  <a:srgbClr val="202020"/>
                </a:solidFill>
              </a:rPr>
              <a:t>-&gt; Konsistensi data &gt; kuantitas data</a:t>
            </a:r>
          </a:p>
          <a:p>
            <a:pPr algn="l"/>
            <a:r>
              <a:rPr sz="950" b="0" i="0">
                <a:solidFill>
                  <a:srgbClr val="202020"/>
                </a:solidFill>
              </a:rPr>
              <a:t>-&gt; CNN membaik tanpa variasi sudut</a:t>
            </a:r>
          </a:p>
        </p:txBody>
      </p:sp>
      <p:sp>
        <p:nvSpPr>
          <p:cNvPr id="5" name="TextBox 4"/>
          <p:cNvSpPr txBox="1"/>
          <p:nvPr/>
        </p:nvSpPr>
        <p:spPr>
          <a:xfrm>
            <a:off x="4480560" y="2331720"/>
            <a:ext cx="4389120" cy="1463040"/>
          </a:xfrm>
          <a:prstGeom prst="rect">
            <a:avLst/>
          </a:prstGeom>
          <a:solidFill>
            <a:srgbClr val="FCE4E4"/>
          </a:solidFill>
        </p:spPr>
        <p:txBody>
          <a:bodyPr wrap="square">
            <a:spAutoFit/>
          </a:bodyPr>
          <a:lstStyle/>
          <a:p>
            <a:pPr algn="l"/>
            <a:r>
              <a:rPr sz="1000" b="1" i="0">
                <a:solidFill>
                  <a:srgbClr val="D93C3C"/>
                </a:solidFill>
              </a:rPr>
              <a:t>Trade-off</a:t>
            </a:r>
          </a:p>
          <a:p>
            <a:pPr algn="l"/>
            <a:r>
              <a:rPr sz="400" b="0" i="0"/>
              <a:t/>
            </a:r>
          </a:p>
          <a:p>
            <a:pPr algn="l"/>
            <a:r>
              <a:rPr sz="950" b="0" i="0">
                <a:solidFill>
                  <a:srgbClr val="202020"/>
                </a:solidFill>
              </a:rPr>
              <a:t>-&gt; FCNN turun -0.076 di 7-class (kehilangan</a:t>
            </a:r>
          </a:p>
          <a:p>
            <a:pPr algn="l"/>
            <a:r>
              <a:rPr sz="950" b="0" i="0">
                <a:solidFill>
                  <a:srgbClr val="202020"/>
                </a:solidFill>
              </a:rPr>
              <a:t>   variasi landmark dari side view)</a:t>
            </a:r>
          </a:p>
          <a:p>
            <a:pPr algn="l"/>
            <a:r>
              <a:rPr sz="950" b="0" i="0">
                <a:solidFill>
                  <a:srgbClr val="202020"/>
                </a:solidFill>
              </a:rPr>
              <a:t>-&gt; Dataset berkurang 28% (9,894 -&gt; 7,091)</a:t>
            </a:r>
          </a:p>
          <a:p>
            <a:pPr algn="l"/>
            <a:r>
              <a:rPr sz="950" b="0" i="0">
                <a:solidFill>
                  <a:srgbClr val="202020"/>
                </a:solidFill>
              </a:rPr>
              <a:t>-&gt; Tapi best model tidak terdampak</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503920" cy="548640"/>
          </a:xfrm>
          <a:prstGeom prst="rect">
            <a:avLst/>
          </a:prstGeom>
          <a:noFill/>
        </p:spPr>
        <p:txBody>
          <a:bodyPr wrap="none">
            <a:spAutoFit/>
          </a:bodyPr>
          <a:lstStyle/>
          <a:p>
            <a:pPr algn="l"/>
            <a:r>
              <a:rPr sz="2000" b="1">
                <a:solidFill>
                  <a:srgbClr val="202020"/>
                </a:solidFill>
              </a:rPr>
              <a:t>Analisis Hasil — Temuan Front-Only vs Front+Side</a:t>
            </a:r>
          </a:p>
        </p:txBody>
      </p:sp>
      <p:sp>
        <p:nvSpPr>
          <p:cNvPr id="3" name="TextBox 2"/>
          <p:cNvSpPr txBox="1"/>
          <p:nvPr/>
        </p:nvSpPr>
        <p:spPr>
          <a:xfrm>
            <a:off x="274320" y="777240"/>
            <a:ext cx="4114800" cy="256032"/>
          </a:xfrm>
          <a:prstGeom prst="rect">
            <a:avLst/>
          </a:prstGeom>
          <a:noFill/>
        </p:spPr>
        <p:txBody>
          <a:bodyPr wrap="none">
            <a:spAutoFit/>
          </a:bodyPr>
          <a:lstStyle/>
          <a:p>
            <a:pPr algn="l"/>
            <a:r>
              <a:rPr sz="900" b="1">
                <a:solidFill>
                  <a:srgbClr val="1A73E8"/>
                </a:solidFill>
              </a:rPr>
              <a:t>Temuan 10: Side view tidak meningkatkan best model</a:t>
            </a:r>
          </a:p>
        </p:txBody>
      </p:sp>
      <p:graphicFrame>
        <p:nvGraphicFramePr>
          <p:cNvPr id="4" name="Table 3"/>
          <p:cNvGraphicFramePr>
            <a:graphicFrameLocks noGrp="1"/>
          </p:cNvGraphicFramePr>
          <p:nvPr/>
        </p:nvGraphicFramePr>
        <p:xfrm>
          <a:off x="274320" y="1078992"/>
          <a:ext cx="4114800" cy="914400"/>
        </p:xfrm>
        <a:graphic>
          <a:graphicData uri="http://schemas.openxmlformats.org/drawingml/2006/table">
            <a:tbl>
              <a:tblPr firstRow="1" bandRow="1"/>
              <a:tblGrid>
                <a:gridCol w="2286000"/>
                <a:gridCol w="1828800"/>
              </a:tblGrid>
              <a:tr h="228600">
                <a:tc>
                  <a:txBody>
                    <a:bodyPr/>
                    <a:lstStyle/>
                    <a:p>
                      <a:pPr algn="ctr"/>
                      <a:r>
                        <a:rPr sz="800" b="1">
                          <a:solidFill>
                            <a:srgbClr val="FFFFFF"/>
                          </a:solidFill>
                        </a:rPr>
                        <a:t/>
                      </a:r>
                    </a:p>
                  </a:txBody>
                  <a:tcPr>
                    <a:solidFill>
                      <a:srgbClr val="1A73E8"/>
                    </a:solidFill>
                  </a:tcPr>
                </a:tc>
                <a:tc>
                  <a:txBody>
                    <a:bodyPr/>
                    <a:lstStyle/>
                    <a:p>
                      <a:pPr algn="ctr"/>
                      <a:r>
                        <a:rPr sz="800" b="1">
                          <a:solidFill>
                            <a:srgbClr val="FFFFFF"/>
                          </a:solidFill>
                        </a:rPr>
                        <a:t>Best Macro F1</a:t>
                      </a:r>
                    </a:p>
                  </a:txBody>
                  <a:tcPr>
                    <a:solidFill>
                      <a:srgbClr val="1A73E8"/>
                    </a:solidFill>
                  </a:tcPr>
                </a:tc>
              </a:tr>
              <a:tr h="228600">
                <a:tc>
                  <a:txBody>
                    <a:bodyPr/>
                    <a:lstStyle/>
                    <a:p>
                      <a:pPr algn="l"/>
                      <a:r>
                        <a:rPr sz="850" b="1">
                          <a:solidFill>
                            <a:srgbClr val="202020"/>
                          </a:solidFill>
                        </a:rPr>
                        <a:t>Front-only</a:t>
                      </a:r>
                    </a:p>
                  </a:txBody>
                  <a:tcPr>
                    <a:solidFill>
                      <a:srgbClr val="E8F0FE"/>
                    </a:solidFill>
                  </a:tcPr>
                </a:tc>
                <a:tc>
                  <a:txBody>
                    <a:bodyPr/>
                    <a:lstStyle/>
                    <a:p>
                      <a:pPr algn="ctr"/>
                      <a:r>
                        <a:rPr sz="850" b="0">
                          <a:solidFill>
                            <a:srgbClr val="202020"/>
                          </a:solidFill>
                        </a:rPr>
                        <a:t>0.412</a:t>
                      </a:r>
                    </a:p>
                  </a:txBody>
                  <a:tcPr>
                    <a:solidFill>
                      <a:srgbClr val="E8F0FE"/>
                    </a:solidFill>
                  </a:tcPr>
                </a:tc>
              </a:tr>
              <a:tr h="228600">
                <a:tc>
                  <a:txBody>
                    <a:bodyPr/>
                    <a:lstStyle/>
                    <a:p>
                      <a:pPr algn="l"/>
                      <a:r>
                        <a:rPr sz="850" b="1">
                          <a:solidFill>
                            <a:srgbClr val="202020"/>
                          </a:solidFill>
                        </a:rPr>
                        <a:t>Front+side</a:t>
                      </a:r>
                    </a:p>
                  </a:txBody>
                  <a:tcPr>
                    <a:solidFill>
                      <a:srgbClr val="FFFFFF"/>
                    </a:solidFill>
                  </a:tcPr>
                </a:tc>
                <a:tc>
                  <a:txBody>
                    <a:bodyPr/>
                    <a:lstStyle/>
                    <a:p>
                      <a:pPr algn="ctr"/>
                      <a:r>
                        <a:rPr sz="850" b="0">
                          <a:solidFill>
                            <a:srgbClr val="202020"/>
                          </a:solidFill>
                        </a:rPr>
                        <a:t>0.407</a:t>
                      </a:r>
                    </a:p>
                  </a:txBody>
                  <a:tcPr>
                    <a:solidFill>
                      <a:srgbClr val="FFFFFF"/>
                    </a:solidFill>
                  </a:tcPr>
                </a:tc>
              </a:tr>
              <a:tr h="228600">
                <a:tc>
                  <a:txBody>
                    <a:bodyPr/>
                    <a:lstStyle/>
                    <a:p>
                      <a:pPr algn="l"/>
                      <a:r>
                        <a:rPr sz="850" b="1">
                          <a:solidFill>
                            <a:srgbClr val="202020"/>
                          </a:solidFill>
                        </a:rPr>
                        <a:t>Selisih</a:t>
                      </a:r>
                    </a:p>
                  </a:txBody>
                  <a:tcPr>
                    <a:solidFill>
                      <a:srgbClr val="E8F0FE"/>
                    </a:solidFill>
                  </a:tcPr>
                </a:tc>
                <a:tc>
                  <a:txBody>
                    <a:bodyPr/>
                    <a:lstStyle/>
                    <a:p>
                      <a:pPr algn="ctr"/>
                      <a:r>
                        <a:rPr sz="850" b="0">
                          <a:solidFill>
                            <a:srgbClr val="202020"/>
                          </a:solidFill>
                        </a:rPr>
                        <a:t>+0.005</a:t>
                      </a:r>
                    </a:p>
                  </a:txBody>
                  <a:tcPr>
                    <a:solidFill>
                      <a:srgbClr val="E8F0FE"/>
                    </a:solidFill>
                  </a:tcPr>
                </a:tc>
              </a:tr>
            </a:tbl>
          </a:graphicData>
        </a:graphic>
      </p:graphicFrame>
      <p:sp>
        <p:nvSpPr>
          <p:cNvPr id="5" name="TextBox 4"/>
          <p:cNvSpPr txBox="1"/>
          <p:nvPr/>
        </p:nvSpPr>
        <p:spPr>
          <a:xfrm>
            <a:off x="4572000" y="777240"/>
            <a:ext cx="4206240" cy="256032"/>
          </a:xfrm>
          <a:prstGeom prst="rect">
            <a:avLst/>
          </a:prstGeom>
          <a:noFill/>
        </p:spPr>
        <p:txBody>
          <a:bodyPr wrap="none">
            <a:spAutoFit/>
          </a:bodyPr>
          <a:lstStyle/>
          <a:p>
            <a:pPr algn="l"/>
            <a:r>
              <a:rPr sz="900" b="1">
                <a:solidFill>
                  <a:srgbClr val="1A73E8"/>
                </a:solidFill>
              </a:rPr>
              <a:t>Temuan 11: FCNN paling terdampak penghapusan side view</a:t>
            </a:r>
          </a:p>
        </p:txBody>
      </p:sp>
      <p:graphicFrame>
        <p:nvGraphicFramePr>
          <p:cNvPr id="6" name="Table 5"/>
          <p:cNvGraphicFramePr>
            <a:graphicFrameLocks noGrp="1"/>
          </p:cNvGraphicFramePr>
          <p:nvPr/>
        </p:nvGraphicFramePr>
        <p:xfrm>
          <a:off x="4572000" y="1078992"/>
          <a:ext cx="4206238" cy="914400"/>
        </p:xfrm>
        <a:graphic>
          <a:graphicData uri="http://schemas.openxmlformats.org/drawingml/2006/table">
            <a:tbl>
              <a:tblPr firstRow="1" bandRow="1"/>
              <a:tblGrid>
                <a:gridCol w="1287624"/>
                <a:gridCol w="1030099"/>
                <a:gridCol w="1030099"/>
                <a:gridCol w="858416"/>
              </a:tblGrid>
              <a:tr h="22860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Front-Only</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Diff</a:t>
                      </a:r>
                    </a:p>
                  </a:txBody>
                  <a:tcPr>
                    <a:solidFill>
                      <a:srgbClr val="1A73E8"/>
                    </a:solidFill>
                  </a:tcPr>
                </a:tc>
              </a:tr>
              <a:tr h="228600">
                <a:tc>
                  <a:txBody>
                    <a:bodyPr/>
                    <a:lstStyle/>
                    <a:p>
                      <a:pPr algn="l"/>
                      <a:r>
                        <a:rPr sz="850" b="1">
                          <a:solidFill>
                            <a:srgbClr val="202020"/>
                          </a:solidFill>
                        </a:rPr>
                        <a:t>FCNN 7c</a:t>
                      </a:r>
                    </a:p>
                  </a:txBody>
                  <a:tcPr>
                    <a:solidFill>
                      <a:srgbClr val="E8F0FE"/>
                    </a:solidFill>
                  </a:tcPr>
                </a:tc>
                <a:tc>
                  <a:txBody>
                    <a:bodyPr/>
                    <a:lstStyle/>
                    <a:p>
                      <a:pPr algn="ctr"/>
                      <a:r>
                        <a:rPr sz="850" b="0">
                          <a:solidFill>
                            <a:srgbClr val="202020"/>
                          </a:solidFill>
                        </a:rPr>
                        <a:t>0.158</a:t>
                      </a:r>
                    </a:p>
                  </a:txBody>
                  <a:tcPr>
                    <a:solidFill>
                      <a:srgbClr val="E8F0FE"/>
                    </a:solidFill>
                  </a:tcPr>
                </a:tc>
                <a:tc>
                  <a:txBody>
                    <a:bodyPr/>
                    <a:lstStyle/>
                    <a:p>
                      <a:pPr algn="ctr"/>
                      <a:r>
                        <a:rPr sz="850" b="0">
                          <a:solidFill>
                            <a:srgbClr val="202020"/>
                          </a:solidFill>
                        </a:rPr>
                        <a:t>0.234</a:t>
                      </a:r>
                    </a:p>
                  </a:txBody>
                  <a:tcPr>
                    <a:solidFill>
                      <a:srgbClr val="E8F0FE"/>
                    </a:solidFill>
                  </a:tcPr>
                </a:tc>
                <a:tc>
                  <a:txBody>
                    <a:bodyPr/>
                    <a:lstStyle/>
                    <a:p>
                      <a:pPr algn="ctr"/>
                      <a:r>
                        <a:rPr sz="850" b="0">
                          <a:solidFill>
                            <a:srgbClr val="202020"/>
                          </a:solidFill>
                        </a:rPr>
                        <a:t>-0.076</a:t>
                      </a:r>
                    </a:p>
                  </a:txBody>
                  <a:tcPr>
                    <a:solidFill>
                      <a:srgbClr val="E8F0FE"/>
                    </a:solidFill>
                  </a:tcPr>
                </a:tc>
              </a:tr>
              <a:tr h="228600">
                <a:tc>
                  <a:txBody>
                    <a:bodyPr/>
                    <a:lstStyle/>
                    <a:p>
                      <a:pPr algn="l"/>
                      <a:r>
                        <a:rPr sz="850" b="1">
                          <a:solidFill>
                            <a:srgbClr val="202020"/>
                          </a:solidFill>
                        </a:rPr>
                        <a:t>FCNN 4c</a:t>
                      </a:r>
                    </a:p>
                  </a:txBody>
                  <a:tcPr>
                    <a:solidFill>
                      <a:srgbClr val="FFFFFF"/>
                    </a:solidFill>
                  </a:tcPr>
                </a:tc>
                <a:tc>
                  <a:txBody>
                    <a:bodyPr/>
                    <a:lstStyle/>
                    <a:p>
                      <a:pPr algn="ctr"/>
                      <a:r>
                        <a:rPr sz="850" b="0">
                          <a:solidFill>
                            <a:srgbClr val="202020"/>
                          </a:solidFill>
                        </a:rPr>
                        <a:t>0.361</a:t>
                      </a:r>
                    </a:p>
                  </a:txBody>
                  <a:tcPr>
                    <a:solidFill>
                      <a:srgbClr val="FFFFFF"/>
                    </a:solidFill>
                  </a:tcPr>
                </a:tc>
                <a:tc>
                  <a:txBody>
                    <a:bodyPr/>
                    <a:lstStyle/>
                    <a:p>
                      <a:pPr algn="ctr"/>
                      <a:r>
                        <a:rPr sz="850" b="0">
                          <a:solidFill>
                            <a:srgbClr val="202020"/>
                          </a:solidFill>
                        </a:rPr>
                        <a:t>0.394</a:t>
                      </a:r>
                    </a:p>
                  </a:txBody>
                  <a:tcPr>
                    <a:solidFill>
                      <a:srgbClr val="FFFFFF"/>
                    </a:solidFill>
                  </a:tcPr>
                </a:tc>
                <a:tc>
                  <a:txBody>
                    <a:bodyPr/>
                    <a:lstStyle/>
                    <a:p>
                      <a:pPr algn="ctr"/>
                      <a:r>
                        <a:rPr sz="850" b="0">
                          <a:solidFill>
                            <a:srgbClr val="202020"/>
                          </a:solidFill>
                        </a:rPr>
                        <a:t>-0.033</a:t>
                      </a:r>
                    </a:p>
                  </a:txBody>
                  <a:tcPr>
                    <a:solidFill>
                      <a:srgbClr val="FFFFFF"/>
                    </a:solidFill>
                  </a:tcPr>
                </a:tc>
              </a:tr>
              <a:tr h="228600">
                <a:tc>
                  <a:txBody>
                    <a:bodyPr/>
                    <a:lstStyle/>
                    <a:p>
                      <a:pPr algn="l"/>
                      <a:r>
                        <a:rPr sz="850" b="1">
                          <a:solidFill>
                            <a:srgbClr val="202020"/>
                          </a:solidFill>
                        </a:rPr>
                        <a:t>CNN 7c</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0.134</a:t>
                      </a:r>
                    </a:p>
                  </a:txBody>
                  <a:tcPr>
                    <a:solidFill>
                      <a:srgbClr val="E8F0FE"/>
                    </a:solidFill>
                  </a:tcPr>
                </a:tc>
                <a:tc>
                  <a:txBody>
                    <a:bodyPr/>
                    <a:lstStyle/>
                    <a:p>
                      <a:pPr algn="ctr"/>
                      <a:r>
                        <a:rPr sz="850" b="0">
                          <a:solidFill>
                            <a:srgbClr val="202020"/>
                          </a:solidFill>
                        </a:rPr>
                        <a:t>+0.003</a:t>
                      </a:r>
                    </a:p>
                  </a:txBody>
                  <a:tcPr>
                    <a:solidFill>
                      <a:srgbClr val="E8F0FE"/>
                    </a:solidFill>
                  </a:tcPr>
                </a:tc>
              </a:tr>
            </a:tbl>
          </a:graphicData>
        </a:graphic>
      </p:graphicFrame>
      <p:sp>
        <p:nvSpPr>
          <p:cNvPr id="7" name="TextBox 6"/>
          <p:cNvSpPr txBox="1"/>
          <p:nvPr/>
        </p:nvSpPr>
        <p:spPr>
          <a:xfrm>
            <a:off x="274320" y="2148840"/>
            <a:ext cx="4114800" cy="256032"/>
          </a:xfrm>
          <a:prstGeom prst="rect">
            <a:avLst/>
          </a:prstGeom>
          <a:noFill/>
        </p:spPr>
        <p:txBody>
          <a:bodyPr wrap="none">
            <a:spAutoFit/>
          </a:bodyPr>
          <a:lstStyle/>
          <a:p>
            <a:pPr algn="l"/>
            <a:r>
              <a:rPr sz="900" b="1">
                <a:solidFill>
                  <a:srgbClr val="1A73E8"/>
                </a:solidFill>
              </a:rPr>
              <a:t>Temuan 12: CNN membaik di front-only</a:t>
            </a:r>
          </a:p>
        </p:txBody>
      </p:sp>
      <p:graphicFrame>
        <p:nvGraphicFramePr>
          <p:cNvPr id="8" name="Table 7"/>
          <p:cNvGraphicFramePr>
            <a:graphicFrameLocks noGrp="1"/>
          </p:cNvGraphicFramePr>
          <p:nvPr/>
        </p:nvGraphicFramePr>
        <p:xfrm>
          <a:off x="274320" y="2450592"/>
          <a:ext cx="4114799" cy="914400"/>
        </p:xfrm>
        <a:graphic>
          <a:graphicData uri="http://schemas.openxmlformats.org/drawingml/2006/table">
            <a:tbl>
              <a:tblPr firstRow="1" bandRow="1"/>
              <a:tblGrid>
                <a:gridCol w="1259632"/>
                <a:gridCol w="1007706"/>
                <a:gridCol w="1007706"/>
                <a:gridCol w="839755"/>
              </a:tblGrid>
              <a:tr h="22860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Front-Only</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Diff</a:t>
                      </a:r>
                    </a:p>
                  </a:txBody>
                  <a:tcPr>
                    <a:solidFill>
                      <a:srgbClr val="1A73E8"/>
                    </a:solidFill>
                  </a:tcPr>
                </a:tc>
              </a:tr>
              <a:tr h="228600">
                <a:tc>
                  <a:txBody>
                    <a:bodyPr/>
                    <a:lstStyle/>
                    <a:p>
                      <a:pPr algn="l"/>
                      <a:r>
                        <a:rPr sz="850" b="1">
                          <a:solidFill>
                            <a:srgbClr val="202020"/>
                          </a:solidFill>
                        </a:rPr>
                        <a:t>CNN 7c B1</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0.133</a:t>
                      </a:r>
                    </a:p>
                  </a:txBody>
                  <a:tcPr>
                    <a:solidFill>
                      <a:srgbClr val="E8F0FE"/>
                    </a:solidFill>
                  </a:tcPr>
                </a:tc>
                <a:tc>
                  <a:txBody>
                    <a:bodyPr/>
                    <a:lstStyle/>
                    <a:p>
                      <a:pPr algn="ctr"/>
                      <a:r>
                        <a:rPr sz="850" b="0">
                          <a:solidFill>
                            <a:srgbClr val="202020"/>
                          </a:solidFill>
                        </a:rPr>
                        <a:t>+0.005</a:t>
                      </a:r>
                    </a:p>
                  </a:txBody>
                  <a:tcPr>
                    <a:solidFill>
                      <a:srgbClr val="E8F0FE"/>
                    </a:solidFill>
                  </a:tcPr>
                </a:tc>
              </a:tr>
              <a:tr h="228600">
                <a:tc>
                  <a:txBody>
                    <a:bodyPr/>
                    <a:lstStyle/>
                    <a:p>
                      <a:pPr algn="l"/>
                      <a:r>
                        <a:rPr sz="850" b="1">
                          <a:solidFill>
                            <a:srgbClr val="202020"/>
                          </a:solidFill>
                        </a:rPr>
                        <a:t>CNN 7c B3</a:t>
                      </a:r>
                    </a:p>
                  </a:txBody>
                  <a:tcPr>
                    <a:solidFill>
                      <a:srgbClr val="FFFFFF"/>
                    </a:solidFill>
                  </a:tcPr>
                </a:tc>
                <a:tc>
                  <a:txBody>
                    <a:bodyPr/>
                    <a:lstStyle/>
                    <a:p>
                      <a:pPr algn="ctr"/>
                      <a:r>
                        <a:rPr sz="850" b="0">
                          <a:solidFill>
                            <a:srgbClr val="202020"/>
                          </a:solidFill>
                        </a:rPr>
                        <a:t>0.136</a:t>
                      </a:r>
                    </a:p>
                  </a:txBody>
                  <a:tcPr>
                    <a:solidFill>
                      <a:srgbClr val="FFFFFF"/>
                    </a:solidFill>
                  </a:tcPr>
                </a:tc>
                <a:tc>
                  <a:txBody>
                    <a:bodyPr/>
                    <a:lstStyle/>
                    <a:p>
                      <a:pPr algn="ctr"/>
                      <a:r>
                        <a:rPr sz="850" b="0">
                          <a:solidFill>
                            <a:srgbClr val="202020"/>
                          </a:solidFill>
                        </a:rPr>
                        <a:t>0.119</a:t>
                      </a:r>
                    </a:p>
                  </a:txBody>
                  <a:tcPr>
                    <a:solidFill>
                      <a:srgbClr val="FFFFFF"/>
                    </a:solidFill>
                  </a:tcPr>
                </a:tc>
                <a:tc>
                  <a:txBody>
                    <a:bodyPr/>
                    <a:lstStyle/>
                    <a:p>
                      <a:pPr algn="ctr"/>
                      <a:r>
                        <a:rPr sz="850" b="0">
                          <a:solidFill>
                            <a:srgbClr val="202020"/>
                          </a:solidFill>
                        </a:rPr>
                        <a:t>+0.017</a:t>
                      </a:r>
                    </a:p>
                  </a:txBody>
                  <a:tcPr>
                    <a:solidFill>
                      <a:srgbClr val="FFFFFF"/>
                    </a:solidFill>
                  </a:tcPr>
                </a:tc>
              </a:tr>
              <a:tr h="228600">
                <a:tc>
                  <a:txBody>
                    <a:bodyPr/>
                    <a:lstStyle/>
                    <a:p>
                      <a:pPr algn="l"/>
                      <a:r>
                        <a:rPr sz="850" b="1">
                          <a:solidFill>
                            <a:srgbClr val="202020"/>
                          </a:solidFill>
                        </a:rPr>
                        <a:t>CNN 4c B3</a:t>
                      </a:r>
                    </a:p>
                  </a:txBody>
                  <a:tcPr>
                    <a:solidFill>
                      <a:srgbClr val="E8F0FE"/>
                    </a:solidFill>
                  </a:tcPr>
                </a:tc>
                <a:tc>
                  <a:txBody>
                    <a:bodyPr/>
                    <a:lstStyle/>
                    <a:p>
                      <a:pPr algn="ctr"/>
                      <a:r>
                        <a:rPr sz="850" b="0">
                          <a:solidFill>
                            <a:srgbClr val="202020"/>
                          </a:solidFill>
                        </a:rPr>
                        <a:t>0.265</a:t>
                      </a:r>
                    </a:p>
                  </a:txBody>
                  <a:tcPr>
                    <a:solidFill>
                      <a:srgbClr val="E8F0FE"/>
                    </a:solidFill>
                  </a:tcPr>
                </a:tc>
                <a:tc>
                  <a:txBody>
                    <a:bodyPr/>
                    <a:lstStyle/>
                    <a:p>
                      <a:pPr algn="ctr"/>
                      <a:r>
                        <a:rPr sz="850" b="0">
                          <a:solidFill>
                            <a:srgbClr val="202020"/>
                          </a:solidFill>
                        </a:rPr>
                        <a:t>0.238</a:t>
                      </a:r>
                    </a:p>
                  </a:txBody>
                  <a:tcPr>
                    <a:solidFill>
                      <a:srgbClr val="E8F0FE"/>
                    </a:solidFill>
                  </a:tcPr>
                </a:tc>
                <a:tc>
                  <a:txBody>
                    <a:bodyPr/>
                    <a:lstStyle/>
                    <a:p>
                      <a:pPr algn="ctr"/>
                      <a:r>
                        <a:rPr sz="850" b="0">
                          <a:solidFill>
                            <a:srgbClr val="202020"/>
                          </a:solidFill>
                        </a:rPr>
                        <a:t>+0.027</a:t>
                      </a:r>
                    </a:p>
                  </a:txBody>
                  <a:tcPr>
                    <a:solidFill>
                      <a:srgbClr val="E8F0FE"/>
                    </a:solidFill>
                  </a:tcPr>
                </a:tc>
              </a:tr>
            </a:tbl>
          </a:graphicData>
        </a:graphic>
      </p:graphicFrame>
      <p:sp>
        <p:nvSpPr>
          <p:cNvPr id="9" name="TextBox 8"/>
          <p:cNvSpPr txBox="1"/>
          <p:nvPr/>
        </p:nvSpPr>
        <p:spPr>
          <a:xfrm>
            <a:off x="4572000" y="2148840"/>
            <a:ext cx="4206240" cy="256032"/>
          </a:xfrm>
          <a:prstGeom prst="rect">
            <a:avLst/>
          </a:prstGeom>
          <a:noFill/>
        </p:spPr>
        <p:txBody>
          <a:bodyPr wrap="none">
            <a:spAutoFit/>
          </a:bodyPr>
          <a:lstStyle/>
          <a:p>
            <a:pPr algn="l"/>
            <a:r>
              <a:rPr sz="900" b="1">
                <a:solidFill>
                  <a:srgbClr val="1A73E8"/>
                </a:solidFill>
              </a:rPr>
              <a:t>Temuan 13: Konsistensi data &gt; kuantitas data</a:t>
            </a:r>
          </a:p>
        </p:txBody>
      </p:sp>
      <p:graphicFrame>
        <p:nvGraphicFramePr>
          <p:cNvPr id="10" name="Table 9"/>
          <p:cNvGraphicFramePr>
            <a:graphicFrameLocks noGrp="1"/>
          </p:cNvGraphicFramePr>
          <p:nvPr/>
        </p:nvGraphicFramePr>
        <p:xfrm>
          <a:off x="4572000" y="2450592"/>
          <a:ext cx="4206240" cy="914400"/>
        </p:xfrm>
        <a:graphic>
          <a:graphicData uri="http://schemas.openxmlformats.org/drawingml/2006/table">
            <a:tbl>
              <a:tblPr firstRow="1" bandRow="1"/>
              <a:tblGrid>
                <a:gridCol w="1577340"/>
                <a:gridCol w="1314450"/>
                <a:gridCol w="1314450"/>
              </a:tblGrid>
              <a:tr h="228600">
                <a:tc>
                  <a:txBody>
                    <a:bodyPr/>
                    <a:lstStyle/>
                    <a:p>
                      <a:pPr algn="ctr"/>
                      <a:r>
                        <a:rPr sz="800" b="1">
                          <a:solidFill>
                            <a:srgbClr val="FFFFFF"/>
                          </a:solidFill>
                        </a:rPr>
                        <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Front-Only</a:t>
                      </a:r>
                    </a:p>
                  </a:txBody>
                  <a:tcPr>
                    <a:solidFill>
                      <a:srgbClr val="1A73E8"/>
                    </a:solidFill>
                  </a:tcPr>
                </a:tc>
              </a:tr>
              <a:tr h="228600">
                <a:tc>
                  <a:txBody>
                    <a:bodyPr/>
                    <a:lstStyle/>
                    <a:p>
                      <a:pPr algn="l"/>
                      <a:r>
                        <a:rPr sz="850" b="1">
                          <a:solidFill>
                            <a:srgbClr val="202020"/>
                          </a:solidFill>
                        </a:rPr>
                        <a:t>Total sampel</a:t>
                      </a:r>
                    </a:p>
                  </a:txBody>
                  <a:tcPr>
                    <a:solidFill>
                      <a:srgbClr val="E8F0FE"/>
                    </a:solidFill>
                  </a:tcPr>
                </a:tc>
                <a:tc>
                  <a:txBody>
                    <a:bodyPr/>
                    <a:lstStyle/>
                    <a:p>
                      <a:pPr algn="ctr"/>
                      <a:r>
                        <a:rPr sz="850" b="0">
                          <a:solidFill>
                            <a:srgbClr val="202020"/>
                          </a:solidFill>
                        </a:rPr>
                        <a:t>9,894</a:t>
                      </a:r>
                    </a:p>
                  </a:txBody>
                  <a:tcPr>
                    <a:solidFill>
                      <a:srgbClr val="E8F0FE"/>
                    </a:solidFill>
                  </a:tcPr>
                </a:tc>
                <a:tc>
                  <a:txBody>
                    <a:bodyPr/>
                    <a:lstStyle/>
                    <a:p>
                      <a:pPr algn="ctr"/>
                      <a:r>
                        <a:rPr sz="850" b="0">
                          <a:solidFill>
                            <a:srgbClr val="202020"/>
                          </a:solidFill>
                        </a:rPr>
                        <a:t>7,091 (-28%)</a:t>
                      </a:r>
                    </a:p>
                  </a:txBody>
                  <a:tcPr>
                    <a:solidFill>
                      <a:srgbClr val="E8F0FE"/>
                    </a:solidFill>
                  </a:tcPr>
                </a:tc>
              </a:tr>
              <a:tr h="228600">
                <a:tc>
                  <a:txBody>
                    <a:bodyPr/>
                    <a:lstStyle/>
                    <a:p>
                      <a:pPr algn="l"/>
                      <a:r>
                        <a:rPr sz="850" b="1">
                          <a:solidFill>
                            <a:srgbClr val="202020"/>
                          </a:solidFill>
                        </a:rPr>
                        <a:t>Best Macro F1</a:t>
                      </a:r>
                    </a:p>
                  </a:txBody>
                  <a:tcPr>
                    <a:solidFill>
                      <a:srgbClr val="FFFFFF"/>
                    </a:solidFill>
                  </a:tcPr>
                </a:tc>
                <a:tc>
                  <a:txBody>
                    <a:bodyPr/>
                    <a:lstStyle/>
                    <a:p>
                      <a:pPr algn="ctr"/>
                      <a:r>
                        <a:rPr sz="850" b="0">
                          <a:solidFill>
                            <a:srgbClr val="202020"/>
                          </a:solidFill>
                        </a:rPr>
                        <a:t>0.407</a:t>
                      </a:r>
                    </a:p>
                  </a:txBody>
                  <a:tcPr>
                    <a:solidFill>
                      <a:srgbClr val="FFFFFF"/>
                    </a:solidFill>
                  </a:tcPr>
                </a:tc>
                <a:tc>
                  <a:txBody>
                    <a:bodyPr/>
                    <a:lstStyle/>
                    <a:p>
                      <a:pPr algn="ctr"/>
                      <a:r>
                        <a:rPr sz="850" b="0">
                          <a:solidFill>
                            <a:srgbClr val="202020"/>
                          </a:solidFill>
                        </a:rPr>
                        <a:t>0.412 (+1.2%)</a:t>
                      </a:r>
                    </a:p>
                  </a:txBody>
                  <a:tcPr>
                    <a:solidFill>
                      <a:srgbClr val="FFFFFF"/>
                    </a:solidFill>
                  </a:tcPr>
                </a:tc>
              </a:tr>
              <a:tr h="228600">
                <a:tc>
                  <a:txBody>
                    <a:bodyPr/>
                    <a:lstStyle/>
                    <a:p>
                      <a:pPr algn="l"/>
                      <a:r>
                        <a:rPr sz="850" b="1">
                          <a:solidFill>
                            <a:srgbClr val="202020"/>
                          </a:solidFill>
                        </a:rPr>
                        <a:t>Best model</a:t>
                      </a:r>
                    </a:p>
                  </a:txBody>
                  <a:tcPr>
                    <a:solidFill>
                      <a:srgbClr val="E8F0FE"/>
                    </a:solidFill>
                  </a:tcPr>
                </a:tc>
                <a:tc>
                  <a:txBody>
                    <a:bodyPr/>
                    <a:lstStyle/>
                    <a:p>
                      <a:pPr algn="ctr"/>
                      <a:r>
                        <a:rPr sz="850" b="0">
                          <a:solidFill>
                            <a:srgbClr val="202020"/>
                          </a:solidFill>
                        </a:rPr>
                        <a:t>CNN TL B2</a:t>
                      </a:r>
                    </a:p>
                  </a:txBody>
                  <a:tcPr>
                    <a:solidFill>
                      <a:srgbClr val="E8F0FE"/>
                    </a:solidFill>
                  </a:tcPr>
                </a:tc>
                <a:tc>
                  <a:txBody>
                    <a:bodyPr/>
                    <a:lstStyle/>
                    <a:p>
                      <a:pPr algn="ctr"/>
                      <a:r>
                        <a:rPr sz="850" b="0">
                          <a:solidFill>
                            <a:srgbClr val="202020"/>
                          </a:solidFill>
                        </a:rPr>
                        <a:t>Intermediate TL B1</a:t>
                      </a:r>
                    </a:p>
                  </a:txBody>
                  <a:tcPr>
                    <a:solidFill>
                      <a:srgbClr val="E8F0FE"/>
                    </a:solidFill>
                  </a:tcPr>
                </a:tc>
              </a:tr>
            </a:tbl>
          </a:graphicData>
        </a:graphic>
      </p:graphicFrame>
      <p:sp>
        <p:nvSpPr>
          <p:cNvPr id="11" name="TextBox 10"/>
          <p:cNvSpPr txBox="1"/>
          <p:nvPr/>
        </p:nvSpPr>
        <p:spPr>
          <a:xfrm>
            <a:off x="274320" y="3520440"/>
            <a:ext cx="8503920" cy="320040"/>
          </a:xfrm>
          <a:prstGeom prst="rect">
            <a:avLst/>
          </a:prstGeom>
          <a:solidFill>
            <a:srgbClr val="E8F0FE"/>
          </a:solidFill>
        </p:spPr>
        <p:txBody>
          <a:bodyPr wrap="square">
            <a:spAutoFit/>
          </a:bodyPr>
          <a:lstStyle/>
          <a:p>
            <a:pPr algn="ctr"/>
            <a:r>
              <a:rPr sz="900" b="1">
                <a:solidFill>
                  <a:srgbClr val="202020"/>
                </a:solidFill>
              </a:rPr>
              <a:t>Kesimpulan: Menghilangkan side view mengurangi 28% data tapi best model justru sedikit membaik — konsistensi sudut kamera lebih penting dari jumlah data</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503920" cy="548640"/>
          </a:xfrm>
          <a:prstGeom prst="rect">
            <a:avLst/>
          </a:prstGeom>
          <a:noFill/>
        </p:spPr>
        <p:txBody>
          <a:bodyPr wrap="none">
            <a:spAutoFit/>
          </a:bodyPr>
          <a:lstStyle/>
          <a:p>
            <a:pPr algn="l"/>
            <a:r>
              <a:rPr sz="2000" b="1">
                <a:solidFill>
                  <a:srgbClr val="202020"/>
                </a:solidFill>
              </a:rPr>
              <a:t>Analisis Hasil — Temuan Evaluasi Robustness</a:t>
            </a:r>
          </a:p>
        </p:txBody>
      </p:sp>
      <p:sp>
        <p:nvSpPr>
          <p:cNvPr id="3" name="TextBox 2"/>
          <p:cNvSpPr txBox="1"/>
          <p:nvPr/>
        </p:nvSpPr>
        <p:spPr>
          <a:xfrm>
            <a:off x="274320" y="777240"/>
            <a:ext cx="8503920" cy="256032"/>
          </a:xfrm>
          <a:prstGeom prst="rect">
            <a:avLst/>
          </a:prstGeom>
          <a:noFill/>
        </p:spPr>
        <p:txBody>
          <a:bodyPr wrap="none">
            <a:spAutoFit/>
          </a:bodyPr>
          <a:lstStyle/>
          <a:p>
            <a:pPr algn="l"/>
            <a:r>
              <a:rPr sz="900" b="1">
                <a:solidFill>
                  <a:srgbClr val="1A73E8"/>
                </a:solidFill>
              </a:rPr>
              <a:t>Temuan 14: LOSO menunjukkan performa sebenarnya lebih rendah dari single split</a:t>
            </a:r>
          </a:p>
        </p:txBody>
      </p:sp>
      <p:graphicFrame>
        <p:nvGraphicFramePr>
          <p:cNvPr id="4" name="Table 3"/>
          <p:cNvGraphicFramePr>
            <a:graphicFrameLocks noGrp="1"/>
          </p:cNvGraphicFramePr>
          <p:nvPr/>
        </p:nvGraphicFramePr>
        <p:xfrm>
          <a:off x="274320" y="1078992"/>
          <a:ext cx="8503918" cy="960120"/>
        </p:xfrm>
        <a:graphic>
          <a:graphicData uri="http://schemas.openxmlformats.org/drawingml/2006/table">
            <a:tbl>
              <a:tblPr firstRow="1" bandRow="1"/>
              <a:tblGrid>
                <a:gridCol w="2011679"/>
                <a:gridCol w="1371600"/>
                <a:gridCol w="914399"/>
                <a:gridCol w="4206240"/>
              </a:tblGrid>
              <a:tr h="240030">
                <a:tc>
                  <a:txBody>
                    <a:bodyPr/>
                    <a:lstStyle/>
                    <a:p>
                      <a:pPr algn="ctr"/>
                      <a:r>
                        <a:rPr sz="800" b="1">
                          <a:solidFill>
                            <a:srgbClr val="FFFFFF"/>
                          </a:solidFill>
                        </a:rPr>
                        <a:t>Strategi</a:t>
                      </a:r>
                    </a:p>
                  </a:txBody>
                  <a:tcPr>
                    <a:solidFill>
                      <a:srgbClr val="1A73E8"/>
                    </a:solidFill>
                  </a:tcPr>
                </a:tc>
                <a:tc>
                  <a:txBody>
                    <a:bodyPr/>
                    <a:lstStyle/>
                    <a:p>
                      <a:pPr algn="ctr"/>
                      <a:r>
                        <a:rPr sz="800" b="1">
                          <a:solidFill>
                            <a:srgbClr val="FFFFFF"/>
                          </a:solidFill>
                        </a:rPr>
                        <a:t>Macro F1</a:t>
                      </a:r>
                    </a:p>
                  </a:txBody>
                  <a:tcPr>
                    <a:solidFill>
                      <a:srgbClr val="1A73E8"/>
                    </a:solidFill>
                  </a:tcPr>
                </a:tc>
                <a:tc>
                  <a:txBody>
                    <a:bodyPr/>
                    <a:lstStyle/>
                    <a:p>
                      <a:pPr algn="ctr"/>
                      <a:r>
                        <a:rPr sz="800" b="1">
                          <a:solidFill>
                            <a:srgbClr val="FFFFFF"/>
                          </a:solidFill>
                        </a:rPr>
                        <a:t>Std</a:t>
                      </a:r>
                    </a:p>
                  </a:txBody>
                  <a:tcPr>
                    <a:solidFill>
                      <a:srgbClr val="1A73E8"/>
                    </a:solidFill>
                  </a:tcPr>
                </a:tc>
                <a:tc>
                  <a:txBody>
                    <a:bodyPr/>
                    <a:lstStyle/>
                    <a:p>
                      <a:pPr algn="ctr"/>
                      <a:r>
                        <a:rPr sz="800" b="1">
                          <a:solidFill>
                            <a:srgbClr val="FFFFFF"/>
                          </a:solidFill>
                        </a:rPr>
                        <a:t>Keterangan</a:t>
                      </a:r>
                    </a:p>
                  </a:txBody>
                  <a:tcPr>
                    <a:solidFill>
                      <a:srgbClr val="1A73E8"/>
                    </a:solidFill>
                  </a:tcPr>
                </a:tc>
              </a:tr>
              <a:tr h="240030">
                <a:tc>
                  <a:txBody>
                    <a:bodyPr/>
                    <a:lstStyle/>
                    <a:p>
                      <a:pPr algn="l"/>
                      <a:r>
                        <a:rPr sz="850" b="1">
                          <a:solidFill>
                            <a:srgbClr val="202020"/>
                          </a:solidFill>
                        </a:rPr>
                        <a:t>Single Split</a:t>
                      </a:r>
                    </a:p>
                  </a:txBody>
                  <a:tcPr>
                    <a:solidFill>
                      <a:srgbClr val="E8F0FE"/>
                    </a:solidFill>
                  </a:tcPr>
                </a:tc>
                <a:tc>
                  <a:txBody>
                    <a:bodyPr/>
                    <a:lstStyle/>
                    <a:p>
                      <a:pPr algn="ctr"/>
                      <a:r>
                        <a:rPr sz="850" b="0">
                          <a:solidFill>
                            <a:srgbClr val="202020"/>
                          </a:solidFill>
                        </a:rPr>
                        <a:t>0.412</a:t>
                      </a:r>
                    </a:p>
                  </a:txBody>
                  <a:tcPr>
                    <a:solidFill>
                      <a:srgbClr val="E8F0FE"/>
                    </a:solidFill>
                  </a:tcPr>
                </a:tc>
                <a:tc>
                  <a:txBody>
                    <a:bodyPr/>
                    <a:lstStyle/>
                    <a:p>
                      <a:pPr algn="ctr"/>
                      <a:r>
                        <a:rPr sz="850" b="0">
                          <a:solidFill>
                            <a:srgbClr val="202020"/>
                          </a:solidFill>
                        </a:rPr>
                        <a:t>-</a:t>
                      </a:r>
                    </a:p>
                  </a:txBody>
                  <a:tcPr>
                    <a:solidFill>
                      <a:srgbClr val="E8F0FE"/>
                    </a:solidFill>
                  </a:tcPr>
                </a:tc>
                <a:tc>
                  <a:txBody>
                    <a:bodyPr/>
                    <a:lstStyle/>
                    <a:p>
                      <a:pPr algn="ctr"/>
                      <a:r>
                        <a:rPr sz="850" b="0">
                          <a:solidFill>
                            <a:srgbClr val="202020"/>
                          </a:solidFill>
                        </a:rPr>
                        <a:t>Fix 5 user test (bisa bias)</a:t>
                      </a:r>
                    </a:p>
                  </a:txBody>
                  <a:tcPr>
                    <a:solidFill>
                      <a:srgbClr val="E8F0FE"/>
                    </a:solidFill>
                  </a:tcPr>
                </a:tc>
              </a:tr>
              <a:tr h="240030">
                <a:tc>
                  <a:txBody>
                    <a:bodyPr/>
                    <a:lstStyle/>
                    <a:p>
                      <a:pPr algn="l"/>
                      <a:r>
                        <a:rPr sz="850" b="1">
                          <a:solidFill>
                            <a:srgbClr val="202020"/>
                          </a:solidFill>
                        </a:rPr>
                        <a:t>LOSO (34/37 fold)</a:t>
                      </a:r>
                    </a:p>
                  </a:txBody>
                  <a:tcPr>
                    <a:solidFill>
                      <a:srgbClr val="FFFFFF"/>
                    </a:solidFill>
                  </a:tcPr>
                </a:tc>
                <a:tc>
                  <a:txBody>
                    <a:bodyPr/>
                    <a:lstStyle/>
                    <a:p>
                      <a:pPr algn="ctr"/>
                      <a:r>
                        <a:rPr sz="850" b="0">
                          <a:solidFill>
                            <a:srgbClr val="202020"/>
                          </a:solidFill>
                        </a:rPr>
                        <a:t>0.370</a:t>
                      </a:r>
                    </a:p>
                  </a:txBody>
                  <a:tcPr>
                    <a:solidFill>
                      <a:srgbClr val="FFFFFF"/>
                    </a:solidFill>
                  </a:tcPr>
                </a:tc>
                <a:tc>
                  <a:txBody>
                    <a:bodyPr/>
                    <a:lstStyle/>
                    <a:p>
                      <a:pPr algn="ctr"/>
                      <a:r>
                        <a:rPr sz="850" b="0">
                          <a:solidFill>
                            <a:srgbClr val="202020"/>
                          </a:solidFill>
                        </a:rPr>
                        <a:t>0.125</a:t>
                      </a:r>
                    </a:p>
                  </a:txBody>
                  <a:tcPr>
                    <a:solidFill>
                      <a:srgbClr val="FFFFFF"/>
                    </a:solidFill>
                  </a:tcPr>
                </a:tc>
                <a:tc>
                  <a:txBody>
                    <a:bodyPr/>
                    <a:lstStyle/>
                    <a:p>
                      <a:pPr algn="ctr"/>
                      <a:r>
                        <a:rPr sz="850" b="0">
                          <a:solidFill>
                            <a:srgbClr val="202020"/>
                          </a:solidFill>
                        </a:rPr>
                        <a:t>Rotasi semua user (gold standard)</a:t>
                      </a:r>
                    </a:p>
                  </a:txBody>
                  <a:tcPr>
                    <a:solidFill>
                      <a:srgbClr val="FFFFFF"/>
                    </a:solidFill>
                  </a:tcPr>
                </a:tc>
              </a:tr>
              <a:tr h="240030">
                <a:tc>
                  <a:txBody>
                    <a:bodyPr/>
                    <a:lstStyle/>
                    <a:p>
                      <a:pPr algn="l"/>
                      <a:r>
                        <a:rPr sz="850" b="1">
                          <a:solidFill>
                            <a:srgbClr val="202020"/>
                          </a:solidFill>
                        </a:rPr>
                        <a:t>Selisih</a:t>
                      </a:r>
                    </a:p>
                  </a:txBody>
                  <a:tcPr>
                    <a:solidFill>
                      <a:srgbClr val="E8F0FE"/>
                    </a:solidFill>
                  </a:tcPr>
                </a:tc>
                <a:tc>
                  <a:txBody>
                    <a:bodyPr/>
                    <a:lstStyle/>
                    <a:p>
                      <a:pPr algn="ctr"/>
                      <a:r>
                        <a:rPr sz="850" b="0">
                          <a:solidFill>
                            <a:srgbClr val="202020"/>
                          </a:solidFill>
                        </a:rPr>
                        <a:t>-0.042</a:t>
                      </a:r>
                    </a:p>
                  </a:txBody>
                  <a:tcPr>
                    <a:solidFill>
                      <a:srgbClr val="E8F0FE"/>
                    </a:solidFill>
                  </a:tcPr>
                </a:tc>
                <a:tc>
                  <a:txBody>
                    <a:bodyPr/>
                    <a:lstStyle/>
                    <a:p>
                      <a:pPr algn="ctr"/>
                      <a:r>
                        <a:rPr sz="850" b="0">
                          <a:solidFill>
                            <a:srgbClr val="202020"/>
                          </a:solidFill>
                        </a:rPr>
                        <a:t/>
                      </a:r>
                    </a:p>
                  </a:txBody>
                  <a:tcPr>
                    <a:solidFill>
                      <a:srgbClr val="E8F0FE"/>
                    </a:solidFill>
                  </a:tcPr>
                </a:tc>
                <a:tc>
                  <a:txBody>
                    <a:bodyPr/>
                    <a:lstStyle/>
                    <a:p>
                      <a:pPr algn="ctr"/>
                      <a:r>
                        <a:rPr sz="850" b="0">
                          <a:solidFill>
                            <a:srgbClr val="202020"/>
                          </a:solidFill>
                        </a:rPr>
                        <a:t>Single split over-estimate ~10%</a:t>
                      </a:r>
                    </a:p>
                  </a:txBody>
                  <a:tcPr>
                    <a:solidFill>
                      <a:srgbClr val="E8F0FE"/>
                    </a:solidFill>
                  </a:tcPr>
                </a:tc>
              </a:tr>
            </a:tbl>
          </a:graphicData>
        </a:graphic>
      </p:graphicFrame>
      <p:sp>
        <p:nvSpPr>
          <p:cNvPr id="5" name="TextBox 4"/>
          <p:cNvSpPr txBox="1"/>
          <p:nvPr/>
        </p:nvSpPr>
        <p:spPr>
          <a:xfrm>
            <a:off x="274320" y="2194560"/>
            <a:ext cx="8503920" cy="256032"/>
          </a:xfrm>
          <a:prstGeom prst="rect">
            <a:avLst/>
          </a:prstGeom>
          <a:noFill/>
        </p:spPr>
        <p:txBody>
          <a:bodyPr wrap="none">
            <a:spAutoFit/>
          </a:bodyPr>
          <a:lstStyle/>
          <a:p>
            <a:pPr algn="l"/>
            <a:r>
              <a:rPr sz="900" b="1">
                <a:solidFill>
                  <a:srgbClr val="1A73E8"/>
                </a:solidFill>
              </a:rPr>
              <a:t>Temuan 15: Random Split jauh lebih tinggi — bukti data leakage</a:t>
            </a:r>
          </a:p>
        </p:txBody>
      </p:sp>
      <p:graphicFrame>
        <p:nvGraphicFramePr>
          <p:cNvPr id="6" name="Table 5"/>
          <p:cNvGraphicFramePr>
            <a:graphicFrameLocks noGrp="1"/>
          </p:cNvGraphicFramePr>
          <p:nvPr/>
        </p:nvGraphicFramePr>
        <p:xfrm>
          <a:off x="274320" y="2496312"/>
          <a:ext cx="8503917" cy="960120"/>
        </p:xfrm>
        <a:graphic>
          <a:graphicData uri="http://schemas.openxmlformats.org/drawingml/2006/table">
            <a:tbl>
              <a:tblPr firstRow="1" bandRow="1"/>
              <a:tblGrid>
                <a:gridCol w="1828799"/>
                <a:gridCol w="1828799"/>
                <a:gridCol w="2011679"/>
                <a:gridCol w="1371600"/>
                <a:gridCol w="1463040"/>
              </a:tblGrid>
              <a:tr h="24003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User-Based (Single)</a:t>
                      </a:r>
                    </a:p>
                  </a:txBody>
                  <a:tcPr>
                    <a:solidFill>
                      <a:srgbClr val="1A73E8"/>
                    </a:solidFill>
                  </a:tcPr>
                </a:tc>
                <a:tc>
                  <a:txBody>
                    <a:bodyPr/>
                    <a:lstStyle/>
                    <a:p>
                      <a:pPr algn="ctr"/>
                      <a:r>
                        <a:rPr sz="800" b="1">
                          <a:solidFill>
                            <a:srgbClr val="FFFFFF"/>
                          </a:solidFill>
                        </a:rPr>
                        <a:t>Random Split</a:t>
                      </a:r>
                    </a:p>
                  </a:txBody>
                  <a:tcPr>
                    <a:solidFill>
                      <a:srgbClr val="1A73E8"/>
                    </a:solidFill>
                  </a:tcPr>
                </a:tc>
                <a:tc>
                  <a:txBody>
                    <a:bodyPr/>
                    <a:lstStyle/>
                    <a:p>
                      <a:pPr algn="ctr"/>
                      <a:r>
                        <a:rPr sz="800" b="1">
                          <a:solidFill>
                            <a:srgbClr val="FFFFFF"/>
                          </a:solidFill>
                        </a:rPr>
                        <a:t>Selisih</a:t>
                      </a:r>
                    </a:p>
                  </a:txBody>
                  <a:tcPr>
                    <a:solidFill>
                      <a:srgbClr val="1A73E8"/>
                    </a:solidFill>
                  </a:tcPr>
                </a:tc>
                <a:tc>
                  <a:txBody>
                    <a:bodyPr/>
                    <a:lstStyle/>
                    <a:p>
                      <a:pPr algn="ctr"/>
                      <a:r>
                        <a:rPr sz="800" b="1">
                          <a:solidFill>
                            <a:srgbClr val="FFFFFF"/>
                          </a:solidFill>
                        </a:rPr>
                        <a:t>Kenaikan</a:t>
                      </a:r>
                    </a:p>
                  </a:txBody>
                  <a:tcPr>
                    <a:solidFill>
                      <a:srgbClr val="1A73E8"/>
                    </a:solidFill>
                  </a:tcPr>
                </a:tc>
              </a:tr>
              <a:tr h="240030">
                <a:tc>
                  <a:txBody>
                    <a:bodyPr/>
                    <a:lstStyle/>
                    <a:p>
                      <a:pPr algn="l"/>
                      <a:r>
                        <a:rPr sz="850" b="1">
                          <a:solidFill>
                            <a:srgbClr val="202020"/>
                          </a:solidFill>
                        </a:rPr>
                        <a:t>Intermediate TL</a:t>
                      </a:r>
                    </a:p>
                  </a:txBody>
                  <a:tcPr>
                    <a:solidFill>
                      <a:srgbClr val="E8F0FE"/>
                    </a:solidFill>
                  </a:tcPr>
                </a:tc>
                <a:tc>
                  <a:txBody>
                    <a:bodyPr/>
                    <a:lstStyle/>
                    <a:p>
                      <a:pPr algn="ctr"/>
                      <a:r>
                        <a:rPr sz="850" b="0">
                          <a:solidFill>
                            <a:srgbClr val="202020"/>
                          </a:solidFill>
                        </a:rPr>
                        <a:t>0.412</a:t>
                      </a:r>
                    </a:p>
                  </a:txBody>
                  <a:tcPr>
                    <a:solidFill>
                      <a:srgbClr val="E8F0FE"/>
                    </a:solidFill>
                  </a:tcPr>
                </a:tc>
                <a:tc>
                  <a:txBody>
                    <a:bodyPr/>
                    <a:lstStyle/>
                    <a:p>
                      <a:pPr algn="ctr"/>
                      <a:r>
                        <a:rPr sz="850" b="0">
                          <a:solidFill>
                            <a:srgbClr val="202020"/>
                          </a:solidFill>
                        </a:rPr>
                        <a:t>0.586 +/- 0.032</a:t>
                      </a:r>
                    </a:p>
                  </a:txBody>
                  <a:tcPr>
                    <a:solidFill>
                      <a:srgbClr val="E8F0FE"/>
                    </a:solidFill>
                  </a:tcPr>
                </a:tc>
                <a:tc>
                  <a:txBody>
                    <a:bodyPr/>
                    <a:lstStyle/>
                    <a:p>
                      <a:pPr algn="ctr"/>
                      <a:r>
                        <a:rPr sz="850" b="0">
                          <a:solidFill>
                            <a:srgbClr val="202020"/>
                          </a:solidFill>
                        </a:rPr>
                        <a:t>+0.174</a:t>
                      </a:r>
                    </a:p>
                  </a:txBody>
                  <a:tcPr>
                    <a:solidFill>
                      <a:srgbClr val="E8F0FE"/>
                    </a:solidFill>
                  </a:tcPr>
                </a:tc>
                <a:tc>
                  <a:txBody>
                    <a:bodyPr/>
                    <a:lstStyle/>
                    <a:p>
                      <a:pPr algn="ctr"/>
                      <a:r>
                        <a:rPr sz="850" b="0">
                          <a:solidFill>
                            <a:srgbClr val="202020"/>
                          </a:solidFill>
                        </a:rPr>
                        <a:t>+42%</a:t>
                      </a:r>
                    </a:p>
                  </a:txBody>
                  <a:tcPr>
                    <a:solidFill>
                      <a:srgbClr val="E8F0FE"/>
                    </a:solidFill>
                  </a:tcPr>
                </a:tc>
              </a:tr>
              <a:tr h="240030">
                <a:tc>
                  <a:txBody>
                    <a:bodyPr/>
                    <a:lstStyle/>
                    <a:p>
                      <a:pPr algn="l"/>
                      <a:r>
                        <a:rPr sz="850" b="1">
                          <a:solidFill>
                            <a:srgbClr val="202020"/>
                          </a:solidFill>
                        </a:rPr>
                        <a:t>Late Fusion</a:t>
                      </a:r>
                    </a:p>
                  </a:txBody>
                  <a:tcPr>
                    <a:solidFill>
                      <a:srgbClr val="FFFFFF"/>
                    </a:solidFill>
                  </a:tcPr>
                </a:tc>
                <a:tc>
                  <a:txBody>
                    <a:bodyPr/>
                    <a:lstStyle/>
                    <a:p>
                      <a:pPr algn="ctr"/>
                      <a:r>
                        <a:rPr sz="850" b="0">
                          <a:solidFill>
                            <a:srgbClr val="202020"/>
                          </a:solidFill>
                        </a:rPr>
                        <a:t>0.394</a:t>
                      </a:r>
                    </a:p>
                  </a:txBody>
                  <a:tcPr>
                    <a:solidFill>
                      <a:srgbClr val="FFFFFF"/>
                    </a:solidFill>
                  </a:tcPr>
                </a:tc>
                <a:tc>
                  <a:txBody>
                    <a:bodyPr/>
                    <a:lstStyle/>
                    <a:p>
                      <a:pPr algn="ctr"/>
                      <a:r>
                        <a:rPr sz="850" b="0">
                          <a:solidFill>
                            <a:srgbClr val="202020"/>
                          </a:solidFill>
                        </a:rPr>
                        <a:t>0.580 +/- 0.032</a:t>
                      </a:r>
                    </a:p>
                  </a:txBody>
                  <a:tcPr>
                    <a:solidFill>
                      <a:srgbClr val="FFFFFF"/>
                    </a:solidFill>
                  </a:tcPr>
                </a:tc>
                <a:tc>
                  <a:txBody>
                    <a:bodyPr/>
                    <a:lstStyle/>
                    <a:p>
                      <a:pPr algn="ctr"/>
                      <a:r>
                        <a:rPr sz="850" b="0">
                          <a:solidFill>
                            <a:srgbClr val="202020"/>
                          </a:solidFill>
                        </a:rPr>
                        <a:t>+0.186</a:t>
                      </a:r>
                    </a:p>
                  </a:txBody>
                  <a:tcPr>
                    <a:solidFill>
                      <a:srgbClr val="FFFFFF"/>
                    </a:solidFill>
                  </a:tcPr>
                </a:tc>
                <a:tc>
                  <a:txBody>
                    <a:bodyPr/>
                    <a:lstStyle/>
                    <a:p>
                      <a:pPr algn="ctr"/>
                      <a:r>
                        <a:rPr sz="850" b="0">
                          <a:solidFill>
                            <a:srgbClr val="202020"/>
                          </a:solidFill>
                        </a:rPr>
                        <a:t>+47%</a:t>
                      </a:r>
                    </a:p>
                  </a:txBody>
                  <a:tcPr>
                    <a:solidFill>
                      <a:srgbClr val="FFFFFF"/>
                    </a:solidFill>
                  </a:tcPr>
                </a:tc>
              </a:tr>
              <a:tr h="240030">
                <a:tc>
                  <a:txBody>
                    <a:bodyPr/>
                    <a:lstStyle/>
                    <a:p>
                      <a:pPr algn="l"/>
                      <a:r>
                        <a:rPr sz="850" b="1">
                          <a:solidFill>
                            <a:srgbClr val="202020"/>
                          </a:solidFill>
                        </a:rPr>
                        <a:t>FCNN</a:t>
                      </a:r>
                    </a:p>
                  </a:txBody>
                  <a:tcPr>
                    <a:solidFill>
                      <a:srgbClr val="E8F0FE"/>
                    </a:solidFill>
                  </a:tcPr>
                </a:tc>
                <a:tc>
                  <a:txBody>
                    <a:bodyPr/>
                    <a:lstStyle/>
                    <a:p>
                      <a:pPr algn="ctr"/>
                      <a:r>
                        <a:rPr sz="850" b="0">
                          <a:solidFill>
                            <a:srgbClr val="202020"/>
                          </a:solidFill>
                        </a:rPr>
                        <a:t>0.361</a:t>
                      </a:r>
                    </a:p>
                  </a:txBody>
                  <a:tcPr>
                    <a:solidFill>
                      <a:srgbClr val="E8F0FE"/>
                    </a:solidFill>
                  </a:tcPr>
                </a:tc>
                <a:tc>
                  <a:txBody>
                    <a:bodyPr/>
                    <a:lstStyle/>
                    <a:p>
                      <a:pPr algn="ctr"/>
                      <a:r>
                        <a:rPr sz="850" b="0">
                          <a:solidFill>
                            <a:srgbClr val="202020"/>
                          </a:solidFill>
                        </a:rPr>
                        <a:t>0.471 +/- 0.026</a:t>
                      </a:r>
                    </a:p>
                  </a:txBody>
                  <a:tcPr>
                    <a:solidFill>
                      <a:srgbClr val="E8F0FE"/>
                    </a:solidFill>
                  </a:tcPr>
                </a:tc>
                <a:tc>
                  <a:txBody>
                    <a:bodyPr/>
                    <a:lstStyle/>
                    <a:p>
                      <a:pPr algn="ctr"/>
                      <a:r>
                        <a:rPr sz="850" b="0">
                          <a:solidFill>
                            <a:srgbClr val="202020"/>
                          </a:solidFill>
                        </a:rPr>
                        <a:t>+0.110</a:t>
                      </a:r>
                    </a:p>
                  </a:txBody>
                  <a:tcPr>
                    <a:solidFill>
                      <a:srgbClr val="E8F0FE"/>
                    </a:solidFill>
                  </a:tcPr>
                </a:tc>
                <a:tc>
                  <a:txBody>
                    <a:bodyPr/>
                    <a:lstStyle/>
                    <a:p>
                      <a:pPr algn="ctr"/>
                      <a:r>
                        <a:rPr sz="850" b="0">
                          <a:solidFill>
                            <a:srgbClr val="202020"/>
                          </a:solidFill>
                        </a:rPr>
                        <a:t>+30%</a:t>
                      </a:r>
                    </a:p>
                  </a:txBody>
                  <a:tcPr>
                    <a:solidFill>
                      <a:srgbClr val="E8F0FE"/>
                    </a:solidFill>
                  </a:tcPr>
                </a:tc>
              </a:tr>
            </a:tbl>
          </a:graphicData>
        </a:graphic>
      </p:graphicFrame>
      <p:sp>
        <p:nvSpPr>
          <p:cNvPr id="7" name="TextBox 6"/>
          <p:cNvSpPr txBox="1"/>
          <p:nvPr/>
        </p:nvSpPr>
        <p:spPr>
          <a:xfrm>
            <a:off x="274320" y="3611880"/>
            <a:ext cx="8503920" cy="320040"/>
          </a:xfrm>
          <a:prstGeom prst="rect">
            <a:avLst/>
          </a:prstGeom>
          <a:solidFill>
            <a:srgbClr val="E8F0FE"/>
          </a:solidFill>
        </p:spPr>
        <p:txBody>
          <a:bodyPr wrap="square">
            <a:spAutoFit/>
          </a:bodyPr>
          <a:lstStyle/>
          <a:p>
            <a:pPr algn="ctr"/>
            <a:r>
              <a:rPr sz="900" b="1">
                <a:solidFill>
                  <a:srgbClr val="202020"/>
                </a:solidFill>
              </a:rPr>
              <a:t>Kesimpulan: Random Split (0.586) &gt;&gt; Single Split (0.412) &gt; LOSO (0.370) — semakin ketat evaluasi, semakin jujur hasilnya. User-based split wajib digunakan.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Evaluasi Robustness: LOSO, 5-Fold CV, Random Split</a:t>
            </a:r>
          </a:p>
        </p:txBody>
      </p:sp>
      <p:graphicFrame>
        <p:nvGraphicFramePr>
          <p:cNvPr id="3" name="Table 2"/>
          <p:cNvGraphicFramePr>
            <a:graphicFrameLocks noGrp="1"/>
          </p:cNvGraphicFramePr>
          <p:nvPr/>
        </p:nvGraphicFramePr>
        <p:xfrm>
          <a:off x="274320" y="685800"/>
          <a:ext cx="8595360" cy="1143000"/>
        </p:xfrm>
        <a:graphic>
          <a:graphicData uri="http://schemas.openxmlformats.org/drawingml/2006/table">
            <a:tbl>
              <a:tblPr firstRow="1" bandRow="1"/>
              <a:tblGrid>
                <a:gridCol w="1828800"/>
                <a:gridCol w="3200400"/>
                <a:gridCol w="1097280"/>
                <a:gridCol w="2468880"/>
              </a:tblGrid>
              <a:tr h="285750">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Cara</a:t>
                      </a:r>
                    </a:p>
                  </a:txBody>
                  <a:tcPr>
                    <a:solidFill>
                      <a:srgbClr val="1A73E8"/>
                    </a:solidFill>
                  </a:tcPr>
                </a:tc>
                <a:tc>
                  <a:txBody>
                    <a:bodyPr/>
                    <a:lstStyle/>
                    <a:p>
                      <a:pPr algn="ctr"/>
                      <a:r>
                        <a:rPr sz="1000" b="1">
                          <a:solidFill>
                            <a:srgbClr val="FFFFFF"/>
                          </a:solidFill>
                        </a:rPr>
                        <a:t>Fold</a:t>
                      </a:r>
                    </a:p>
                  </a:txBody>
                  <a:tcPr>
                    <a:solidFill>
                      <a:srgbClr val="1A73E8"/>
                    </a:solidFill>
                  </a:tcPr>
                </a:tc>
                <a:tc>
                  <a:txBody>
                    <a:bodyPr/>
                    <a:lstStyle/>
                    <a:p>
                      <a:pPr algn="ctr"/>
                      <a:r>
                        <a:rPr sz="1000" b="1">
                          <a:solidFill>
                            <a:srgbClr val="FFFFFF"/>
                          </a:solidFill>
                        </a:rPr>
                        <a:t>Data Leakage?</a:t>
                      </a:r>
                    </a:p>
                  </a:txBody>
                  <a:tcPr>
                    <a:solidFill>
                      <a:srgbClr val="1A73E8"/>
                    </a:solidFill>
                  </a:tcPr>
                </a:tc>
              </a:tr>
              <a:tr h="285750">
                <a:tc>
                  <a:txBody>
                    <a:bodyPr/>
                    <a:lstStyle/>
                    <a:p>
                      <a:pPr algn="l"/>
                      <a:r>
                        <a:rPr sz="1000" b="1">
                          <a:solidFill>
                            <a:srgbClr val="202020"/>
                          </a:solidFill>
                        </a:rPr>
                        <a:t>LOSO</a:t>
                      </a:r>
                    </a:p>
                  </a:txBody>
                  <a:tcPr>
                    <a:solidFill>
                      <a:srgbClr val="E8F0FE"/>
                    </a:solidFill>
                  </a:tcPr>
                </a:tc>
                <a:tc>
                  <a:txBody>
                    <a:bodyPr/>
                    <a:lstStyle/>
                    <a:p>
                      <a:pPr algn="l"/>
                      <a:r>
                        <a:rPr sz="1000" b="0">
                          <a:solidFill>
                            <a:srgbClr val="202020"/>
                          </a:solidFill>
                        </a:rPr>
                        <a:t>1 user = 1 test set, rotasi</a:t>
                      </a:r>
                    </a:p>
                  </a:txBody>
                  <a:tcPr>
                    <a:solidFill>
                      <a:srgbClr val="E8F0FE"/>
                    </a:solidFill>
                  </a:tcPr>
                </a:tc>
                <a:tc>
                  <a:txBody>
                    <a:bodyPr/>
                    <a:lstStyle/>
                    <a:p>
                      <a:pPr algn="ctr"/>
                      <a:r>
                        <a:rPr sz="1000" b="0">
                          <a:solidFill>
                            <a:srgbClr val="202020"/>
                          </a:solidFill>
                        </a:rPr>
                        <a:t>37</a:t>
                      </a:r>
                    </a:p>
                  </a:txBody>
                  <a:tcPr>
                    <a:solidFill>
                      <a:srgbClr val="E8F0FE"/>
                    </a:solidFill>
                  </a:tcPr>
                </a:tc>
                <a:tc>
                  <a:txBody>
                    <a:bodyPr/>
                    <a:lstStyle/>
                    <a:p>
                      <a:pPr algn="ctr"/>
                      <a:r>
                        <a:rPr sz="1000" b="0">
                          <a:solidFill>
                            <a:srgbClr val="202020"/>
                          </a:solidFill>
                        </a:rPr>
                        <a:t>Tidak</a:t>
                      </a:r>
                    </a:p>
                  </a:txBody>
                  <a:tcPr>
                    <a:solidFill>
                      <a:srgbClr val="E8F0FE"/>
                    </a:solidFill>
                  </a:tcPr>
                </a:tc>
              </a:tr>
              <a:tr h="285750">
                <a:tc>
                  <a:txBody>
                    <a:bodyPr/>
                    <a:lstStyle/>
                    <a:p>
                      <a:pPr algn="l"/>
                      <a:r>
                        <a:rPr sz="1000" b="1">
                          <a:solidFill>
                            <a:srgbClr val="202020"/>
                          </a:solidFill>
                        </a:rPr>
                        <a:t>5-Fold CV</a:t>
                      </a:r>
                    </a:p>
                  </a:txBody>
                  <a:tcPr>
                    <a:solidFill>
                      <a:srgbClr val="FFFFFF"/>
                    </a:solidFill>
                  </a:tcPr>
                </a:tc>
                <a:tc>
                  <a:txBody>
                    <a:bodyPr/>
                    <a:lstStyle/>
                    <a:p>
                      <a:pPr algn="l"/>
                      <a:r>
                        <a:rPr sz="1000" b="0">
                          <a:solidFill>
                            <a:srgbClr val="202020"/>
                          </a:solidFill>
                        </a:rPr>
                        <a:t>User dibagi 5 grup, rotasi</a:t>
                      </a:r>
                    </a:p>
                  </a:txBody>
                  <a:tcPr>
                    <a:solidFill>
                      <a:srgbClr val="FFFFFF"/>
                    </a:solidFill>
                  </a:tcPr>
                </a:tc>
                <a:tc>
                  <a:txBody>
                    <a:bodyPr/>
                    <a:lstStyle/>
                    <a:p>
                      <a:pPr algn="ctr"/>
                      <a:r>
                        <a:rPr sz="1000" b="0">
                          <a:solidFill>
                            <a:srgbClr val="202020"/>
                          </a:solidFill>
                        </a:rPr>
                        <a:t>5</a:t>
                      </a:r>
                    </a:p>
                  </a:txBody>
                  <a:tcPr>
                    <a:solidFill>
                      <a:srgbClr val="FFFFFF"/>
                    </a:solidFill>
                  </a:tcPr>
                </a:tc>
                <a:tc>
                  <a:txBody>
                    <a:bodyPr/>
                    <a:lstStyle/>
                    <a:p>
                      <a:pPr algn="ctr"/>
                      <a:r>
                        <a:rPr sz="1000" b="0">
                          <a:solidFill>
                            <a:srgbClr val="202020"/>
                          </a:solidFill>
                        </a:rPr>
                        <a:t>Tidak</a:t>
                      </a:r>
                    </a:p>
                  </a:txBody>
                  <a:tcPr>
                    <a:solidFill>
                      <a:srgbClr val="FFFFFF"/>
                    </a:solidFill>
                  </a:tcPr>
                </a:tc>
              </a:tr>
              <a:tr h="285750">
                <a:tc>
                  <a:txBody>
                    <a:bodyPr/>
                    <a:lstStyle/>
                    <a:p>
                      <a:pPr algn="l"/>
                      <a:r>
                        <a:rPr sz="1000" b="1">
                          <a:solidFill>
                            <a:srgbClr val="202020"/>
                          </a:solidFill>
                        </a:rPr>
                        <a:t>Random Split</a:t>
                      </a:r>
                    </a:p>
                  </a:txBody>
                  <a:tcPr>
                    <a:solidFill>
                      <a:srgbClr val="E8F0FE"/>
                    </a:solidFill>
                  </a:tcPr>
                </a:tc>
                <a:tc>
                  <a:txBody>
                    <a:bodyPr/>
                    <a:lstStyle/>
                    <a:p>
                      <a:pPr algn="l"/>
                      <a:r>
                        <a:rPr sz="1000" b="0">
                          <a:solidFill>
                            <a:srgbClr val="202020"/>
                          </a:solidFill>
                        </a:rPr>
                        <a:t>Sampel diacak tanpa peduli user</a:t>
                      </a:r>
                    </a:p>
                  </a:txBody>
                  <a:tcPr>
                    <a:solidFill>
                      <a:srgbClr val="E8F0FE"/>
                    </a:solidFill>
                  </a:tcPr>
                </a:tc>
                <a:tc>
                  <a:txBody>
                    <a:bodyPr/>
                    <a:lstStyle/>
                    <a:p>
                      <a:pPr algn="ctr"/>
                      <a:r>
                        <a:rPr sz="1000" b="0">
                          <a:solidFill>
                            <a:srgbClr val="202020"/>
                          </a:solidFill>
                        </a:rPr>
                        <a:t>5x</a:t>
                      </a:r>
                    </a:p>
                  </a:txBody>
                  <a:tcPr>
                    <a:solidFill>
                      <a:srgbClr val="E8F0FE"/>
                    </a:solidFill>
                  </a:tcPr>
                </a:tc>
                <a:tc>
                  <a:txBody>
                    <a:bodyPr/>
                    <a:lstStyle/>
                    <a:p>
                      <a:pPr algn="ctr"/>
                      <a:r>
                        <a:rPr sz="1000" b="0">
                          <a:solidFill>
                            <a:srgbClr val="202020"/>
                          </a:solidFill>
                        </a:rPr>
                        <a:t>Ya (baseline)</a:t>
                      </a:r>
                    </a:p>
                  </a:txBody>
                  <a:tcPr>
                    <a:solidFill>
                      <a:srgbClr val="E8F0FE"/>
                    </a:solidFill>
                  </a:tcPr>
                </a:tc>
              </a:tr>
            </a:tbl>
          </a:graphicData>
        </a:graphic>
      </p:graphicFrame>
      <p:graphicFrame>
        <p:nvGraphicFramePr>
          <p:cNvPr id="4" name="Table 3"/>
          <p:cNvGraphicFramePr>
            <a:graphicFrameLocks noGrp="1"/>
          </p:cNvGraphicFramePr>
          <p:nvPr/>
        </p:nvGraphicFramePr>
        <p:xfrm>
          <a:off x="274320" y="2011680"/>
          <a:ext cx="8595360" cy="1143000"/>
        </p:xfrm>
        <a:graphic>
          <a:graphicData uri="http://schemas.openxmlformats.org/drawingml/2006/table">
            <a:tbl>
              <a:tblPr firstRow="1" bandRow="1"/>
              <a:tblGrid>
                <a:gridCol w="2011680"/>
                <a:gridCol w="1371600"/>
                <a:gridCol w="1828800"/>
                <a:gridCol w="1691640"/>
                <a:gridCol w="1691640"/>
              </a:tblGrid>
              <a:tr h="285750">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Single Split</a:t>
                      </a:r>
                    </a:p>
                  </a:txBody>
                  <a:tcPr>
                    <a:solidFill>
                      <a:srgbClr val="1A73E8"/>
                    </a:solidFill>
                  </a:tcPr>
                </a:tc>
                <a:tc>
                  <a:txBody>
                    <a:bodyPr/>
                    <a:lstStyle/>
                    <a:p>
                      <a:pPr algn="ctr"/>
                      <a:r>
                        <a:rPr sz="1000" b="1">
                          <a:solidFill>
                            <a:srgbClr val="FFFFFF"/>
                          </a:solidFill>
                        </a:rPr>
                        <a:t>Random Split</a:t>
                      </a:r>
                    </a:p>
                  </a:txBody>
                  <a:tcPr>
                    <a:solidFill>
                      <a:srgbClr val="1A73E8"/>
                    </a:solidFill>
                  </a:tcPr>
                </a:tc>
                <a:tc>
                  <a:txBody>
                    <a:bodyPr/>
                    <a:lstStyle/>
                    <a:p>
                      <a:pPr algn="ctr"/>
                      <a:r>
                        <a:rPr sz="1000" b="1">
                          <a:solidFill>
                            <a:srgbClr val="FFFFFF"/>
                          </a:solidFill>
                        </a:rPr>
                        <a:t>5-Fold CV</a:t>
                      </a:r>
                    </a:p>
                  </a:txBody>
                  <a:tcPr>
                    <a:solidFill>
                      <a:srgbClr val="1A73E8"/>
                    </a:solidFill>
                  </a:tcPr>
                </a:tc>
                <a:tc>
                  <a:txBody>
                    <a:bodyPr/>
                    <a:lstStyle/>
                    <a:p>
                      <a:pPr algn="ctr"/>
                      <a:r>
                        <a:rPr sz="1000" b="1">
                          <a:solidFill>
                            <a:srgbClr val="FFFFFF"/>
                          </a:solidFill>
                        </a:rPr>
                        <a:t>LOSO</a:t>
                      </a:r>
                    </a:p>
                  </a:txBody>
                  <a:tcPr>
                    <a:solidFill>
                      <a:srgbClr val="1A73E8"/>
                    </a:solidFill>
                  </a:tcPr>
                </a:tc>
              </a:tr>
              <a:tr h="285750">
                <a:tc>
                  <a:txBody>
                    <a:bodyPr/>
                    <a:lstStyle/>
                    <a:p>
                      <a:pPr algn="l"/>
                      <a:r>
                        <a:rPr sz="1000" b="1">
                          <a:solidFill>
                            <a:srgbClr val="202020"/>
                          </a:solidFill>
                        </a:rPr>
                        <a:t>Intermediate TL</a:t>
                      </a:r>
                    </a:p>
                  </a:txBody>
                  <a:tcPr>
                    <a:solidFill>
                      <a:srgbClr val="E8F0FE"/>
                    </a:solidFill>
                  </a:tcPr>
                </a:tc>
                <a:tc>
                  <a:txBody>
                    <a:bodyPr/>
                    <a:lstStyle/>
                    <a:p>
                      <a:pPr algn="l"/>
                      <a:r>
                        <a:rPr sz="1000" b="0">
                          <a:solidFill>
                            <a:srgbClr val="202020"/>
                          </a:solidFill>
                        </a:rPr>
                        <a:t>0.412</a:t>
                      </a:r>
                    </a:p>
                  </a:txBody>
                  <a:tcPr>
                    <a:solidFill>
                      <a:srgbClr val="E8F0FE"/>
                    </a:solidFill>
                  </a:tcPr>
                </a:tc>
                <a:tc>
                  <a:txBody>
                    <a:bodyPr/>
                    <a:lstStyle/>
                    <a:p>
                      <a:pPr algn="ctr"/>
                      <a:r>
                        <a:rPr sz="1000" b="0">
                          <a:solidFill>
                            <a:srgbClr val="202020"/>
                          </a:solidFill>
                        </a:rPr>
                        <a:t>0.586 +/- 0.032</a:t>
                      </a:r>
                    </a:p>
                  </a:txBody>
                  <a:tcPr>
                    <a:solidFill>
                      <a:srgbClr val="E8F0FE"/>
                    </a:solidFill>
                  </a:tcPr>
                </a:tc>
                <a:tc>
                  <a:txBody>
                    <a:bodyPr/>
                    <a:lstStyle/>
                    <a:p>
                      <a:pPr algn="l"/>
                      <a:r>
                        <a:rPr sz="1000" b="1">
                          <a:solidFill>
                            <a:srgbClr val="202020"/>
                          </a:solidFill>
                        </a:rPr>
                        <a:t>0.435 +/- 0.068</a:t>
                      </a:r>
                    </a:p>
                  </a:txBody>
                  <a:tcPr>
                    <a:solidFill>
                      <a:srgbClr val="E8F0FE"/>
                    </a:solidFill>
                  </a:tcPr>
                </a:tc>
                <a:tc>
                  <a:txBody>
                    <a:bodyPr/>
                    <a:lstStyle/>
                    <a:p>
                      <a:pPr algn="ctr"/>
                      <a:r>
                        <a:rPr sz="1000" b="0">
                          <a:solidFill>
                            <a:srgbClr val="202020"/>
                          </a:solidFill>
                        </a:rPr>
                        <a:t>0.370 +/- 0.125</a:t>
                      </a:r>
                    </a:p>
                  </a:txBody>
                  <a:tcPr>
                    <a:solidFill>
                      <a:srgbClr val="E8F0FE"/>
                    </a:solidFill>
                  </a:tcPr>
                </a:tc>
              </a:tr>
              <a:tr h="285750">
                <a:tc>
                  <a:txBody>
                    <a:bodyPr/>
                    <a:lstStyle/>
                    <a:p>
                      <a:pPr algn="l"/>
                      <a:r>
                        <a:rPr sz="1000" b="1">
                          <a:solidFill>
                            <a:srgbClr val="202020"/>
                          </a:solidFill>
                        </a:rPr>
                        <a:t>Late Fusion</a:t>
                      </a:r>
                    </a:p>
                  </a:txBody>
                  <a:tcPr>
                    <a:solidFill>
                      <a:srgbClr val="FFFFFF"/>
                    </a:solidFill>
                  </a:tcPr>
                </a:tc>
                <a:tc>
                  <a:txBody>
                    <a:bodyPr/>
                    <a:lstStyle/>
                    <a:p>
                      <a:pPr algn="l"/>
                      <a:r>
                        <a:rPr sz="1000" b="0">
                          <a:solidFill>
                            <a:srgbClr val="202020"/>
                          </a:solidFill>
                        </a:rPr>
                        <a:t>0.394</a:t>
                      </a:r>
                    </a:p>
                  </a:txBody>
                  <a:tcPr>
                    <a:solidFill>
                      <a:srgbClr val="FFFFFF"/>
                    </a:solidFill>
                  </a:tcPr>
                </a:tc>
                <a:tc>
                  <a:txBody>
                    <a:bodyPr/>
                    <a:lstStyle/>
                    <a:p>
                      <a:pPr algn="ctr"/>
                      <a:r>
                        <a:rPr sz="1000" b="0">
                          <a:solidFill>
                            <a:srgbClr val="202020"/>
                          </a:solidFill>
                        </a:rPr>
                        <a:t>0.580 +/- 0.032</a:t>
                      </a:r>
                    </a:p>
                  </a:txBody>
                  <a:tcPr>
                    <a:solidFill>
                      <a:srgbClr val="FFFFFF"/>
                    </a:solidFill>
                  </a:tcPr>
                </a:tc>
                <a:tc>
                  <a:txBody>
                    <a:bodyPr/>
                    <a:lstStyle/>
                    <a:p>
                      <a:pPr algn="ctr"/>
                      <a:r>
                        <a:rPr sz="1000" b="0">
                          <a:solidFill>
                            <a:srgbClr val="202020"/>
                          </a:solidFill>
                        </a:rPr>
                        <a:t>pending</a:t>
                      </a:r>
                    </a:p>
                  </a:txBody>
                  <a:tcPr>
                    <a:solidFill>
                      <a:srgbClr val="FFFFFF"/>
                    </a:solidFill>
                  </a:tcPr>
                </a:tc>
                <a:tc>
                  <a:txBody>
                    <a:bodyPr/>
                    <a:lstStyle/>
                    <a:p>
                      <a:pPr algn="ctr"/>
                      <a:r>
                        <a:rPr sz="1000" b="0">
                          <a:solidFill>
                            <a:srgbClr val="202020"/>
                          </a:solidFill>
                        </a:rPr>
                        <a:t>pending</a:t>
                      </a:r>
                    </a:p>
                  </a:txBody>
                  <a:tcPr>
                    <a:solidFill>
                      <a:srgbClr val="FFFFFF"/>
                    </a:solidFill>
                  </a:tcPr>
                </a:tc>
              </a:tr>
              <a:tr h="285750">
                <a:tc>
                  <a:txBody>
                    <a:bodyPr/>
                    <a:lstStyle/>
                    <a:p>
                      <a:pPr algn="l"/>
                      <a:r>
                        <a:rPr sz="1000" b="1">
                          <a:solidFill>
                            <a:srgbClr val="202020"/>
                          </a:solidFill>
                        </a:rPr>
                        <a:t>FCNN</a:t>
                      </a:r>
                    </a:p>
                  </a:txBody>
                  <a:tcPr>
                    <a:solidFill>
                      <a:srgbClr val="E8F0FE"/>
                    </a:solidFill>
                  </a:tcPr>
                </a:tc>
                <a:tc>
                  <a:txBody>
                    <a:bodyPr/>
                    <a:lstStyle/>
                    <a:p>
                      <a:pPr algn="l"/>
                      <a:r>
                        <a:rPr sz="1000" b="0">
                          <a:solidFill>
                            <a:srgbClr val="202020"/>
                          </a:solidFill>
                        </a:rPr>
                        <a:t>0.361</a:t>
                      </a:r>
                    </a:p>
                  </a:txBody>
                  <a:tcPr>
                    <a:solidFill>
                      <a:srgbClr val="E8F0FE"/>
                    </a:solidFill>
                  </a:tcPr>
                </a:tc>
                <a:tc>
                  <a:txBody>
                    <a:bodyPr/>
                    <a:lstStyle/>
                    <a:p>
                      <a:pPr algn="ctr"/>
                      <a:r>
                        <a:rPr sz="1000" b="0">
                          <a:solidFill>
                            <a:srgbClr val="202020"/>
                          </a:solidFill>
                        </a:rPr>
                        <a:t>0.471 +/- 0.026</a:t>
                      </a:r>
                    </a:p>
                  </a:txBody>
                  <a:tcPr>
                    <a:solidFill>
                      <a:srgbClr val="E8F0FE"/>
                    </a:solidFill>
                  </a:tcPr>
                </a:tc>
                <a:tc>
                  <a:txBody>
                    <a:bodyPr/>
                    <a:lstStyle/>
                    <a:p>
                      <a:pPr algn="ctr"/>
                      <a:r>
                        <a:rPr sz="1000" b="0">
                          <a:solidFill>
                            <a:srgbClr val="202020"/>
                          </a:solidFill>
                        </a:rPr>
                        <a:t>pending</a:t>
                      </a:r>
                    </a:p>
                  </a:txBody>
                  <a:tcPr>
                    <a:solidFill>
                      <a:srgbClr val="E8F0FE"/>
                    </a:solidFill>
                  </a:tcPr>
                </a:tc>
                <a:tc>
                  <a:txBody>
                    <a:bodyPr/>
                    <a:lstStyle/>
                    <a:p>
                      <a:pPr algn="ctr"/>
                      <a:r>
                        <a:rPr sz="1000" b="0">
                          <a:solidFill>
                            <a:srgbClr val="202020"/>
                          </a:solidFill>
                        </a:rPr>
                        <a:t>pending</a:t>
                      </a:r>
                    </a:p>
                  </a:txBody>
                  <a:tcPr>
                    <a:solidFill>
                      <a:srgbClr val="E8F0FE"/>
                    </a:solidFill>
                  </a:tcPr>
                </a:tc>
              </a:tr>
            </a:tbl>
          </a:graphicData>
        </a:graphic>
      </p:graphicFrame>
      <p:sp>
        <p:nvSpPr>
          <p:cNvPr id="5" name="TextBox 4"/>
          <p:cNvSpPr txBox="1"/>
          <p:nvPr/>
        </p:nvSpPr>
        <p:spPr>
          <a:xfrm>
            <a:off x="274320" y="3291840"/>
            <a:ext cx="8595360" cy="320040"/>
          </a:xfrm>
          <a:prstGeom prst="rect">
            <a:avLst/>
          </a:prstGeom>
          <a:noFill/>
        </p:spPr>
        <p:txBody>
          <a:bodyPr wrap="none">
            <a:spAutoFit/>
          </a:bodyPr>
          <a:lstStyle/>
          <a:p>
            <a:pPr algn="ctr"/>
            <a:r>
              <a:rPr sz="1000" b="0" i="1">
                <a:solidFill>
                  <a:srgbClr val="666666"/>
                </a:solidFill>
              </a:rPr>
              <a:t>Pola: Random (0.586) &gt;&gt; Single (0.412) &gt; LOSO (0.370) -- semakin ketat, semakin jujur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Temuan: Bukti Data Leakage &amp; Pentingnya User-Based Split</a:t>
            </a:r>
          </a:p>
        </p:txBody>
      </p:sp>
      <p:graphicFrame>
        <p:nvGraphicFramePr>
          <p:cNvPr id="3" name="Table 2"/>
          <p:cNvGraphicFramePr>
            <a:graphicFrameLocks noGrp="1"/>
          </p:cNvGraphicFramePr>
          <p:nvPr/>
        </p:nvGraphicFramePr>
        <p:xfrm>
          <a:off x="274320" y="731520"/>
          <a:ext cx="8595360" cy="1097280"/>
        </p:xfrm>
        <a:graphic>
          <a:graphicData uri="http://schemas.openxmlformats.org/drawingml/2006/table">
            <a:tbl>
              <a:tblPr firstRow="1" bandRow="1"/>
              <a:tblGrid>
                <a:gridCol w="2011680"/>
                <a:gridCol w="1645920"/>
                <a:gridCol w="1645920"/>
                <a:gridCol w="1645920"/>
                <a:gridCol w="1645920"/>
              </a:tblGrid>
              <a:tr h="274320">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User-Based</a:t>
                      </a:r>
                    </a:p>
                  </a:txBody>
                  <a:tcPr>
                    <a:solidFill>
                      <a:srgbClr val="1A73E8"/>
                    </a:solidFill>
                  </a:tcPr>
                </a:tc>
                <a:tc>
                  <a:txBody>
                    <a:bodyPr/>
                    <a:lstStyle/>
                    <a:p>
                      <a:pPr algn="ctr"/>
                      <a:r>
                        <a:rPr sz="1000" b="1">
                          <a:solidFill>
                            <a:srgbClr val="FFFFFF"/>
                          </a:solidFill>
                        </a:rPr>
                        <a:t>Random Split</a:t>
                      </a:r>
                    </a:p>
                  </a:txBody>
                  <a:tcPr>
                    <a:solidFill>
                      <a:srgbClr val="1A73E8"/>
                    </a:solidFill>
                  </a:tcPr>
                </a:tc>
                <a:tc>
                  <a:txBody>
                    <a:bodyPr/>
                    <a:lstStyle/>
                    <a:p>
                      <a:pPr algn="ctr"/>
                      <a:r>
                        <a:rPr sz="1000" b="1">
                          <a:solidFill>
                            <a:srgbClr val="FFFFFF"/>
                          </a:solidFill>
                        </a:rPr>
                        <a:t>Selisih</a:t>
                      </a:r>
                    </a:p>
                  </a:txBody>
                  <a:tcPr>
                    <a:solidFill>
                      <a:srgbClr val="1A73E8"/>
                    </a:solidFill>
                  </a:tcPr>
                </a:tc>
                <a:tc>
                  <a:txBody>
                    <a:bodyPr/>
                    <a:lstStyle/>
                    <a:p>
                      <a:pPr algn="ctr"/>
                      <a:r>
                        <a:rPr sz="1000" b="1">
                          <a:solidFill>
                            <a:srgbClr val="FFFFFF"/>
                          </a:solidFill>
                        </a:rPr>
                        <a:t>Kenaikan</a:t>
                      </a:r>
                    </a:p>
                  </a:txBody>
                  <a:tcPr>
                    <a:solidFill>
                      <a:srgbClr val="1A73E8"/>
                    </a:solidFill>
                  </a:tcPr>
                </a:tc>
              </a:tr>
              <a:tr h="274320">
                <a:tc>
                  <a:txBody>
                    <a:bodyPr/>
                    <a:lstStyle/>
                    <a:p>
                      <a:pPr algn="l"/>
                      <a:r>
                        <a:rPr sz="1000" b="1">
                          <a:solidFill>
                            <a:srgbClr val="202020"/>
                          </a:solidFill>
                        </a:rPr>
                        <a:t>Intermediate TL</a:t>
                      </a:r>
                    </a:p>
                  </a:txBody>
                  <a:tcPr>
                    <a:solidFill>
                      <a:srgbClr val="E8F0FE"/>
                    </a:solidFill>
                  </a:tcPr>
                </a:tc>
                <a:tc>
                  <a:txBody>
                    <a:bodyPr/>
                    <a:lstStyle/>
                    <a:p>
                      <a:pPr algn="l"/>
                      <a:r>
                        <a:rPr sz="1000" b="0">
                          <a:solidFill>
                            <a:srgbClr val="202020"/>
                          </a:solidFill>
                        </a:rPr>
                        <a:t>0.412</a:t>
                      </a:r>
                    </a:p>
                  </a:txBody>
                  <a:tcPr>
                    <a:solidFill>
                      <a:srgbClr val="E8F0FE"/>
                    </a:solidFill>
                  </a:tcPr>
                </a:tc>
                <a:tc>
                  <a:txBody>
                    <a:bodyPr/>
                    <a:lstStyle/>
                    <a:p>
                      <a:pPr algn="ctr"/>
                      <a:r>
                        <a:rPr sz="1000" b="0">
                          <a:solidFill>
                            <a:srgbClr val="202020"/>
                          </a:solidFill>
                        </a:rPr>
                        <a:t>0.586</a:t>
                      </a:r>
                    </a:p>
                  </a:txBody>
                  <a:tcPr>
                    <a:solidFill>
                      <a:srgbClr val="E8F0FE"/>
                    </a:solidFill>
                  </a:tcPr>
                </a:tc>
                <a:tc>
                  <a:txBody>
                    <a:bodyPr/>
                    <a:lstStyle/>
                    <a:p>
                      <a:pPr algn="ctr"/>
                      <a:r>
                        <a:rPr sz="1000" b="0">
                          <a:solidFill>
                            <a:srgbClr val="202020"/>
                          </a:solidFill>
                        </a:rPr>
                        <a:t>+0.174</a:t>
                      </a:r>
                    </a:p>
                  </a:txBody>
                  <a:tcPr>
                    <a:solidFill>
                      <a:srgbClr val="E8F0FE"/>
                    </a:solidFill>
                  </a:tcPr>
                </a:tc>
                <a:tc>
                  <a:txBody>
                    <a:bodyPr/>
                    <a:lstStyle/>
                    <a:p>
                      <a:pPr algn="ctr"/>
                      <a:r>
                        <a:rPr sz="1000" b="0">
                          <a:solidFill>
                            <a:srgbClr val="202020"/>
                          </a:solidFill>
                        </a:rPr>
                        <a:t>+42%</a:t>
                      </a:r>
                    </a:p>
                  </a:txBody>
                  <a:tcPr>
                    <a:solidFill>
                      <a:srgbClr val="E8F0FE"/>
                    </a:solidFill>
                  </a:tcPr>
                </a:tc>
              </a:tr>
              <a:tr h="274320">
                <a:tc>
                  <a:txBody>
                    <a:bodyPr/>
                    <a:lstStyle/>
                    <a:p>
                      <a:pPr algn="l"/>
                      <a:r>
                        <a:rPr sz="1000" b="1">
                          <a:solidFill>
                            <a:srgbClr val="202020"/>
                          </a:solidFill>
                        </a:rPr>
                        <a:t>Late Fusion</a:t>
                      </a:r>
                    </a:p>
                  </a:txBody>
                  <a:tcPr>
                    <a:solidFill>
                      <a:srgbClr val="FFFFFF"/>
                    </a:solidFill>
                  </a:tcPr>
                </a:tc>
                <a:tc>
                  <a:txBody>
                    <a:bodyPr/>
                    <a:lstStyle/>
                    <a:p>
                      <a:pPr algn="l"/>
                      <a:r>
                        <a:rPr sz="1000" b="0">
                          <a:solidFill>
                            <a:srgbClr val="202020"/>
                          </a:solidFill>
                        </a:rPr>
                        <a:t>0.394</a:t>
                      </a:r>
                    </a:p>
                  </a:txBody>
                  <a:tcPr>
                    <a:solidFill>
                      <a:srgbClr val="FFFFFF"/>
                    </a:solidFill>
                  </a:tcPr>
                </a:tc>
                <a:tc>
                  <a:txBody>
                    <a:bodyPr/>
                    <a:lstStyle/>
                    <a:p>
                      <a:pPr algn="ctr"/>
                      <a:r>
                        <a:rPr sz="1000" b="0">
                          <a:solidFill>
                            <a:srgbClr val="202020"/>
                          </a:solidFill>
                        </a:rPr>
                        <a:t>0.580</a:t>
                      </a:r>
                    </a:p>
                  </a:txBody>
                  <a:tcPr>
                    <a:solidFill>
                      <a:srgbClr val="FFFFFF"/>
                    </a:solidFill>
                  </a:tcPr>
                </a:tc>
                <a:tc>
                  <a:txBody>
                    <a:bodyPr/>
                    <a:lstStyle/>
                    <a:p>
                      <a:pPr algn="ctr"/>
                      <a:r>
                        <a:rPr sz="1000" b="0">
                          <a:solidFill>
                            <a:srgbClr val="202020"/>
                          </a:solidFill>
                        </a:rPr>
                        <a:t>+0.186</a:t>
                      </a:r>
                    </a:p>
                  </a:txBody>
                  <a:tcPr>
                    <a:solidFill>
                      <a:srgbClr val="FFFFFF"/>
                    </a:solidFill>
                  </a:tcPr>
                </a:tc>
                <a:tc>
                  <a:txBody>
                    <a:bodyPr/>
                    <a:lstStyle/>
                    <a:p>
                      <a:pPr algn="ctr"/>
                      <a:r>
                        <a:rPr sz="1000" b="0">
                          <a:solidFill>
                            <a:srgbClr val="202020"/>
                          </a:solidFill>
                        </a:rPr>
                        <a:t>+47%</a:t>
                      </a:r>
                    </a:p>
                  </a:txBody>
                  <a:tcPr>
                    <a:solidFill>
                      <a:srgbClr val="FFFFFF"/>
                    </a:solidFill>
                  </a:tcPr>
                </a:tc>
              </a:tr>
              <a:tr h="274320">
                <a:tc>
                  <a:txBody>
                    <a:bodyPr/>
                    <a:lstStyle/>
                    <a:p>
                      <a:pPr algn="l"/>
                      <a:r>
                        <a:rPr sz="1000" b="1">
                          <a:solidFill>
                            <a:srgbClr val="202020"/>
                          </a:solidFill>
                        </a:rPr>
                        <a:t>FCNN</a:t>
                      </a:r>
                    </a:p>
                  </a:txBody>
                  <a:tcPr>
                    <a:solidFill>
                      <a:srgbClr val="E8F0FE"/>
                    </a:solidFill>
                  </a:tcPr>
                </a:tc>
                <a:tc>
                  <a:txBody>
                    <a:bodyPr/>
                    <a:lstStyle/>
                    <a:p>
                      <a:pPr algn="l"/>
                      <a:r>
                        <a:rPr sz="1000" b="0">
                          <a:solidFill>
                            <a:srgbClr val="202020"/>
                          </a:solidFill>
                        </a:rPr>
                        <a:t>0.361</a:t>
                      </a:r>
                    </a:p>
                  </a:txBody>
                  <a:tcPr>
                    <a:solidFill>
                      <a:srgbClr val="E8F0FE"/>
                    </a:solidFill>
                  </a:tcPr>
                </a:tc>
                <a:tc>
                  <a:txBody>
                    <a:bodyPr/>
                    <a:lstStyle/>
                    <a:p>
                      <a:pPr algn="ctr"/>
                      <a:r>
                        <a:rPr sz="1000" b="0">
                          <a:solidFill>
                            <a:srgbClr val="202020"/>
                          </a:solidFill>
                        </a:rPr>
                        <a:t>0.471</a:t>
                      </a:r>
                    </a:p>
                  </a:txBody>
                  <a:tcPr>
                    <a:solidFill>
                      <a:srgbClr val="E8F0FE"/>
                    </a:solidFill>
                  </a:tcPr>
                </a:tc>
                <a:tc>
                  <a:txBody>
                    <a:bodyPr/>
                    <a:lstStyle/>
                    <a:p>
                      <a:pPr algn="ctr"/>
                      <a:r>
                        <a:rPr sz="1000" b="0">
                          <a:solidFill>
                            <a:srgbClr val="202020"/>
                          </a:solidFill>
                        </a:rPr>
                        <a:t>+0.110</a:t>
                      </a:r>
                    </a:p>
                  </a:txBody>
                  <a:tcPr>
                    <a:solidFill>
                      <a:srgbClr val="E8F0FE"/>
                    </a:solidFill>
                  </a:tcPr>
                </a:tc>
                <a:tc>
                  <a:txBody>
                    <a:bodyPr/>
                    <a:lstStyle/>
                    <a:p>
                      <a:pPr algn="ctr"/>
                      <a:r>
                        <a:rPr sz="1000" b="0">
                          <a:solidFill>
                            <a:srgbClr val="202020"/>
                          </a:solidFill>
                        </a:rPr>
                        <a:t>+30%</a:t>
                      </a:r>
                    </a:p>
                  </a:txBody>
                  <a:tcPr>
                    <a:solidFill>
                      <a:srgbClr val="E8F0FE"/>
                    </a:solidFill>
                  </a:tcPr>
                </a:tc>
              </a:tr>
            </a:tbl>
          </a:graphicData>
        </a:graphic>
      </p:graphicFrame>
      <p:sp>
        <p:nvSpPr>
          <p:cNvPr id="4" name="TextBox 3"/>
          <p:cNvSpPr txBox="1"/>
          <p:nvPr/>
        </p:nvSpPr>
        <p:spPr>
          <a:xfrm>
            <a:off x="274320" y="1965960"/>
            <a:ext cx="4114800" cy="1371600"/>
          </a:xfrm>
          <a:prstGeom prst="rect">
            <a:avLst/>
          </a:prstGeom>
          <a:solidFill>
            <a:srgbClr val="FCE4E4"/>
          </a:solidFill>
        </p:spPr>
        <p:txBody>
          <a:bodyPr wrap="square">
            <a:spAutoFit/>
          </a:bodyPr>
          <a:lstStyle/>
          <a:p>
            <a:pPr algn="l"/>
            <a:r>
              <a:rPr sz="1000" b="1" i="0">
                <a:solidFill>
                  <a:srgbClr val="D93C3C"/>
                </a:solidFill>
              </a:rPr>
              <a:t>Mengapa Random Split Lebih Tinggi?</a:t>
            </a:r>
          </a:p>
          <a:p>
            <a:pPr algn="l"/>
            <a:r>
              <a:rPr sz="400" b="0" i="0"/>
              <a:t/>
            </a:r>
          </a:p>
          <a:p>
            <a:pPr algn="l"/>
            <a:r>
              <a:rPr sz="950" b="0" i="0">
                <a:solidFill>
                  <a:srgbClr val="202020"/>
                </a:solidFill>
              </a:rPr>
              <a:t>User yang sama di train &amp; test</a:t>
            </a:r>
          </a:p>
          <a:p>
            <a:pPr algn="l"/>
            <a:r>
              <a:rPr sz="950" b="0" i="0">
                <a:solidFill>
                  <a:srgbClr val="202020"/>
                </a:solidFill>
              </a:rPr>
              <a:t>-&gt; Model "menghafal" wajah, bukan ekspresi</a:t>
            </a:r>
          </a:p>
          <a:p>
            <a:pPr algn="l"/>
            <a:r>
              <a:rPr sz="950" b="0" i="0">
                <a:solidFill>
                  <a:srgbClr val="202020"/>
                </a:solidFill>
              </a:rPr>
              <a:t>-&gt; F1 naik 30-47% bukan karena model</a:t>
            </a:r>
          </a:p>
          <a:p>
            <a:pPr algn="l"/>
            <a:r>
              <a:rPr sz="950" b="0" i="0">
                <a:solidFill>
                  <a:srgbClr val="202020"/>
                </a:solidFill>
              </a:rPr>
              <a:t>   lebih baik, tapi evaluasi tidak valid</a:t>
            </a:r>
          </a:p>
        </p:txBody>
      </p:sp>
      <p:sp>
        <p:nvSpPr>
          <p:cNvPr id="5" name="TextBox 4"/>
          <p:cNvSpPr txBox="1"/>
          <p:nvPr/>
        </p:nvSpPr>
        <p:spPr>
          <a:xfrm>
            <a:off x="4480560" y="1965960"/>
            <a:ext cx="4389120" cy="1371600"/>
          </a:xfrm>
          <a:prstGeom prst="rect">
            <a:avLst/>
          </a:prstGeom>
          <a:solidFill>
            <a:srgbClr val="E6F4EA"/>
          </a:solidFill>
        </p:spPr>
        <p:txBody>
          <a:bodyPr wrap="square">
            <a:spAutoFit/>
          </a:bodyPr>
          <a:lstStyle/>
          <a:p>
            <a:pPr algn="l"/>
            <a:r>
              <a:rPr sz="1000" b="1" i="0">
                <a:solidFill>
                  <a:srgbClr val="0F9D58"/>
                </a:solidFill>
              </a:rPr>
              <a:t>LOSO: Performa Sebenarnya</a:t>
            </a:r>
          </a:p>
          <a:p>
            <a:pPr algn="l"/>
            <a:r>
              <a:rPr sz="400" b="0" i="0"/>
              <a:t/>
            </a:r>
          </a:p>
          <a:p>
            <a:pPr algn="l"/>
            <a:r>
              <a:rPr sz="950" b="0" i="0">
                <a:solidFill>
                  <a:srgbClr val="202020"/>
                </a:solidFill>
              </a:rPr>
              <a:t>Intermediate TL LOSO: 0.370 +/- 0.125</a:t>
            </a:r>
          </a:p>
          <a:p>
            <a:pPr algn="l"/>
            <a:r>
              <a:rPr sz="950" b="0" i="0">
                <a:solidFill>
                  <a:srgbClr val="202020"/>
                </a:solidFill>
              </a:rPr>
              <a:t>-&gt; Std tinggi: performa bervariasi antar user</a:t>
            </a:r>
          </a:p>
          <a:p>
            <a:pPr algn="l"/>
            <a:r>
              <a:rPr sz="950" b="0" i="0">
                <a:solidFill>
                  <a:srgbClr val="202020"/>
                </a:solidFill>
              </a:rPr>
              <a:t>-&gt; Single split (0.412) sedikit over-estimate</a:t>
            </a:r>
          </a:p>
          <a:p>
            <a:pPr algn="l"/>
            <a:r>
              <a:rPr sz="950" b="0" i="0">
                <a:solidFill>
                  <a:srgbClr val="202020"/>
                </a:solidFill>
              </a:rPr>
              <a:t>-&gt; LOSO = evaluasi paling jujur</a:t>
            </a:r>
          </a:p>
        </p:txBody>
      </p:sp>
      <p:sp>
        <p:nvSpPr>
          <p:cNvPr id="6" name="TextBox 5"/>
          <p:cNvSpPr txBox="1"/>
          <p:nvPr/>
        </p:nvSpPr>
        <p:spPr>
          <a:xfrm>
            <a:off x="274320" y="3474720"/>
            <a:ext cx="8595360" cy="457200"/>
          </a:xfrm>
          <a:prstGeom prst="rect">
            <a:avLst/>
          </a:prstGeom>
          <a:solidFill>
            <a:srgbClr val="1A73E8"/>
          </a:solidFill>
        </p:spPr>
        <p:txBody>
          <a:bodyPr wrap="square">
            <a:spAutoFit/>
          </a:bodyPr>
          <a:lstStyle/>
          <a:p>
            <a:pPr algn="ctr"/>
            <a:r>
              <a:rPr sz="1000" b="1" i="0">
                <a:solidFill>
                  <a:srgbClr val="FFFFFF"/>
                </a:solidFill>
              </a:rPr>
              <a:t>Kesimpulan: Evaluasi HARUS user-based split (LOSO/CV) -- random split menyesatkan (+30-47%)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 Dataset JAFFE &amp; CK+</a:t>
            </a:r>
          </a:p>
        </p:txBody>
      </p:sp>
      <p:sp>
        <p:nvSpPr>
          <p:cNvPr id="3" name="TextBox 2"/>
          <p:cNvSpPr txBox="1"/>
          <p:nvPr/>
        </p:nvSpPr>
        <p:spPr>
          <a:xfrm>
            <a:off x="274320" y="731520"/>
            <a:ext cx="8595360" cy="731520"/>
          </a:xfrm>
          <a:prstGeom prst="rect">
            <a:avLst/>
          </a:prstGeom>
          <a:solidFill>
            <a:srgbClr val="FFF0CC"/>
          </a:solidFill>
        </p:spPr>
        <p:txBody>
          <a:bodyPr wrap="square">
            <a:spAutoFit/>
          </a:bodyPr>
          <a:lstStyle/>
          <a:p>
            <a:pPr algn="l"/>
            <a:r>
              <a:rPr sz="950" b="1" i="0">
                <a:solidFill>
                  <a:srgbClr val="202020"/>
                </a:solidFill>
              </a:rPr>
              <a:t>Tujuan: Menguji pipeline dan arsitektur yang sama pada dataset standar untuk</a:t>
            </a:r>
          </a:p>
          <a:p>
            <a:pPr algn="l"/>
            <a:r>
              <a:rPr sz="950" b="0" i="0">
                <a:solidFill>
                  <a:srgbClr val="202020"/>
                </a:solidFill>
              </a:rPr>
              <a:t>menunjukkan bahwa performa rendah di dataset sendiri disebabkan oleh</a:t>
            </a:r>
          </a:p>
          <a:p>
            <a:pPr algn="l"/>
            <a:r>
              <a:rPr sz="950" b="0" i="0">
                <a:solidFill>
                  <a:srgbClr val="202020"/>
                </a:solidFill>
              </a:rPr>
              <a:t>karakteristik data (natural expression, imbalanced), bukan kelemahan arsitektur.</a:t>
            </a:r>
          </a:p>
        </p:txBody>
      </p:sp>
      <p:graphicFrame>
        <p:nvGraphicFramePr>
          <p:cNvPr id="4" name="Table 3"/>
          <p:cNvGraphicFramePr>
            <a:graphicFrameLocks noGrp="1"/>
          </p:cNvGraphicFramePr>
          <p:nvPr/>
        </p:nvGraphicFramePr>
        <p:xfrm>
          <a:off x="274320" y="1600200"/>
          <a:ext cx="8595360" cy="1097280"/>
        </p:xfrm>
        <a:graphic>
          <a:graphicData uri="http://schemas.openxmlformats.org/drawingml/2006/table">
            <a:tbl>
              <a:tblPr firstRow="1" bandRow="1"/>
              <a:tblGrid>
                <a:gridCol w="1828800"/>
                <a:gridCol w="914400"/>
                <a:gridCol w="731520"/>
                <a:gridCol w="914400"/>
                <a:gridCol w="4206240"/>
              </a:tblGrid>
              <a:tr h="274320">
                <a:tc>
                  <a:txBody>
                    <a:bodyPr/>
                    <a:lstStyle/>
                    <a:p>
                      <a:pPr algn="ctr"/>
                      <a:r>
                        <a:rPr sz="1000" b="1">
                          <a:solidFill>
                            <a:srgbClr val="FFFFFF"/>
                          </a:solidFill>
                        </a:rPr>
                        <a:t>Dataset</a:t>
                      </a:r>
                    </a:p>
                  </a:txBody>
                  <a:tcPr>
                    <a:solidFill>
                      <a:srgbClr val="1A73E8"/>
                    </a:solidFill>
                  </a:tcPr>
                </a:tc>
                <a:tc>
                  <a:txBody>
                    <a:bodyPr/>
                    <a:lstStyle/>
                    <a:p>
                      <a:pPr algn="ctr"/>
                      <a:r>
                        <a:rPr sz="1000" b="1">
                          <a:solidFill>
                            <a:srgbClr val="FFFFFF"/>
                          </a:solidFill>
                        </a:rPr>
                        <a:t>Sampel</a:t>
                      </a:r>
                    </a:p>
                  </a:txBody>
                  <a:tcPr>
                    <a:solidFill>
                      <a:srgbClr val="1A73E8"/>
                    </a:solidFill>
                  </a:tcPr>
                </a:tc>
                <a:tc>
                  <a:txBody>
                    <a:bodyPr/>
                    <a:lstStyle/>
                    <a:p>
                      <a:pPr algn="ctr"/>
                      <a:r>
                        <a:rPr sz="1000" b="1">
                          <a:solidFill>
                            <a:srgbClr val="FFFFFF"/>
                          </a:solidFill>
                        </a:rPr>
                        <a:t>Emosi</a:t>
                      </a:r>
                    </a:p>
                  </a:txBody>
                  <a:tcPr>
                    <a:solidFill>
                      <a:srgbClr val="1A73E8"/>
                    </a:solidFill>
                  </a:tcPr>
                </a:tc>
                <a:tc>
                  <a:txBody>
                    <a:bodyPr/>
                    <a:lstStyle/>
                    <a:p>
                      <a:pPr algn="ctr"/>
                      <a:r>
                        <a:rPr sz="1000" b="1">
                          <a:solidFill>
                            <a:srgbClr val="FFFFFF"/>
                          </a:solidFill>
                        </a:rPr>
                        <a:t>Subjek</a:t>
                      </a:r>
                    </a:p>
                  </a:txBody>
                  <a:tcPr>
                    <a:solidFill>
                      <a:srgbClr val="1A73E8"/>
                    </a:solidFill>
                  </a:tcPr>
                </a:tc>
                <a:tc>
                  <a:txBody>
                    <a:bodyPr/>
                    <a:lstStyle/>
                    <a:p>
                      <a:pPr algn="ctr"/>
                      <a:r>
                        <a:rPr sz="1000" b="1">
                          <a:solidFill>
                            <a:srgbClr val="FFFFFF"/>
                          </a:solidFill>
                        </a:rPr>
                        <a:t>Karakteristik</a:t>
                      </a:r>
                    </a:p>
                  </a:txBody>
                  <a:tcPr>
                    <a:solidFill>
                      <a:srgbClr val="1A73E8"/>
                    </a:solidFill>
                  </a:tcPr>
                </a:tc>
              </a:tr>
              <a:tr h="274320">
                <a:tc>
                  <a:txBody>
                    <a:bodyPr/>
                    <a:lstStyle/>
                    <a:p>
                      <a:pPr algn="l"/>
                      <a:r>
                        <a:rPr sz="1000" b="1">
                          <a:solidFill>
                            <a:srgbClr val="202020"/>
                          </a:solidFill>
                        </a:rPr>
                        <a:t>JAFFE</a:t>
                      </a:r>
                    </a:p>
                  </a:txBody>
                  <a:tcPr>
                    <a:solidFill>
                      <a:srgbClr val="E8F0FE"/>
                    </a:solidFill>
                  </a:tcPr>
                </a:tc>
                <a:tc>
                  <a:txBody>
                    <a:bodyPr/>
                    <a:lstStyle/>
                    <a:p>
                      <a:pPr algn="ctr"/>
                      <a:r>
                        <a:rPr sz="1000">
                          <a:solidFill>
                            <a:srgbClr val="202020"/>
                          </a:solidFill>
                        </a:rPr>
                        <a:t>213</a:t>
                      </a:r>
                    </a:p>
                  </a:txBody>
                  <a:tcPr>
                    <a:solidFill>
                      <a:srgbClr val="E8F0FE"/>
                    </a:solidFill>
                  </a:tcPr>
                </a:tc>
                <a:tc>
                  <a:txBody>
                    <a:bodyPr/>
                    <a:lstStyle/>
                    <a:p>
                      <a:pPr algn="ctr"/>
                      <a:r>
                        <a:rPr sz="1000">
                          <a:solidFill>
                            <a:srgbClr val="202020"/>
                          </a:solidFill>
                        </a:rPr>
                        <a:t>7</a:t>
                      </a:r>
                    </a:p>
                  </a:txBody>
                  <a:tcPr>
                    <a:solidFill>
                      <a:srgbClr val="E8F0FE"/>
                    </a:solidFill>
                  </a:tcPr>
                </a:tc>
                <a:tc>
                  <a:txBody>
                    <a:bodyPr/>
                    <a:lstStyle/>
                    <a:p>
                      <a:pPr algn="ctr"/>
                      <a:r>
                        <a:rPr sz="1000">
                          <a:solidFill>
                            <a:srgbClr val="202020"/>
                          </a:solidFill>
                        </a:rPr>
                        <a:t>10</a:t>
                      </a:r>
                    </a:p>
                  </a:txBody>
                  <a:tcPr>
                    <a:solidFill>
                      <a:srgbClr val="E8F0FE"/>
                    </a:solidFill>
                  </a:tcPr>
                </a:tc>
                <a:tc>
                  <a:txBody>
                    <a:bodyPr/>
                    <a:lstStyle/>
                    <a:p>
                      <a:pPr algn="ctr"/>
                      <a:r>
                        <a:rPr sz="1000">
                          <a:solidFill>
                            <a:srgbClr val="202020"/>
                          </a:solidFill>
                        </a:rPr>
                        <a:t>Lab, wanita Jepang, seimbang</a:t>
                      </a:r>
                    </a:p>
                  </a:txBody>
                  <a:tcPr>
                    <a:solidFill>
                      <a:srgbClr val="E8F0FE"/>
                    </a:solidFill>
                  </a:tcPr>
                </a:tc>
              </a:tr>
              <a:tr h="274320">
                <a:tc>
                  <a:txBody>
                    <a:bodyPr/>
                    <a:lstStyle/>
                    <a:p>
                      <a:pPr algn="l"/>
                      <a:r>
                        <a:rPr sz="1000" b="1">
                          <a:solidFill>
                            <a:srgbClr val="202020"/>
                          </a:solidFill>
                        </a:rPr>
                        <a:t>CK+</a:t>
                      </a:r>
                    </a:p>
                  </a:txBody>
                  <a:tcPr>
                    <a:solidFill>
                      <a:srgbClr val="FFFFFF"/>
                    </a:solidFill>
                  </a:tcPr>
                </a:tc>
                <a:tc>
                  <a:txBody>
                    <a:bodyPr/>
                    <a:lstStyle/>
                    <a:p>
                      <a:pPr algn="ctr"/>
                      <a:r>
                        <a:rPr sz="1000">
                          <a:solidFill>
                            <a:srgbClr val="202020"/>
                          </a:solidFill>
                        </a:rPr>
                        <a:t>636</a:t>
                      </a:r>
                    </a:p>
                  </a:txBody>
                  <a:tcPr>
                    <a:solidFill>
                      <a:srgbClr val="FFFFFF"/>
                    </a:solidFill>
                  </a:tcPr>
                </a:tc>
                <a:tc>
                  <a:txBody>
                    <a:bodyPr/>
                    <a:lstStyle/>
                    <a:p>
                      <a:pPr algn="ctr"/>
                      <a:r>
                        <a:rPr sz="1000">
                          <a:solidFill>
                            <a:srgbClr val="202020"/>
                          </a:solidFill>
                        </a:rPr>
                        <a:t>7+contempt</a:t>
                      </a:r>
                    </a:p>
                  </a:txBody>
                  <a:tcPr>
                    <a:solidFill>
                      <a:srgbClr val="FFFFFF"/>
                    </a:solidFill>
                  </a:tcPr>
                </a:tc>
                <a:tc>
                  <a:txBody>
                    <a:bodyPr/>
                    <a:lstStyle/>
                    <a:p>
                      <a:pPr algn="ctr"/>
                      <a:r>
                        <a:rPr sz="1000">
                          <a:solidFill>
                            <a:srgbClr val="202020"/>
                          </a:solidFill>
                        </a:rPr>
                        <a:t>118</a:t>
                      </a:r>
                    </a:p>
                  </a:txBody>
                  <a:tcPr>
                    <a:solidFill>
                      <a:srgbClr val="FFFFFF"/>
                    </a:solidFill>
                  </a:tcPr>
                </a:tc>
                <a:tc>
                  <a:txBody>
                    <a:bodyPr/>
                    <a:lstStyle/>
                    <a:p>
                      <a:pPr algn="ctr"/>
                      <a:r>
                        <a:rPr sz="1000">
                          <a:solidFill>
                            <a:srgbClr val="202020"/>
                          </a:solidFill>
                        </a:rPr>
                        <a:t>Lab, ekspresi peak, semi-balanced</a:t>
                      </a:r>
                    </a:p>
                  </a:txBody>
                  <a:tcPr>
                    <a:solidFill>
                      <a:srgbClr val="FFFFFF"/>
                    </a:solidFill>
                  </a:tcPr>
                </a:tc>
              </a:tr>
              <a:tr h="274320">
                <a:tc>
                  <a:txBody>
                    <a:bodyPr/>
                    <a:lstStyle/>
                    <a:p>
                      <a:pPr algn="l"/>
                      <a:r>
                        <a:rPr sz="1000" b="1">
                          <a:solidFill>
                            <a:srgbClr val="202020"/>
                          </a:solidFill>
                        </a:rPr>
                        <a:t>Dataset sendiri</a:t>
                      </a:r>
                    </a:p>
                  </a:txBody>
                  <a:tcPr>
                    <a:solidFill>
                      <a:srgbClr val="E8F0FE"/>
                    </a:solidFill>
                  </a:tcPr>
                </a:tc>
                <a:tc>
                  <a:txBody>
                    <a:bodyPr/>
                    <a:lstStyle/>
                    <a:p>
                      <a:pPr algn="ctr"/>
                      <a:r>
                        <a:rPr sz="1000">
                          <a:solidFill>
                            <a:srgbClr val="202020"/>
                          </a:solidFill>
                        </a:rPr>
                        <a:t>7,091</a:t>
                      </a:r>
                    </a:p>
                  </a:txBody>
                  <a:tcPr>
                    <a:solidFill>
                      <a:srgbClr val="E8F0FE"/>
                    </a:solidFill>
                  </a:tcPr>
                </a:tc>
                <a:tc>
                  <a:txBody>
                    <a:bodyPr/>
                    <a:lstStyle/>
                    <a:p>
                      <a:pPr algn="ctr"/>
                      <a:r>
                        <a:rPr sz="1000">
                          <a:solidFill>
                            <a:srgbClr val="202020"/>
                          </a:solidFill>
                        </a:rPr>
                        <a:t>7</a:t>
                      </a:r>
                    </a:p>
                  </a:txBody>
                  <a:tcPr>
                    <a:solidFill>
                      <a:srgbClr val="E8F0FE"/>
                    </a:solidFill>
                  </a:tcPr>
                </a:tc>
                <a:tc>
                  <a:txBody>
                    <a:bodyPr/>
                    <a:lstStyle/>
                    <a:p>
                      <a:pPr algn="ctr"/>
                      <a:r>
                        <a:rPr sz="1000">
                          <a:solidFill>
                            <a:srgbClr val="202020"/>
                          </a:solidFill>
                        </a:rPr>
                        <a:t>37</a:t>
                      </a:r>
                    </a:p>
                  </a:txBody>
                  <a:tcPr>
                    <a:solidFill>
                      <a:srgbClr val="E8F0FE"/>
                    </a:solidFill>
                  </a:tcPr>
                </a:tc>
                <a:tc>
                  <a:txBody>
                    <a:bodyPr/>
                    <a:lstStyle/>
                    <a:p>
                      <a:pPr algn="ctr"/>
                      <a:r>
                        <a:rPr sz="1000">
                          <a:solidFill>
                            <a:srgbClr val="202020"/>
                          </a:solidFill>
                        </a:rPr>
                        <a:t>Natural (programming), imbalanced</a:t>
                      </a:r>
                    </a:p>
                  </a:txBody>
                  <a:tcPr>
                    <a:solidFill>
                      <a:srgbClr val="E8F0FE"/>
                    </a:solidFill>
                  </a:tcPr>
                </a:tc>
              </a:tr>
            </a:tbl>
          </a:graphicData>
        </a:graphic>
      </p:graphicFrame>
      <p:sp>
        <p:nvSpPr>
          <p:cNvPr id="5" name="TextBox 4"/>
          <p:cNvSpPr txBox="1"/>
          <p:nvPr/>
        </p:nvSpPr>
        <p:spPr>
          <a:xfrm>
            <a:off x="274320" y="2834640"/>
            <a:ext cx="8595360" cy="731520"/>
          </a:xfrm>
          <a:prstGeom prst="rect">
            <a:avLst/>
          </a:prstGeom>
          <a:solidFill>
            <a:srgbClr val="E8F0FE"/>
          </a:solidFill>
        </p:spPr>
        <p:txBody>
          <a:bodyPr wrap="square">
            <a:spAutoFit/>
          </a:bodyPr>
          <a:lstStyle/>
          <a:p>
            <a:pPr algn="l"/>
            <a:r>
              <a:rPr sz="1000" b="1">
                <a:solidFill>
                  <a:srgbClr val="202020"/>
                </a:solidFill>
              </a:rPr>
              <a:t>Evaluasi yang dilakukan:</a:t>
            </a:r>
          </a:p>
          <a:p>
            <a:pPr algn="l"/>
          </a:p>
          <a:p>
            <a:pPr algn="l"/>
          </a:p>
          <a:p>
            <a:pPr algn="l"/>
          </a:p>
          <a:p>
            <a:pPr algn="l"/>
            <a:r>
              <a:rPr sz="950">
                <a:solidFill>
                  <a:srgbClr val="202020"/>
                </a:solidFill>
              </a:rPr>
              <a:t>1. Single Split (80/10/10 subject-wise) -- semua model, B1 Baseline</a:t>
            </a:r>
          </a:p>
          <a:p>
            <a:pPr algn="l"/>
            <a:r>
              <a:rPr sz="950">
                <a:solidFill>
                  <a:srgbClr val="202020"/>
                </a:solidFill>
              </a:rPr>
              <a:t>2. JAFFE: LOSO (10 fold) -- 10 subjek = LOSO natural (1 fold = 1 subjek)</a:t>
            </a:r>
          </a:p>
          <a:p>
            <a:pPr algn="l"/>
            <a:r>
              <a:rPr sz="950">
                <a:solidFill>
                  <a:srgbClr val="202020"/>
                </a:solidFill>
              </a:rPr>
              <a:t>3. CK+: 10-Fold CV (subject-wise) -- 118 subjek dibagi 10 grup (LOSO 118 fold terlalu mahal)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7-Class -- Single Split (Macro F1)</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286000"/>
                <a:gridCol w="2103120"/>
                <a:gridCol w="2103120"/>
                <a:gridCol w="2103120"/>
              </a:tblGrid>
              <a:tr h="313508">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JAFFE</a:t>
                      </a:r>
                    </a:p>
                  </a:txBody>
                  <a:tcPr>
                    <a:solidFill>
                      <a:srgbClr val="1A73E8"/>
                    </a:solidFill>
                  </a:tcPr>
                </a:tc>
                <a:tc>
                  <a:txBody>
                    <a:bodyPr/>
                    <a:lstStyle/>
                    <a:p>
                      <a:pPr algn="ctr"/>
                      <a:r>
                        <a:rPr sz="1000" b="1">
                          <a:solidFill>
                            <a:srgbClr val="FFFFFF"/>
                          </a:solidFill>
                        </a:rPr>
                        <a:t>CK+</a:t>
                      </a:r>
                    </a:p>
                  </a:txBody>
                  <a:tcPr>
                    <a:solidFill>
                      <a:srgbClr val="1A73E8"/>
                    </a:solidFill>
                  </a:tcPr>
                </a:tc>
                <a:tc>
                  <a:txBody>
                    <a:bodyPr/>
                    <a:lstStyle/>
                    <a:p>
                      <a:pPr algn="ctr"/>
                      <a:r>
                        <a:rPr sz="1000" b="1">
                          <a:solidFill>
                            <a:srgbClr val="FFFFFF"/>
                          </a:solidFill>
                        </a:rPr>
                        <a:t>Dataset Sendiri</a:t>
                      </a:r>
                    </a:p>
                  </a:txBody>
                  <a:tcPr>
                    <a:solidFill>
                      <a:srgbClr val="1A73E8"/>
                    </a:solidFill>
                  </a:tcPr>
                </a:tc>
              </a:tr>
              <a:tr h="313508">
                <a:tc>
                  <a:txBody>
                    <a:bodyPr/>
                    <a:lstStyle/>
                    <a:p>
                      <a:pPr algn="l"/>
                      <a:r>
                        <a:rPr sz="1000" b="1">
                          <a:solidFill>
                            <a:srgbClr val="202020"/>
                          </a:solidFill>
                        </a:rPr>
                        <a:t>CNN</a:t>
                      </a:r>
                    </a:p>
                  </a:txBody>
                  <a:tcPr>
                    <a:solidFill>
                      <a:srgbClr val="E8F0FE"/>
                    </a:solidFill>
                  </a:tcPr>
                </a:tc>
                <a:tc>
                  <a:txBody>
                    <a:bodyPr/>
                    <a:lstStyle/>
                    <a:p>
                      <a:pPr algn="ctr"/>
                      <a:r>
                        <a:rPr sz="1000" b="0">
                          <a:solidFill>
                            <a:srgbClr val="202020"/>
                          </a:solidFill>
                        </a:rPr>
                        <a:t>0.304</a:t>
                      </a:r>
                    </a:p>
                  </a:txBody>
                  <a:tcPr>
                    <a:solidFill>
                      <a:srgbClr val="E8F0FE"/>
                    </a:solidFill>
                  </a:tcPr>
                </a:tc>
                <a:tc>
                  <a:txBody>
                    <a:bodyPr/>
                    <a:lstStyle/>
                    <a:p>
                      <a:pPr algn="ctr"/>
                      <a:r>
                        <a:rPr sz="1000" b="0">
                          <a:solidFill>
                            <a:srgbClr val="202020"/>
                          </a:solidFill>
                        </a:rPr>
                        <a:t>0.461</a:t>
                      </a:r>
                    </a:p>
                  </a:txBody>
                  <a:tcPr>
                    <a:solidFill>
                      <a:srgbClr val="E8F0FE"/>
                    </a:solidFill>
                  </a:tcPr>
                </a:tc>
                <a:tc>
                  <a:txBody>
                    <a:bodyPr/>
                    <a:lstStyle/>
                    <a:p>
                      <a:pPr algn="ctr"/>
                      <a:r>
                        <a:rPr sz="1000" b="0">
                          <a:solidFill>
                            <a:srgbClr val="202020"/>
                          </a:solidFill>
                        </a:rPr>
                        <a:t>0.137</a:t>
                      </a:r>
                    </a:p>
                  </a:txBody>
                  <a:tcPr>
                    <a:solidFill>
                      <a:srgbClr val="E8F0FE"/>
                    </a:solidFill>
                  </a:tcPr>
                </a:tc>
              </a:tr>
              <a:tr h="313508">
                <a:tc>
                  <a:txBody>
                    <a:bodyPr/>
                    <a:lstStyle/>
                    <a:p>
                      <a:pPr algn="l"/>
                      <a:r>
                        <a:rPr sz="1000" b="1">
                          <a:solidFill>
                            <a:srgbClr val="202020"/>
                          </a:solidFill>
                        </a:rPr>
                        <a:t>FCNN</a:t>
                      </a:r>
                    </a:p>
                  </a:txBody>
                  <a:tcPr>
                    <a:solidFill>
                      <a:srgbClr val="FFFFFF"/>
                    </a:solidFill>
                  </a:tcPr>
                </a:tc>
                <a:tc>
                  <a:txBody>
                    <a:bodyPr/>
                    <a:lstStyle/>
                    <a:p>
                      <a:pPr algn="ctr"/>
                      <a:r>
                        <a:rPr sz="1000" b="0">
                          <a:solidFill>
                            <a:srgbClr val="202020"/>
                          </a:solidFill>
                        </a:rPr>
                        <a:t>0.209</a:t>
                      </a:r>
                    </a:p>
                  </a:txBody>
                  <a:tcPr>
                    <a:solidFill>
                      <a:srgbClr val="FFFFFF"/>
                    </a:solidFill>
                  </a:tcPr>
                </a:tc>
                <a:tc>
                  <a:txBody>
                    <a:bodyPr/>
                    <a:lstStyle/>
                    <a:p>
                      <a:pPr algn="ctr"/>
                      <a:r>
                        <a:rPr sz="1000" b="0">
                          <a:solidFill>
                            <a:srgbClr val="202020"/>
                          </a:solidFill>
                        </a:rPr>
                        <a:t>0.395</a:t>
                      </a:r>
                    </a:p>
                  </a:txBody>
                  <a:tcPr>
                    <a:solidFill>
                      <a:srgbClr val="FFFFFF"/>
                    </a:solidFill>
                  </a:tcPr>
                </a:tc>
                <a:tc>
                  <a:txBody>
                    <a:bodyPr/>
                    <a:lstStyle/>
                    <a:p>
                      <a:pPr algn="ctr"/>
                      <a:r>
                        <a:rPr sz="1000" b="0">
                          <a:solidFill>
                            <a:srgbClr val="202020"/>
                          </a:solidFill>
                        </a:rPr>
                        <a:t>0.158</a:t>
                      </a:r>
                    </a:p>
                  </a:txBody>
                  <a:tcPr>
                    <a:solidFill>
                      <a:srgbClr val="FFFFFF"/>
                    </a:solidFill>
                  </a:tcPr>
                </a:tc>
              </a:tr>
              <a:tr h="313508">
                <a:tc>
                  <a:txBody>
                    <a:bodyPr/>
                    <a:lstStyle/>
                    <a:p>
                      <a:pPr algn="l"/>
                      <a:r>
                        <a:rPr sz="1000" b="1">
                          <a:solidFill>
                            <a:srgbClr val="202020"/>
                          </a:solidFill>
                        </a:rPr>
                        <a:t>Late Fusion</a:t>
                      </a:r>
                    </a:p>
                  </a:txBody>
                  <a:tcPr>
                    <a:solidFill>
                      <a:srgbClr val="E8F0FE"/>
                    </a:solidFill>
                  </a:tcPr>
                </a:tc>
                <a:tc>
                  <a:txBody>
                    <a:bodyPr/>
                    <a:lstStyle/>
                    <a:p>
                      <a:pPr algn="ctr"/>
                      <a:r>
                        <a:rPr sz="1000" b="1">
                          <a:solidFill>
                            <a:srgbClr val="202020"/>
                          </a:solidFill>
                        </a:rPr>
                        <a:t>0.545</a:t>
                      </a:r>
                    </a:p>
                  </a:txBody>
                  <a:tcPr>
                    <a:solidFill>
                      <a:srgbClr val="C6EFCE"/>
                    </a:solidFill>
                  </a:tcPr>
                </a:tc>
                <a:tc>
                  <a:txBody>
                    <a:bodyPr/>
                    <a:lstStyle/>
                    <a:p>
                      <a:pPr algn="ctr"/>
                      <a:r>
                        <a:rPr sz="1000" b="0">
                          <a:solidFill>
                            <a:srgbClr val="202020"/>
                          </a:solidFill>
                        </a:rPr>
                        <a:t>0.498</a:t>
                      </a:r>
                    </a:p>
                  </a:txBody>
                  <a:tcPr>
                    <a:solidFill>
                      <a:srgbClr val="E8F0FE"/>
                    </a:solidFill>
                  </a:tcPr>
                </a:tc>
                <a:tc>
                  <a:txBody>
                    <a:bodyPr/>
                    <a:lstStyle/>
                    <a:p>
                      <a:pPr algn="ctr"/>
                      <a:r>
                        <a:rPr sz="1000" b="0">
                          <a:solidFill>
                            <a:srgbClr val="202020"/>
                          </a:solidFill>
                        </a:rPr>
                        <a:t>0.175</a:t>
                      </a:r>
                    </a:p>
                  </a:txBody>
                  <a:tcPr>
                    <a:solidFill>
                      <a:srgbClr val="E8F0FE"/>
                    </a:solidFill>
                  </a:tcPr>
                </a:tc>
              </a:tr>
              <a:tr h="313508">
                <a:tc>
                  <a:txBody>
                    <a:bodyPr/>
                    <a:lstStyle/>
                    <a:p>
                      <a:pPr algn="l"/>
                      <a:r>
                        <a:rPr sz="1000" b="1">
                          <a:solidFill>
                            <a:srgbClr val="202020"/>
                          </a:solidFill>
                        </a:rPr>
                        <a:t>Intermediate</a:t>
                      </a:r>
                    </a:p>
                  </a:txBody>
                  <a:tcPr>
                    <a:solidFill>
                      <a:srgbClr val="FFFFFF"/>
                    </a:solidFill>
                  </a:tcPr>
                </a:tc>
                <a:tc>
                  <a:txBody>
                    <a:bodyPr/>
                    <a:lstStyle/>
                    <a:p>
                      <a:pPr algn="ctr"/>
                      <a:r>
                        <a:rPr sz="1000" b="0">
                          <a:solidFill>
                            <a:srgbClr val="202020"/>
                          </a:solidFill>
                        </a:rPr>
                        <a:t>0.037</a:t>
                      </a:r>
                    </a:p>
                  </a:txBody>
                  <a:tcPr>
                    <a:solidFill>
                      <a:srgbClr val="FFFFFF"/>
                    </a:solidFill>
                  </a:tcPr>
                </a:tc>
                <a:tc>
                  <a:txBody>
                    <a:bodyPr/>
                    <a:lstStyle/>
                    <a:p>
                      <a:pPr algn="ctr"/>
                      <a:r>
                        <a:rPr sz="1000" b="0">
                          <a:solidFill>
                            <a:srgbClr val="202020"/>
                          </a:solidFill>
                        </a:rPr>
                        <a:t>0.316</a:t>
                      </a:r>
                    </a:p>
                  </a:txBody>
                  <a:tcPr>
                    <a:solidFill>
                      <a:srgbClr val="FFFFFF"/>
                    </a:solidFill>
                  </a:tcPr>
                </a:tc>
                <a:tc>
                  <a:txBody>
                    <a:bodyPr/>
                    <a:lstStyle/>
                    <a:p>
                      <a:pPr algn="ctr"/>
                      <a:r>
                        <a:rPr sz="1000" b="0">
                          <a:solidFill>
                            <a:srgbClr val="202020"/>
                          </a:solidFill>
                        </a:rPr>
                        <a:t>0.137</a:t>
                      </a:r>
                    </a:p>
                  </a:txBody>
                  <a:tcPr>
                    <a:solidFill>
                      <a:srgbClr val="FFFFFF"/>
                    </a:solidFill>
                  </a:tcPr>
                </a:tc>
              </a:tr>
              <a:tr h="313508">
                <a:tc>
                  <a:txBody>
                    <a:bodyPr/>
                    <a:lstStyle/>
                    <a:p>
                      <a:pPr algn="l"/>
                      <a:r>
                        <a:rPr sz="1000" b="1">
                          <a:solidFill>
                            <a:srgbClr val="202020"/>
                          </a:solidFill>
                        </a:rPr>
                        <a:t>CNN TL</a:t>
                      </a:r>
                    </a:p>
                  </a:txBody>
                  <a:tcPr>
                    <a:solidFill>
                      <a:srgbClr val="E8F0FE"/>
                    </a:solidFill>
                  </a:tcPr>
                </a:tc>
                <a:tc>
                  <a:txBody>
                    <a:bodyPr/>
                    <a:lstStyle/>
                    <a:p>
                      <a:pPr algn="ctr"/>
                      <a:r>
                        <a:rPr sz="1000" b="0">
                          <a:solidFill>
                            <a:srgbClr val="202020"/>
                          </a:solidFill>
                        </a:rPr>
                        <a:t>0.464</a:t>
                      </a:r>
                    </a:p>
                  </a:txBody>
                  <a:tcPr>
                    <a:solidFill>
                      <a:srgbClr val="E8F0FE"/>
                    </a:solidFill>
                  </a:tcPr>
                </a:tc>
                <a:tc>
                  <a:txBody>
                    <a:bodyPr/>
                    <a:lstStyle/>
                    <a:p>
                      <a:pPr algn="ctr"/>
                      <a:r>
                        <a:rPr sz="1000" b="1">
                          <a:solidFill>
                            <a:srgbClr val="202020"/>
                          </a:solidFill>
                        </a:rPr>
                        <a:t>0.913</a:t>
                      </a:r>
                    </a:p>
                  </a:txBody>
                  <a:tcPr>
                    <a:solidFill>
                      <a:srgbClr val="C6EFCE"/>
                    </a:solidFill>
                  </a:tcPr>
                </a:tc>
                <a:tc>
                  <a:txBody>
                    <a:bodyPr/>
                    <a:lstStyle/>
                    <a:p>
                      <a:pPr algn="ctr"/>
                      <a:r>
                        <a:rPr sz="1000" b="0">
                          <a:solidFill>
                            <a:srgbClr val="202020"/>
                          </a:solidFill>
                        </a:rPr>
                        <a:t>0.154</a:t>
                      </a:r>
                    </a:p>
                  </a:txBody>
                  <a:tcPr>
                    <a:solidFill>
                      <a:srgbClr val="E8F0FE"/>
                    </a:solidFill>
                  </a:tcPr>
                </a:tc>
              </a:tr>
              <a:tr h="313512">
                <a:tc>
                  <a:txBody>
                    <a:bodyPr/>
                    <a:lstStyle/>
                    <a:p>
                      <a:pPr algn="l"/>
                      <a:r>
                        <a:rPr sz="1000" b="1">
                          <a:solidFill>
                            <a:srgbClr val="202020"/>
                          </a:solidFill>
                        </a:rPr>
                        <a:t>Intermediate TL</a:t>
                      </a:r>
                    </a:p>
                  </a:txBody>
                  <a:tcPr>
                    <a:solidFill>
                      <a:srgbClr val="FFFFFF"/>
                    </a:solidFill>
                  </a:tcPr>
                </a:tc>
                <a:tc>
                  <a:txBody>
                    <a:bodyPr/>
                    <a:lstStyle/>
                    <a:p>
                      <a:pPr algn="ctr"/>
                      <a:r>
                        <a:rPr sz="1000" b="0">
                          <a:solidFill>
                            <a:srgbClr val="202020"/>
                          </a:solidFill>
                        </a:rPr>
                        <a:t>0.447</a:t>
                      </a:r>
                    </a:p>
                  </a:txBody>
                  <a:tcPr>
                    <a:solidFill>
                      <a:srgbClr val="FFFFFF"/>
                    </a:solidFill>
                  </a:tcPr>
                </a:tc>
                <a:tc>
                  <a:txBody>
                    <a:bodyPr/>
                    <a:lstStyle/>
                    <a:p>
                      <a:pPr algn="ctr"/>
                      <a:r>
                        <a:rPr sz="1000" b="0">
                          <a:solidFill>
                            <a:srgbClr val="202020"/>
                          </a:solidFill>
                        </a:rPr>
                        <a:t>0.833</a:t>
                      </a:r>
                    </a:p>
                  </a:txBody>
                  <a:tcPr>
                    <a:solidFill>
                      <a:srgbClr val="FFFFFF"/>
                    </a:solidFill>
                  </a:tcPr>
                </a:tc>
                <a:tc>
                  <a:txBody>
                    <a:bodyPr/>
                    <a:lstStyle/>
                    <a:p>
                      <a:pPr algn="ctr"/>
                      <a:r>
                        <a:rPr sz="1000" b="0">
                          <a:solidFill>
                            <a:srgbClr val="202020"/>
                          </a:solidFill>
                        </a:rPr>
                        <a:t>0.180</a:t>
                      </a:r>
                    </a:p>
                  </a:txBody>
                  <a:tcPr>
                    <a:solidFill>
                      <a:srgbClr val="FFFFFF"/>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Late Fusion (0.545) | CK+ = CNN TL (0.913) | Dataset sendiri = Intermediate TL (0.180)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4-Class -- Single Split (Macro F1)</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286000"/>
                <a:gridCol w="2103120"/>
                <a:gridCol w="2103120"/>
                <a:gridCol w="2103120"/>
              </a:tblGrid>
              <a:tr h="313508">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JAFFE</a:t>
                      </a:r>
                    </a:p>
                  </a:txBody>
                  <a:tcPr>
                    <a:solidFill>
                      <a:srgbClr val="1A73E8"/>
                    </a:solidFill>
                  </a:tcPr>
                </a:tc>
                <a:tc>
                  <a:txBody>
                    <a:bodyPr/>
                    <a:lstStyle/>
                    <a:p>
                      <a:pPr algn="ctr"/>
                      <a:r>
                        <a:rPr sz="1000" b="1">
                          <a:solidFill>
                            <a:srgbClr val="FFFFFF"/>
                          </a:solidFill>
                        </a:rPr>
                        <a:t>CK+</a:t>
                      </a:r>
                    </a:p>
                  </a:txBody>
                  <a:tcPr>
                    <a:solidFill>
                      <a:srgbClr val="1A73E8"/>
                    </a:solidFill>
                  </a:tcPr>
                </a:tc>
                <a:tc>
                  <a:txBody>
                    <a:bodyPr/>
                    <a:lstStyle/>
                    <a:p>
                      <a:pPr algn="ctr"/>
                      <a:r>
                        <a:rPr sz="1000" b="1">
                          <a:solidFill>
                            <a:srgbClr val="FFFFFF"/>
                          </a:solidFill>
                        </a:rPr>
                        <a:t>Dataset Sendiri</a:t>
                      </a:r>
                    </a:p>
                  </a:txBody>
                  <a:tcPr>
                    <a:solidFill>
                      <a:srgbClr val="1A73E8"/>
                    </a:solidFill>
                  </a:tcPr>
                </a:tc>
              </a:tr>
              <a:tr h="313508">
                <a:tc>
                  <a:txBody>
                    <a:bodyPr/>
                    <a:lstStyle/>
                    <a:p>
                      <a:pPr algn="l"/>
                      <a:r>
                        <a:rPr sz="1000" b="1">
                          <a:solidFill>
                            <a:srgbClr val="202020"/>
                          </a:solidFill>
                        </a:rPr>
                        <a:t>CNN</a:t>
                      </a:r>
                    </a:p>
                  </a:txBody>
                  <a:tcPr>
                    <a:solidFill>
                      <a:srgbClr val="E8F0FE"/>
                    </a:solidFill>
                  </a:tcPr>
                </a:tc>
                <a:tc>
                  <a:txBody>
                    <a:bodyPr/>
                    <a:lstStyle/>
                    <a:p>
                      <a:pPr algn="ctr"/>
                      <a:r>
                        <a:rPr sz="1000" b="0">
                          <a:solidFill>
                            <a:srgbClr val="202020"/>
                          </a:solidFill>
                        </a:rPr>
                        <a:t>0.177</a:t>
                      </a:r>
                    </a:p>
                  </a:txBody>
                  <a:tcPr>
                    <a:solidFill>
                      <a:srgbClr val="E8F0FE"/>
                    </a:solidFill>
                  </a:tcPr>
                </a:tc>
                <a:tc>
                  <a:txBody>
                    <a:bodyPr/>
                    <a:lstStyle/>
                    <a:p>
                      <a:pPr algn="ctr"/>
                      <a:r>
                        <a:rPr sz="1000" b="0">
                          <a:solidFill>
                            <a:srgbClr val="202020"/>
                          </a:solidFill>
                        </a:rPr>
                        <a:t>0.645</a:t>
                      </a:r>
                    </a:p>
                  </a:txBody>
                  <a:tcPr>
                    <a:solidFill>
                      <a:srgbClr val="E8F0FE"/>
                    </a:solidFill>
                  </a:tcPr>
                </a:tc>
                <a:tc>
                  <a:txBody>
                    <a:bodyPr/>
                    <a:lstStyle/>
                    <a:p>
                      <a:pPr algn="ctr"/>
                      <a:r>
                        <a:rPr sz="1000" b="0">
                          <a:solidFill>
                            <a:srgbClr val="202020"/>
                          </a:solidFill>
                        </a:rPr>
                        <a:t>0.238</a:t>
                      </a:r>
                    </a:p>
                  </a:txBody>
                  <a:tcPr>
                    <a:solidFill>
                      <a:srgbClr val="E8F0FE"/>
                    </a:solidFill>
                  </a:tcPr>
                </a:tc>
              </a:tr>
              <a:tr h="313508">
                <a:tc>
                  <a:txBody>
                    <a:bodyPr/>
                    <a:lstStyle/>
                    <a:p>
                      <a:pPr algn="l"/>
                      <a:r>
                        <a:rPr sz="1000" b="1">
                          <a:solidFill>
                            <a:srgbClr val="202020"/>
                          </a:solidFill>
                        </a:rPr>
                        <a:t>FCNN</a:t>
                      </a:r>
                    </a:p>
                  </a:txBody>
                  <a:tcPr>
                    <a:solidFill>
                      <a:srgbClr val="FFFFFF"/>
                    </a:solidFill>
                  </a:tcPr>
                </a:tc>
                <a:tc>
                  <a:txBody>
                    <a:bodyPr/>
                    <a:lstStyle/>
                    <a:p>
                      <a:pPr algn="ctr"/>
                      <a:r>
                        <a:rPr sz="1000" b="1">
                          <a:solidFill>
                            <a:srgbClr val="202020"/>
                          </a:solidFill>
                        </a:rPr>
                        <a:t>0.438</a:t>
                      </a:r>
                    </a:p>
                  </a:txBody>
                  <a:tcPr>
                    <a:solidFill>
                      <a:srgbClr val="C6EFCE"/>
                    </a:solidFill>
                  </a:tcPr>
                </a:tc>
                <a:tc>
                  <a:txBody>
                    <a:bodyPr/>
                    <a:lstStyle/>
                    <a:p>
                      <a:pPr algn="ctr"/>
                      <a:r>
                        <a:rPr sz="1000" b="0">
                          <a:solidFill>
                            <a:srgbClr val="202020"/>
                          </a:solidFill>
                        </a:rPr>
                        <a:t>0.592</a:t>
                      </a:r>
                    </a:p>
                  </a:txBody>
                  <a:tcPr>
                    <a:solidFill>
                      <a:srgbClr val="FFFFFF"/>
                    </a:solidFill>
                  </a:tcPr>
                </a:tc>
                <a:tc>
                  <a:txBody>
                    <a:bodyPr/>
                    <a:lstStyle/>
                    <a:p>
                      <a:pPr algn="ctr"/>
                      <a:r>
                        <a:rPr sz="1000" b="0">
                          <a:solidFill>
                            <a:srgbClr val="202020"/>
                          </a:solidFill>
                        </a:rPr>
                        <a:t>0.361</a:t>
                      </a:r>
                    </a:p>
                  </a:txBody>
                  <a:tcPr>
                    <a:solidFill>
                      <a:srgbClr val="FFFFFF"/>
                    </a:solidFill>
                  </a:tcPr>
                </a:tc>
              </a:tr>
              <a:tr h="313508">
                <a:tc>
                  <a:txBody>
                    <a:bodyPr/>
                    <a:lstStyle/>
                    <a:p>
                      <a:pPr algn="l"/>
                      <a:r>
                        <a:rPr sz="1000" b="1">
                          <a:solidFill>
                            <a:srgbClr val="202020"/>
                          </a:solidFill>
                        </a:rPr>
                        <a:t>Late Fusion</a:t>
                      </a:r>
                    </a:p>
                  </a:txBody>
                  <a:tcPr>
                    <a:solidFill>
                      <a:srgbClr val="E8F0FE"/>
                    </a:solidFill>
                  </a:tcPr>
                </a:tc>
                <a:tc>
                  <a:txBody>
                    <a:bodyPr/>
                    <a:lstStyle/>
                    <a:p>
                      <a:pPr algn="ctr"/>
                      <a:r>
                        <a:rPr sz="1000" b="0">
                          <a:solidFill>
                            <a:srgbClr val="202020"/>
                          </a:solidFill>
                        </a:rPr>
                        <a:t>0.396</a:t>
                      </a:r>
                    </a:p>
                  </a:txBody>
                  <a:tcPr>
                    <a:solidFill>
                      <a:srgbClr val="E8F0FE"/>
                    </a:solidFill>
                  </a:tcPr>
                </a:tc>
                <a:tc>
                  <a:txBody>
                    <a:bodyPr/>
                    <a:lstStyle/>
                    <a:p>
                      <a:pPr algn="ctr"/>
                      <a:r>
                        <a:rPr sz="1000" b="0">
                          <a:solidFill>
                            <a:srgbClr val="202020"/>
                          </a:solidFill>
                        </a:rPr>
                        <a:t>0.592</a:t>
                      </a:r>
                    </a:p>
                  </a:txBody>
                  <a:tcPr>
                    <a:solidFill>
                      <a:srgbClr val="E8F0FE"/>
                    </a:solidFill>
                  </a:tcPr>
                </a:tc>
                <a:tc>
                  <a:txBody>
                    <a:bodyPr/>
                    <a:lstStyle/>
                    <a:p>
                      <a:pPr algn="ctr"/>
                      <a:r>
                        <a:rPr sz="1000" b="0">
                          <a:solidFill>
                            <a:srgbClr val="202020"/>
                          </a:solidFill>
                        </a:rPr>
                        <a:t>0.394</a:t>
                      </a:r>
                    </a:p>
                  </a:txBody>
                  <a:tcPr>
                    <a:solidFill>
                      <a:srgbClr val="E8F0FE"/>
                    </a:solidFill>
                  </a:tcPr>
                </a:tc>
              </a:tr>
              <a:tr h="313508">
                <a:tc>
                  <a:txBody>
                    <a:bodyPr/>
                    <a:lstStyle/>
                    <a:p>
                      <a:pPr algn="l"/>
                      <a:r>
                        <a:rPr sz="1000" b="1">
                          <a:solidFill>
                            <a:srgbClr val="202020"/>
                          </a:solidFill>
                        </a:rPr>
                        <a:t>Intermediate</a:t>
                      </a:r>
                    </a:p>
                  </a:txBody>
                  <a:tcPr>
                    <a:solidFill>
                      <a:srgbClr val="FFFFFF"/>
                    </a:solidFill>
                  </a:tcPr>
                </a:tc>
                <a:tc>
                  <a:txBody>
                    <a:bodyPr/>
                    <a:lstStyle/>
                    <a:p>
                      <a:pPr algn="ctr"/>
                      <a:r>
                        <a:rPr sz="1000" b="0">
                          <a:solidFill>
                            <a:srgbClr val="202020"/>
                          </a:solidFill>
                        </a:rPr>
                        <a:t>0.177</a:t>
                      </a:r>
                    </a:p>
                  </a:txBody>
                  <a:tcPr>
                    <a:solidFill>
                      <a:srgbClr val="FFFFFF"/>
                    </a:solidFill>
                  </a:tcPr>
                </a:tc>
                <a:tc>
                  <a:txBody>
                    <a:bodyPr/>
                    <a:lstStyle/>
                    <a:p>
                      <a:pPr algn="ctr"/>
                      <a:r>
                        <a:rPr sz="1000" b="0">
                          <a:solidFill>
                            <a:srgbClr val="202020"/>
                          </a:solidFill>
                        </a:rPr>
                        <a:t>0.567</a:t>
                      </a:r>
                    </a:p>
                  </a:txBody>
                  <a:tcPr>
                    <a:solidFill>
                      <a:srgbClr val="FFFFFF"/>
                    </a:solidFill>
                  </a:tcPr>
                </a:tc>
                <a:tc>
                  <a:txBody>
                    <a:bodyPr/>
                    <a:lstStyle/>
                    <a:p>
                      <a:pPr algn="ctr"/>
                      <a:r>
                        <a:rPr sz="1000" b="0">
                          <a:solidFill>
                            <a:srgbClr val="202020"/>
                          </a:solidFill>
                        </a:rPr>
                        <a:t>0.243</a:t>
                      </a:r>
                    </a:p>
                  </a:txBody>
                  <a:tcPr>
                    <a:solidFill>
                      <a:srgbClr val="FFFFFF"/>
                    </a:solidFill>
                  </a:tcPr>
                </a:tc>
              </a:tr>
              <a:tr h="313508">
                <a:tc>
                  <a:txBody>
                    <a:bodyPr/>
                    <a:lstStyle/>
                    <a:p>
                      <a:pPr algn="l"/>
                      <a:r>
                        <a:rPr sz="1000" b="1">
                          <a:solidFill>
                            <a:srgbClr val="202020"/>
                          </a:solidFill>
                        </a:rPr>
                        <a:t>CNN TL</a:t>
                      </a:r>
                    </a:p>
                  </a:txBody>
                  <a:tcPr>
                    <a:solidFill>
                      <a:srgbClr val="E8F0FE"/>
                    </a:solidFill>
                  </a:tcPr>
                </a:tc>
                <a:tc>
                  <a:txBody>
                    <a:bodyPr/>
                    <a:lstStyle/>
                    <a:p>
                      <a:pPr algn="ctr"/>
                      <a:r>
                        <a:rPr sz="1000" b="0">
                          <a:solidFill>
                            <a:srgbClr val="202020"/>
                          </a:solidFill>
                        </a:rPr>
                        <a:t>0.330</a:t>
                      </a:r>
                    </a:p>
                  </a:txBody>
                  <a:tcPr>
                    <a:solidFill>
                      <a:srgbClr val="E8F0FE"/>
                    </a:solidFill>
                  </a:tcPr>
                </a:tc>
                <a:tc>
                  <a:txBody>
                    <a:bodyPr/>
                    <a:lstStyle/>
                    <a:p>
                      <a:pPr algn="ctr"/>
                      <a:r>
                        <a:rPr sz="1000" b="0">
                          <a:solidFill>
                            <a:srgbClr val="202020"/>
                          </a:solidFill>
                        </a:rPr>
                        <a:t>0.675</a:t>
                      </a:r>
                    </a:p>
                  </a:txBody>
                  <a:tcPr>
                    <a:solidFill>
                      <a:srgbClr val="E8F0FE"/>
                    </a:solidFill>
                  </a:tcPr>
                </a:tc>
                <a:tc>
                  <a:txBody>
                    <a:bodyPr/>
                    <a:lstStyle/>
                    <a:p>
                      <a:pPr algn="ctr"/>
                      <a:r>
                        <a:rPr sz="1000" b="0">
                          <a:solidFill>
                            <a:srgbClr val="202020"/>
                          </a:solidFill>
                        </a:rPr>
                        <a:t>0.274</a:t>
                      </a:r>
                    </a:p>
                  </a:txBody>
                  <a:tcPr>
                    <a:solidFill>
                      <a:srgbClr val="E8F0FE"/>
                    </a:solidFill>
                  </a:tcPr>
                </a:tc>
              </a:tr>
              <a:tr h="313512">
                <a:tc>
                  <a:txBody>
                    <a:bodyPr/>
                    <a:lstStyle/>
                    <a:p>
                      <a:pPr algn="l"/>
                      <a:r>
                        <a:rPr sz="1000" b="1">
                          <a:solidFill>
                            <a:srgbClr val="202020"/>
                          </a:solidFill>
                        </a:rPr>
                        <a:t>Intermediate TL</a:t>
                      </a:r>
                    </a:p>
                  </a:txBody>
                  <a:tcPr>
                    <a:solidFill>
                      <a:srgbClr val="FFFFFF"/>
                    </a:solidFill>
                  </a:tcPr>
                </a:tc>
                <a:tc>
                  <a:txBody>
                    <a:bodyPr/>
                    <a:lstStyle/>
                    <a:p>
                      <a:pPr algn="ctr"/>
                      <a:r>
                        <a:rPr sz="1000" b="0">
                          <a:solidFill>
                            <a:srgbClr val="202020"/>
                          </a:solidFill>
                        </a:rPr>
                        <a:t>0.375</a:t>
                      </a:r>
                    </a:p>
                  </a:txBody>
                  <a:tcPr>
                    <a:solidFill>
                      <a:srgbClr val="FFFFFF"/>
                    </a:solidFill>
                  </a:tcPr>
                </a:tc>
                <a:tc>
                  <a:txBody>
                    <a:bodyPr/>
                    <a:lstStyle/>
                    <a:p>
                      <a:pPr algn="ctr"/>
                      <a:r>
                        <a:rPr sz="1000" b="1">
                          <a:solidFill>
                            <a:srgbClr val="202020"/>
                          </a:solidFill>
                        </a:rPr>
                        <a:t>0.837</a:t>
                      </a:r>
                    </a:p>
                  </a:txBody>
                  <a:tcPr>
                    <a:solidFill>
                      <a:srgbClr val="C6EFCE"/>
                    </a:solidFill>
                  </a:tcPr>
                </a:tc>
                <a:tc>
                  <a:txBody>
                    <a:bodyPr/>
                    <a:lstStyle/>
                    <a:p>
                      <a:pPr algn="ctr"/>
                      <a:r>
                        <a:rPr sz="1000" b="1">
                          <a:solidFill>
                            <a:srgbClr val="202020"/>
                          </a:solidFill>
                        </a:rPr>
                        <a:t>0.412</a:t>
                      </a:r>
                    </a:p>
                  </a:txBody>
                  <a:tcPr>
                    <a:solidFill>
                      <a:srgbClr val="C6EFCE"/>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FCNN (0.438) | CK+ = Intermediate TL (0.837) | Dataset sendiri = Intermediate TL (0.412)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7-Class -- JAFFE LOSO &amp; CK+ 10-Fold CV</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011680"/>
                <a:gridCol w="2194560"/>
                <a:gridCol w="2194560"/>
                <a:gridCol w="2194560"/>
              </a:tblGrid>
              <a:tr h="313508">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JAFFE LOSO</a:t>
                      </a:r>
                    </a:p>
                  </a:txBody>
                  <a:tcPr>
                    <a:solidFill>
                      <a:srgbClr val="1A73E8"/>
                    </a:solidFill>
                  </a:tcPr>
                </a:tc>
                <a:tc>
                  <a:txBody>
                    <a:bodyPr/>
                    <a:lstStyle/>
                    <a:p>
                      <a:pPr algn="ctr"/>
                      <a:r>
                        <a:rPr sz="950" b="1">
                          <a:solidFill>
                            <a:srgbClr val="FFFFFF"/>
                          </a:solidFill>
                        </a:rPr>
                        <a:t>CK+ 10-Fold CV</a:t>
                      </a:r>
                    </a:p>
                  </a:txBody>
                  <a:tcPr>
                    <a:solidFill>
                      <a:srgbClr val="1A73E8"/>
                    </a:solidFill>
                  </a:tcPr>
                </a:tc>
                <a:tc>
                  <a:txBody>
                    <a:bodyPr/>
                    <a:lstStyle/>
                    <a:p>
                      <a:pPr algn="ctr"/>
                      <a:r>
                        <a:rPr sz="950" b="1">
                          <a:solidFill>
                            <a:srgbClr val="FFFFFF"/>
                          </a:solidFill>
                        </a:rPr>
                        <a:t>Dataset Sendiri</a:t>
                      </a:r>
                    </a:p>
                  </a:txBody>
                  <a:tcPr>
                    <a:solidFill>
                      <a:srgbClr val="1A73E8"/>
                    </a:solidFill>
                  </a:tcPr>
                </a:tc>
              </a:tr>
              <a:tr h="313508">
                <a:tc>
                  <a:txBody>
                    <a:bodyPr/>
                    <a:lstStyle/>
                    <a:p>
                      <a:pPr algn="l"/>
                      <a:r>
                        <a:rPr sz="900" b="1">
                          <a:solidFill>
                            <a:srgbClr val="202020"/>
                          </a:solidFill>
                        </a:rPr>
                        <a:t>CNN</a:t>
                      </a:r>
                    </a:p>
                  </a:txBody>
                  <a:tcPr>
                    <a:solidFill>
                      <a:srgbClr val="E8F0FE"/>
                    </a:solidFill>
                  </a:tcPr>
                </a:tc>
                <a:tc>
                  <a:txBody>
                    <a:bodyPr/>
                    <a:lstStyle/>
                    <a:p>
                      <a:pPr algn="ctr"/>
                      <a:r>
                        <a:rPr sz="900" b="0">
                          <a:solidFill>
                            <a:srgbClr val="202020"/>
                          </a:solidFill>
                        </a:rPr>
                        <a:t>0.249 +/- 0.111</a:t>
                      </a:r>
                    </a:p>
                  </a:txBody>
                  <a:tcPr>
                    <a:solidFill>
                      <a:srgbClr val="E8F0FE"/>
                    </a:solidFill>
                  </a:tcPr>
                </a:tc>
                <a:tc>
                  <a:txBody>
                    <a:bodyPr/>
                    <a:lstStyle/>
                    <a:p>
                      <a:pPr algn="ctr"/>
                      <a:r>
                        <a:rPr sz="900" b="0">
                          <a:solidFill>
                            <a:srgbClr val="202020"/>
                          </a:solidFill>
                        </a:rPr>
                        <a:t>0.404 +/- 0.049</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FCNN</a:t>
                      </a:r>
                    </a:p>
                  </a:txBody>
                  <a:tcPr>
                    <a:solidFill>
                      <a:srgbClr val="FFFFFF"/>
                    </a:solidFill>
                  </a:tcPr>
                </a:tc>
                <a:tc>
                  <a:txBody>
                    <a:bodyPr/>
                    <a:lstStyle/>
                    <a:p>
                      <a:pPr algn="ctr"/>
                      <a:r>
                        <a:rPr sz="900" b="0">
                          <a:solidFill>
                            <a:srgbClr val="202020"/>
                          </a:solidFill>
                        </a:rPr>
                        <a:t>0.304 +/- 0.157</a:t>
                      </a:r>
                    </a:p>
                  </a:txBody>
                  <a:tcPr>
                    <a:solidFill>
                      <a:srgbClr val="FFFFFF"/>
                    </a:solidFill>
                  </a:tcPr>
                </a:tc>
                <a:tc>
                  <a:txBody>
                    <a:bodyPr/>
                    <a:lstStyle/>
                    <a:p>
                      <a:pPr algn="ctr"/>
                      <a:r>
                        <a:rPr sz="900" b="0">
                          <a:solidFill>
                            <a:srgbClr val="202020"/>
                          </a:solidFill>
                        </a:rPr>
                        <a:t>0.478 +/- 0.022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Late Fusion</a:t>
                      </a:r>
                    </a:p>
                  </a:txBody>
                  <a:tcPr>
                    <a:solidFill>
                      <a:srgbClr val="E8F0FE"/>
                    </a:solidFill>
                  </a:tcPr>
                </a:tc>
                <a:tc>
                  <a:txBody>
                    <a:bodyPr/>
                    <a:lstStyle/>
                    <a:p>
                      <a:pPr algn="ctr"/>
                      <a:r>
                        <a:rPr sz="900" b="1">
                          <a:solidFill>
                            <a:srgbClr val="202020"/>
                          </a:solidFill>
                        </a:rPr>
                        <a:t>0.467 +/- 0.092</a:t>
                      </a:r>
                    </a:p>
                  </a:txBody>
                  <a:tcPr>
                    <a:solidFill>
                      <a:srgbClr val="C6EFCE"/>
                    </a:solidFill>
                  </a:tcPr>
                </a:tc>
                <a:tc>
                  <a:txBody>
                    <a:bodyPr/>
                    <a:lstStyle/>
                    <a:p>
                      <a:pPr algn="ctr"/>
                      <a:r>
                        <a:rPr sz="900" b="0">
                          <a:solidFill>
                            <a:srgbClr val="202020"/>
                          </a:solidFill>
                        </a:rPr>
                        <a:t>0.544 +/- 0.060</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Intermediate</a:t>
                      </a:r>
                    </a:p>
                  </a:txBody>
                  <a:tcPr>
                    <a:solidFill>
                      <a:srgbClr val="FFFFFF"/>
                    </a:solidFill>
                  </a:tcPr>
                </a:tc>
                <a:tc>
                  <a:txBody>
                    <a:bodyPr/>
                    <a:lstStyle/>
                    <a:p>
                      <a:pPr algn="ctr"/>
                      <a:r>
                        <a:rPr sz="900" b="0">
                          <a:solidFill>
                            <a:srgbClr val="202020"/>
                          </a:solidFill>
                        </a:rPr>
                        <a:t>0.129 +/- 0.070</a:t>
                      </a:r>
                    </a:p>
                  </a:txBody>
                  <a:tcPr>
                    <a:solidFill>
                      <a:srgbClr val="FFFFFF"/>
                    </a:solidFill>
                  </a:tcPr>
                </a:tc>
                <a:tc>
                  <a:txBody>
                    <a:bodyPr/>
                    <a:lstStyle/>
                    <a:p>
                      <a:pPr algn="ctr"/>
                      <a:r>
                        <a:rPr sz="900" b="0">
                          <a:solidFill>
                            <a:srgbClr val="202020"/>
                          </a:solidFill>
                        </a:rPr>
                        <a:t>0.226 +/- 0.082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CNN TL</a:t>
                      </a:r>
                    </a:p>
                  </a:txBody>
                  <a:tcPr>
                    <a:solidFill>
                      <a:srgbClr val="E8F0FE"/>
                    </a:solidFill>
                  </a:tcPr>
                </a:tc>
                <a:tc>
                  <a:txBody>
                    <a:bodyPr/>
                    <a:lstStyle/>
                    <a:p>
                      <a:pPr algn="ctr"/>
                      <a:r>
                        <a:rPr sz="900" b="0">
                          <a:solidFill>
                            <a:srgbClr val="202020"/>
                          </a:solidFill>
                        </a:rPr>
                        <a:t>0.426 +/- 0.143</a:t>
                      </a:r>
                    </a:p>
                  </a:txBody>
                  <a:tcPr>
                    <a:solidFill>
                      <a:srgbClr val="E8F0FE"/>
                    </a:solidFill>
                  </a:tcPr>
                </a:tc>
                <a:tc>
                  <a:txBody>
                    <a:bodyPr/>
                    <a:lstStyle/>
                    <a:p>
                      <a:pPr algn="ctr"/>
                      <a:r>
                        <a:rPr sz="900" b="0">
                          <a:solidFill>
                            <a:srgbClr val="202020"/>
                          </a:solidFill>
                        </a:rPr>
                        <a:t>0.734 +/- 0.082</a:t>
                      </a:r>
                    </a:p>
                  </a:txBody>
                  <a:tcPr>
                    <a:solidFill>
                      <a:srgbClr val="E8F0FE"/>
                    </a:solidFill>
                  </a:tcPr>
                </a:tc>
                <a:tc>
                  <a:txBody>
                    <a:bodyPr/>
                    <a:lstStyle/>
                    <a:p>
                      <a:pPr algn="ctr"/>
                      <a:r>
                        <a:rPr sz="900" b="0">
                          <a:solidFill>
                            <a:srgbClr val="202020"/>
                          </a:solidFill>
                        </a:rPr>
                        <a:t>-</a:t>
                      </a:r>
                    </a:p>
                  </a:txBody>
                  <a:tcPr>
                    <a:solidFill>
                      <a:srgbClr val="E8F0FE"/>
                    </a:solidFill>
                  </a:tcPr>
                </a:tc>
              </a:tr>
              <a:tr h="313512">
                <a:tc>
                  <a:txBody>
                    <a:bodyPr/>
                    <a:lstStyle/>
                    <a:p>
                      <a:pPr algn="l"/>
                      <a:r>
                        <a:rPr sz="900" b="1">
                          <a:solidFill>
                            <a:srgbClr val="202020"/>
                          </a:solidFill>
                        </a:rPr>
                        <a:t>Intermediate TL</a:t>
                      </a:r>
                    </a:p>
                  </a:txBody>
                  <a:tcPr>
                    <a:solidFill>
                      <a:srgbClr val="FFFFFF"/>
                    </a:solidFill>
                  </a:tcPr>
                </a:tc>
                <a:tc>
                  <a:txBody>
                    <a:bodyPr/>
                    <a:lstStyle/>
                    <a:p>
                      <a:pPr algn="ctr"/>
                      <a:r>
                        <a:rPr sz="900" b="0">
                          <a:solidFill>
                            <a:srgbClr val="202020"/>
                          </a:solidFill>
                        </a:rPr>
                        <a:t>0.293 +/- 0.156</a:t>
                      </a:r>
                    </a:p>
                  </a:txBody>
                  <a:tcPr>
                    <a:solidFill>
                      <a:srgbClr val="FFFFFF"/>
                    </a:solidFill>
                  </a:tcPr>
                </a:tc>
                <a:tc>
                  <a:txBody>
                    <a:bodyPr/>
                    <a:lstStyle/>
                    <a:p>
                      <a:pPr algn="ctr"/>
                      <a:r>
                        <a:rPr sz="900" b="1">
                          <a:solidFill>
                            <a:srgbClr val="202020"/>
                          </a:solidFill>
                        </a:rPr>
                        <a:t>0.783 +/- 0.107</a:t>
                      </a:r>
                    </a:p>
                  </a:txBody>
                  <a:tcPr>
                    <a:solidFill>
                      <a:srgbClr val="C6EFCE"/>
                    </a:solidFill>
                  </a:tcPr>
                </a:tc>
                <a:tc>
                  <a:txBody>
                    <a:bodyPr/>
                    <a:lstStyle/>
                    <a:p>
                      <a:pPr algn="ctr"/>
                      <a:r>
                        <a:rPr sz="900" b="0">
                          <a:solidFill>
                            <a:srgbClr val="202020"/>
                          </a:solidFill>
                        </a:rPr>
                        <a:t>0.370 +/- 0.125</a:t>
                      </a:r>
                    </a:p>
                  </a:txBody>
                  <a:tcPr>
                    <a:solidFill>
                      <a:srgbClr val="FFFFFF"/>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Late Fusion (0.467) | CK+ = Intermediate TL (0.783)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4-Class -- JAFFE LOSO &amp; CK+ 10-Fold CV</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011680"/>
                <a:gridCol w="2194560"/>
                <a:gridCol w="2194560"/>
                <a:gridCol w="2194560"/>
              </a:tblGrid>
              <a:tr h="313508">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JAFFE LOSO</a:t>
                      </a:r>
                    </a:p>
                  </a:txBody>
                  <a:tcPr>
                    <a:solidFill>
                      <a:srgbClr val="1A73E8"/>
                    </a:solidFill>
                  </a:tcPr>
                </a:tc>
                <a:tc>
                  <a:txBody>
                    <a:bodyPr/>
                    <a:lstStyle/>
                    <a:p>
                      <a:pPr algn="ctr"/>
                      <a:r>
                        <a:rPr sz="950" b="1">
                          <a:solidFill>
                            <a:srgbClr val="FFFFFF"/>
                          </a:solidFill>
                        </a:rPr>
                        <a:t>CK+ 10-Fold CV</a:t>
                      </a:r>
                    </a:p>
                  </a:txBody>
                  <a:tcPr>
                    <a:solidFill>
                      <a:srgbClr val="1A73E8"/>
                    </a:solidFill>
                  </a:tcPr>
                </a:tc>
                <a:tc>
                  <a:txBody>
                    <a:bodyPr/>
                    <a:lstStyle/>
                    <a:p>
                      <a:pPr algn="ctr"/>
                      <a:r>
                        <a:rPr sz="950" b="1">
                          <a:solidFill>
                            <a:srgbClr val="FFFFFF"/>
                          </a:solidFill>
                        </a:rPr>
                        <a:t>Dataset Sendiri</a:t>
                      </a:r>
                    </a:p>
                  </a:txBody>
                  <a:tcPr>
                    <a:solidFill>
                      <a:srgbClr val="1A73E8"/>
                    </a:solidFill>
                  </a:tcPr>
                </a:tc>
              </a:tr>
              <a:tr h="313508">
                <a:tc>
                  <a:txBody>
                    <a:bodyPr/>
                    <a:lstStyle/>
                    <a:p>
                      <a:pPr algn="l"/>
                      <a:r>
                        <a:rPr sz="900" b="1">
                          <a:solidFill>
                            <a:srgbClr val="202020"/>
                          </a:solidFill>
                        </a:rPr>
                        <a:t>CNN</a:t>
                      </a:r>
                    </a:p>
                  </a:txBody>
                  <a:tcPr>
                    <a:solidFill>
                      <a:srgbClr val="E8F0FE"/>
                    </a:solidFill>
                  </a:tcPr>
                </a:tc>
                <a:tc>
                  <a:txBody>
                    <a:bodyPr/>
                    <a:lstStyle/>
                    <a:p>
                      <a:pPr algn="ctr"/>
                      <a:r>
                        <a:rPr sz="900" b="0">
                          <a:solidFill>
                            <a:srgbClr val="202020"/>
                          </a:solidFill>
                        </a:rPr>
                        <a:t>0.338 +/- 0.161</a:t>
                      </a:r>
                    </a:p>
                  </a:txBody>
                  <a:tcPr>
                    <a:solidFill>
                      <a:srgbClr val="E8F0FE"/>
                    </a:solidFill>
                  </a:tcPr>
                </a:tc>
                <a:tc>
                  <a:txBody>
                    <a:bodyPr/>
                    <a:lstStyle/>
                    <a:p>
                      <a:pPr algn="ctr"/>
                      <a:r>
                        <a:rPr sz="900" b="0">
                          <a:solidFill>
                            <a:srgbClr val="202020"/>
                          </a:solidFill>
                        </a:rPr>
                        <a:t>0.584 +/- 0.163</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FCNN</a:t>
                      </a:r>
                    </a:p>
                  </a:txBody>
                  <a:tcPr>
                    <a:solidFill>
                      <a:srgbClr val="FFFFFF"/>
                    </a:solidFill>
                  </a:tcPr>
                </a:tc>
                <a:tc>
                  <a:txBody>
                    <a:bodyPr/>
                    <a:lstStyle/>
                    <a:p>
                      <a:pPr algn="ctr"/>
                      <a:r>
                        <a:rPr sz="900" b="0">
                          <a:solidFill>
                            <a:srgbClr val="202020"/>
                          </a:solidFill>
                        </a:rPr>
                        <a:t>0.431 +/- 0.194</a:t>
                      </a:r>
                    </a:p>
                  </a:txBody>
                  <a:tcPr>
                    <a:solidFill>
                      <a:srgbClr val="FFFFFF"/>
                    </a:solidFill>
                  </a:tcPr>
                </a:tc>
                <a:tc>
                  <a:txBody>
                    <a:bodyPr/>
                    <a:lstStyle/>
                    <a:p>
                      <a:pPr algn="ctr"/>
                      <a:r>
                        <a:rPr sz="900" b="0">
                          <a:solidFill>
                            <a:srgbClr val="202020"/>
                          </a:solidFill>
                        </a:rPr>
                        <a:t>0.598 +/- 0.036</a:t>
                      </a:r>
                    </a:p>
                  </a:txBody>
                  <a:tcPr>
                    <a:solidFill>
                      <a:srgbClr val="FFFFFF"/>
                    </a:solidFill>
                  </a:tcPr>
                </a:tc>
                <a:tc>
                  <a:txBody>
                    <a:bodyPr/>
                    <a:lstStyle/>
                    <a:p>
                      <a:pPr algn="ctr"/>
                      <a:r>
                        <a:rPr sz="900" b="0">
                          <a:solidFill>
                            <a:srgbClr val="202020"/>
                          </a:solidFill>
                        </a:rPr>
                        <a:t>0.399 +/- 0.062*</a:t>
                      </a:r>
                    </a:p>
                  </a:txBody>
                  <a:tcPr>
                    <a:solidFill>
                      <a:srgbClr val="FFFFFF"/>
                    </a:solidFill>
                  </a:tcPr>
                </a:tc>
              </a:tr>
              <a:tr h="313508">
                <a:tc>
                  <a:txBody>
                    <a:bodyPr/>
                    <a:lstStyle/>
                    <a:p>
                      <a:pPr algn="l"/>
                      <a:r>
                        <a:rPr sz="900" b="1">
                          <a:solidFill>
                            <a:srgbClr val="202020"/>
                          </a:solidFill>
                        </a:rPr>
                        <a:t>Late Fusion</a:t>
                      </a:r>
                    </a:p>
                  </a:txBody>
                  <a:tcPr>
                    <a:solidFill>
                      <a:srgbClr val="E8F0FE"/>
                    </a:solidFill>
                  </a:tcPr>
                </a:tc>
                <a:tc>
                  <a:txBody>
                    <a:bodyPr/>
                    <a:lstStyle/>
                    <a:p>
                      <a:pPr algn="ctr"/>
                      <a:r>
                        <a:rPr sz="900" b="1">
                          <a:solidFill>
                            <a:srgbClr val="202020"/>
                          </a:solidFill>
                        </a:rPr>
                        <a:t>0.530 +/- 0.126</a:t>
                      </a:r>
                    </a:p>
                  </a:txBody>
                  <a:tcPr>
                    <a:solidFill>
                      <a:srgbClr val="C6EFCE"/>
                    </a:solidFill>
                  </a:tcPr>
                </a:tc>
                <a:tc>
                  <a:txBody>
                    <a:bodyPr/>
                    <a:lstStyle/>
                    <a:p>
                      <a:pPr algn="ctr"/>
                      <a:r>
                        <a:rPr sz="900" b="0">
                          <a:solidFill>
                            <a:srgbClr val="202020"/>
                          </a:solidFill>
                        </a:rPr>
                        <a:t>0.621 +/- 0.031</a:t>
                      </a:r>
                    </a:p>
                  </a:txBody>
                  <a:tcPr>
                    <a:solidFill>
                      <a:srgbClr val="E8F0FE"/>
                    </a:solidFill>
                  </a:tcPr>
                </a:tc>
                <a:tc>
                  <a:txBody>
                    <a:bodyPr/>
                    <a:lstStyle/>
                    <a:p>
                      <a:pPr algn="ctr"/>
                      <a:r>
                        <a:rPr sz="900" b="0">
                          <a:solidFill>
                            <a:srgbClr val="202020"/>
                          </a:solidFill>
                        </a:rPr>
                        <a:t>0.401 +/- 0.055*</a:t>
                      </a:r>
                    </a:p>
                  </a:txBody>
                  <a:tcPr>
                    <a:solidFill>
                      <a:srgbClr val="E8F0FE"/>
                    </a:solidFill>
                  </a:tcPr>
                </a:tc>
              </a:tr>
              <a:tr h="313508">
                <a:tc>
                  <a:txBody>
                    <a:bodyPr/>
                    <a:lstStyle/>
                    <a:p>
                      <a:pPr algn="l"/>
                      <a:r>
                        <a:rPr sz="900" b="1">
                          <a:solidFill>
                            <a:srgbClr val="202020"/>
                          </a:solidFill>
                        </a:rPr>
                        <a:t>Intermediate</a:t>
                      </a:r>
                    </a:p>
                  </a:txBody>
                  <a:tcPr>
                    <a:solidFill>
                      <a:srgbClr val="FFFFFF"/>
                    </a:solidFill>
                  </a:tcPr>
                </a:tc>
                <a:tc>
                  <a:txBody>
                    <a:bodyPr/>
                    <a:lstStyle/>
                    <a:p>
                      <a:pPr algn="ctr"/>
                      <a:r>
                        <a:rPr sz="900" b="0">
                          <a:solidFill>
                            <a:srgbClr val="202020"/>
                          </a:solidFill>
                        </a:rPr>
                        <a:t>0.202 +/- 0.066</a:t>
                      </a:r>
                    </a:p>
                  </a:txBody>
                  <a:tcPr>
                    <a:solidFill>
                      <a:srgbClr val="FFFFFF"/>
                    </a:solidFill>
                  </a:tcPr>
                </a:tc>
                <a:tc>
                  <a:txBody>
                    <a:bodyPr/>
                    <a:lstStyle/>
                    <a:p>
                      <a:pPr algn="ctr"/>
                      <a:r>
                        <a:rPr sz="900" b="0">
                          <a:solidFill>
                            <a:srgbClr val="202020"/>
                          </a:solidFill>
                        </a:rPr>
                        <a:t>0.458 +/- 0.172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CNN TL</a:t>
                      </a:r>
                    </a:p>
                  </a:txBody>
                  <a:tcPr>
                    <a:solidFill>
                      <a:srgbClr val="E8F0FE"/>
                    </a:solidFill>
                  </a:tcPr>
                </a:tc>
                <a:tc>
                  <a:txBody>
                    <a:bodyPr/>
                    <a:lstStyle/>
                    <a:p>
                      <a:pPr algn="ctr"/>
                      <a:r>
                        <a:rPr sz="900" b="0">
                          <a:solidFill>
                            <a:srgbClr val="202020"/>
                          </a:solidFill>
                        </a:rPr>
                        <a:t>0.510 +/- 0.155</a:t>
                      </a:r>
                    </a:p>
                  </a:txBody>
                  <a:tcPr>
                    <a:solidFill>
                      <a:srgbClr val="E8F0FE"/>
                    </a:solidFill>
                  </a:tcPr>
                </a:tc>
                <a:tc>
                  <a:txBody>
                    <a:bodyPr/>
                    <a:lstStyle/>
                    <a:p>
                      <a:pPr algn="ctr"/>
                      <a:r>
                        <a:rPr sz="900" b="1">
                          <a:solidFill>
                            <a:srgbClr val="202020"/>
                          </a:solidFill>
                        </a:rPr>
                        <a:t>0.755 +/- 0.079</a:t>
                      </a:r>
                    </a:p>
                  </a:txBody>
                  <a:tcPr>
                    <a:solidFill>
                      <a:srgbClr val="C6EFCE"/>
                    </a:solidFill>
                  </a:tcPr>
                </a:tc>
                <a:tc>
                  <a:txBody>
                    <a:bodyPr/>
                    <a:lstStyle/>
                    <a:p>
                      <a:pPr algn="ctr"/>
                      <a:r>
                        <a:rPr sz="900" b="0">
                          <a:solidFill>
                            <a:srgbClr val="202020"/>
                          </a:solidFill>
                        </a:rPr>
                        <a:t>-</a:t>
                      </a:r>
                    </a:p>
                  </a:txBody>
                  <a:tcPr>
                    <a:solidFill>
                      <a:srgbClr val="E8F0FE"/>
                    </a:solidFill>
                  </a:tcPr>
                </a:tc>
              </a:tr>
              <a:tr h="313512">
                <a:tc>
                  <a:txBody>
                    <a:bodyPr/>
                    <a:lstStyle/>
                    <a:p>
                      <a:pPr algn="l"/>
                      <a:r>
                        <a:rPr sz="900" b="1">
                          <a:solidFill>
                            <a:srgbClr val="202020"/>
                          </a:solidFill>
                        </a:rPr>
                        <a:t>Intermediate TL</a:t>
                      </a:r>
                    </a:p>
                  </a:txBody>
                  <a:tcPr>
                    <a:solidFill>
                      <a:srgbClr val="FFFFFF"/>
                    </a:solidFill>
                  </a:tcPr>
                </a:tc>
                <a:tc>
                  <a:txBody>
                    <a:bodyPr/>
                    <a:lstStyle/>
                    <a:p>
                      <a:pPr algn="ctr"/>
                      <a:r>
                        <a:rPr sz="900" b="0">
                          <a:solidFill>
                            <a:srgbClr val="202020"/>
                          </a:solidFill>
                        </a:rPr>
                        <a:t>0.450 +/- 0.214</a:t>
                      </a:r>
                    </a:p>
                  </a:txBody>
                  <a:tcPr>
                    <a:solidFill>
                      <a:srgbClr val="FFFFFF"/>
                    </a:solidFill>
                  </a:tcPr>
                </a:tc>
                <a:tc>
                  <a:txBody>
                    <a:bodyPr/>
                    <a:lstStyle/>
                    <a:p>
                      <a:pPr algn="ctr"/>
                      <a:r>
                        <a:rPr sz="900" b="0">
                          <a:solidFill>
                            <a:srgbClr val="202020"/>
                          </a:solidFill>
                        </a:rPr>
                        <a:t>0.715 +/- 0.054</a:t>
                      </a:r>
                    </a:p>
                  </a:txBody>
                  <a:tcPr>
                    <a:solidFill>
                      <a:srgbClr val="FFFFFF"/>
                    </a:solidFill>
                  </a:tcPr>
                </a:tc>
                <a:tc>
                  <a:txBody>
                    <a:bodyPr/>
                    <a:lstStyle/>
                    <a:p>
                      <a:pPr algn="ctr"/>
                      <a:r>
                        <a:rPr sz="900" b="1">
                          <a:solidFill>
                            <a:srgbClr val="202020"/>
                          </a:solidFill>
                        </a:rPr>
                        <a:t>0.435 +/- 0.068*</a:t>
                      </a:r>
                    </a:p>
                  </a:txBody>
                  <a:tcPr>
                    <a:solidFill>
                      <a:srgbClr val="C6EFCE"/>
                    </a:solidFill>
                  </a:tcPr>
                </a:tc>
              </a:tr>
            </a:tbl>
          </a:graphicData>
        </a:graphic>
      </p:graphicFrame>
      <p:sp>
        <p:nvSpPr>
          <p:cNvPr id="4" name="TextBox 3"/>
          <p:cNvSpPr txBox="1"/>
          <p:nvPr/>
        </p:nvSpPr>
        <p:spPr>
          <a:xfrm>
            <a:off x="274320" y="3017520"/>
            <a:ext cx="8595360" cy="320040"/>
          </a:xfrm>
          <a:prstGeom prst="rect">
            <a:avLst/>
          </a:prstGeom>
          <a:noFill/>
        </p:spPr>
        <p:txBody>
          <a:bodyPr wrap="square">
            <a:spAutoFit/>
          </a:bodyPr>
          <a:lstStyle/>
          <a:p>
            <a:pPr algn="l"/>
            <a:r>
              <a:rPr sz="900" b="1" i="0">
                <a:solidFill>
                  <a:srgbClr val="202020"/>
                </a:solidFill>
              </a:rPr>
              <a:t>Best: JAFFE = Late Fusion (0.530) | CK+ = CNN TL (0.755) | Dataset sendiri = Intermediate TL (0.435)</a:t>
            </a:r>
          </a:p>
          <a:p>
            <a:pPr algn="l"/>
            <a:r>
              <a:rPr sz="800" b="0" i="1">
                <a:solidFill>
                  <a:srgbClr val="666666"/>
                </a:solidFill>
              </a:rPr>
              <a:t>*5-Fold CV (dataset sendiri) | LOSO Intermediate TL: 0.370 +/- 0.125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JAFFE (LOSO) &amp; CK+ (10-Fold CV)</a:t>
            </a:r>
          </a:p>
        </p:txBody>
      </p:sp>
      <p:sp>
        <p:nvSpPr>
          <p:cNvPr id="3" name="TextBox 2"/>
          <p:cNvSpPr txBox="1"/>
          <p:nvPr/>
        </p:nvSpPr>
        <p:spPr>
          <a:xfrm>
            <a:off x="274320" y="658368"/>
            <a:ext cx="8595360" cy="228600"/>
          </a:xfrm>
          <a:prstGeom prst="rect">
            <a:avLst/>
          </a:prstGeom>
          <a:noFill/>
        </p:spPr>
        <p:txBody>
          <a:bodyPr wrap="none">
            <a:spAutoFit/>
          </a:bodyPr>
          <a:lstStyle/>
          <a:p>
            <a:pPr algn="l"/>
            <a:r>
              <a:rPr sz="1000" b="1" i="0">
                <a:solidFill>
                  <a:srgbClr val="202020"/>
                </a:solidFill>
              </a:rPr>
              <a:t>Best Model per Dataset (Macro F1)</a:t>
            </a:r>
          </a:p>
        </p:txBody>
      </p:sp>
      <p:graphicFrame>
        <p:nvGraphicFramePr>
          <p:cNvPr id="4" name="Table 3"/>
          <p:cNvGraphicFramePr>
            <a:graphicFrameLocks noGrp="1"/>
          </p:cNvGraphicFramePr>
          <p:nvPr/>
        </p:nvGraphicFramePr>
        <p:xfrm>
          <a:off x="274320" y="914400"/>
          <a:ext cx="8595359" cy="2011680"/>
        </p:xfrm>
        <a:graphic>
          <a:graphicData uri="http://schemas.openxmlformats.org/drawingml/2006/table">
            <a:tbl>
              <a:tblPr firstRow="1" bandRow="1"/>
              <a:tblGrid>
                <a:gridCol w="2455817"/>
                <a:gridCol w="1674420"/>
                <a:gridCol w="2232561"/>
                <a:gridCol w="2232561"/>
              </a:tblGrid>
              <a:tr h="287382">
                <a:tc>
                  <a:txBody>
                    <a:bodyPr/>
                    <a:lstStyle/>
                    <a:p>
                      <a:pPr algn="ctr"/>
                      <a:r>
                        <a:rPr sz="950" b="1">
                          <a:solidFill>
                            <a:srgbClr val="FFFFFF"/>
                          </a:solidFill>
                        </a:rPr>
                        <a:t>Dataset</a:t>
                      </a:r>
                    </a:p>
                  </a:txBody>
                  <a:tcPr>
                    <a:solidFill>
                      <a:srgbClr val="1A73E8"/>
                    </a:solidFill>
                  </a:tcPr>
                </a:tc>
                <a:tc>
                  <a:txBody>
                    <a:bodyPr/>
                    <a:lstStyle/>
                    <a:p>
                      <a:pPr algn="ctr"/>
                      <a:r>
                        <a:rPr sz="950" b="1">
                          <a:solidFill>
                            <a:srgbClr val="FFFFFF"/>
                          </a:solidFill>
                        </a:rPr>
                        <a:t>Evaluasi</a:t>
                      </a:r>
                    </a:p>
                  </a:txBody>
                  <a:tcPr>
                    <a:solidFill>
                      <a:srgbClr val="1A73E8"/>
                    </a:solidFill>
                  </a:tcPr>
                </a:tc>
                <a:tc>
                  <a:txBody>
                    <a:bodyPr/>
                    <a:lstStyle/>
                    <a:p>
                      <a:pPr algn="ctr"/>
                      <a:r>
                        <a:rPr sz="950" b="1">
                          <a:solidFill>
                            <a:srgbClr val="FFFFFF"/>
                          </a:solidFill>
                        </a:rPr>
                        <a:t>Best Model</a:t>
                      </a:r>
                    </a:p>
                  </a:txBody>
                  <a:tcPr>
                    <a:solidFill>
                      <a:srgbClr val="1A73E8"/>
                    </a:solidFill>
                  </a:tcPr>
                </a:tc>
                <a:tc>
                  <a:txBody>
                    <a:bodyPr/>
                    <a:lstStyle/>
                    <a:p>
                      <a:pPr algn="ctr"/>
                      <a:r>
                        <a:rPr sz="950" b="1">
                          <a:solidFill>
                            <a:srgbClr val="FFFFFF"/>
                          </a:solidFill>
                        </a:rPr>
                        <a:t>Macro F1</a:t>
                      </a:r>
                    </a:p>
                  </a:txBody>
                  <a:tcPr>
                    <a:solidFill>
                      <a:srgbClr val="1A73E8"/>
                    </a:solidFill>
                  </a:tcPr>
                </a:tc>
              </a:tr>
              <a:tr h="287382">
                <a:tc>
                  <a:txBody>
                    <a:bodyPr/>
                    <a:lstStyle/>
                    <a:p>
                      <a:pPr algn="l"/>
                      <a:r>
                        <a:rPr sz="950" b="1">
                          <a:solidFill>
                            <a:srgbClr val="202020"/>
                          </a:solidFill>
                        </a:rPr>
                        <a:t>CK+ 7-class</a:t>
                      </a:r>
                    </a:p>
                  </a:txBody>
                  <a:tcPr>
                    <a:solidFill>
                      <a:srgbClr val="C6EFCE"/>
                    </a:solidFill>
                  </a:tcPr>
                </a:tc>
                <a:tc>
                  <a:txBody>
                    <a:bodyPr/>
                    <a:lstStyle/>
                    <a:p>
                      <a:pPr algn="l"/>
                      <a:r>
                        <a:rPr sz="950" b="1">
                          <a:solidFill>
                            <a:srgbClr val="202020"/>
                          </a:solidFill>
                        </a:rPr>
                        <a:t>10-Fold CV</a:t>
                      </a:r>
                    </a:p>
                  </a:txBody>
                  <a:tcPr>
                    <a:solidFill>
                      <a:srgbClr val="C6EFCE"/>
                    </a:solidFill>
                  </a:tcPr>
                </a:tc>
                <a:tc>
                  <a:txBody>
                    <a:bodyPr/>
                    <a:lstStyle/>
                    <a:p>
                      <a:pPr algn="ctr"/>
                      <a:r>
                        <a:rPr sz="950" b="1">
                          <a:solidFill>
                            <a:srgbClr val="202020"/>
                          </a:solidFill>
                        </a:rPr>
                        <a:t>Intermediate TL</a:t>
                      </a:r>
                    </a:p>
                  </a:txBody>
                  <a:tcPr>
                    <a:solidFill>
                      <a:srgbClr val="C6EFCE"/>
                    </a:solidFill>
                  </a:tcPr>
                </a:tc>
                <a:tc>
                  <a:txBody>
                    <a:bodyPr/>
                    <a:lstStyle/>
                    <a:p>
                      <a:pPr algn="ctr"/>
                      <a:r>
                        <a:rPr sz="950" b="1">
                          <a:solidFill>
                            <a:srgbClr val="202020"/>
                          </a:solidFill>
                        </a:rPr>
                        <a:t>0.783 +/- 0.107</a:t>
                      </a:r>
                    </a:p>
                  </a:txBody>
                  <a:tcPr>
                    <a:solidFill>
                      <a:srgbClr val="C6EFCE"/>
                    </a:solidFill>
                  </a:tcPr>
                </a:tc>
              </a:tr>
              <a:tr h="287382">
                <a:tc>
                  <a:txBody>
                    <a:bodyPr/>
                    <a:lstStyle/>
                    <a:p>
                      <a:pPr algn="l"/>
                      <a:r>
                        <a:rPr sz="950" b="1">
                          <a:solidFill>
                            <a:srgbClr val="202020"/>
                          </a:solidFill>
                        </a:rPr>
                        <a:t>CK+ 4-class</a:t>
                      </a:r>
                    </a:p>
                  </a:txBody>
                  <a:tcPr>
                    <a:solidFill>
                      <a:srgbClr val="FFFFFF"/>
                    </a:solidFill>
                  </a:tcPr>
                </a:tc>
                <a:tc>
                  <a:txBody>
                    <a:bodyPr/>
                    <a:lstStyle/>
                    <a:p>
                      <a:pPr algn="l"/>
                      <a:r>
                        <a:rPr sz="950" b="0">
                          <a:solidFill>
                            <a:srgbClr val="202020"/>
                          </a:solidFill>
                        </a:rPr>
                        <a:t>10-Fold CV</a:t>
                      </a:r>
                    </a:p>
                  </a:txBody>
                  <a:tcPr>
                    <a:solidFill>
                      <a:srgbClr val="FFFFFF"/>
                    </a:solidFill>
                  </a:tcPr>
                </a:tc>
                <a:tc>
                  <a:txBody>
                    <a:bodyPr/>
                    <a:lstStyle/>
                    <a:p>
                      <a:pPr algn="ctr"/>
                      <a:r>
                        <a:rPr sz="950" b="0">
                          <a:solidFill>
                            <a:srgbClr val="202020"/>
                          </a:solidFill>
                        </a:rPr>
                        <a:t>CNN TL</a:t>
                      </a:r>
                    </a:p>
                  </a:txBody>
                  <a:tcPr>
                    <a:solidFill>
                      <a:srgbClr val="FFFFFF"/>
                    </a:solidFill>
                  </a:tcPr>
                </a:tc>
                <a:tc>
                  <a:txBody>
                    <a:bodyPr/>
                    <a:lstStyle/>
                    <a:p>
                      <a:pPr algn="ctr"/>
                      <a:r>
                        <a:rPr sz="950" b="0">
                          <a:solidFill>
                            <a:srgbClr val="202020"/>
                          </a:solidFill>
                        </a:rPr>
                        <a:t>0.755 +/- 0.079</a:t>
                      </a:r>
                    </a:p>
                  </a:txBody>
                  <a:tcPr>
                    <a:solidFill>
                      <a:srgbClr val="FFFFFF"/>
                    </a:solidFill>
                  </a:tcPr>
                </a:tc>
              </a:tr>
              <a:tr h="287382">
                <a:tc>
                  <a:txBody>
                    <a:bodyPr/>
                    <a:lstStyle/>
                    <a:p>
                      <a:pPr algn="l"/>
                      <a:r>
                        <a:rPr sz="950" b="1">
                          <a:solidFill>
                            <a:srgbClr val="202020"/>
                          </a:solidFill>
                        </a:rPr>
                        <a:t>JAFFE 7-class</a:t>
                      </a:r>
                    </a:p>
                  </a:txBody>
                  <a:tcPr>
                    <a:solidFill>
                      <a:srgbClr val="E8F0FE"/>
                    </a:solidFill>
                  </a:tcPr>
                </a:tc>
                <a:tc>
                  <a:txBody>
                    <a:bodyPr/>
                    <a:lstStyle/>
                    <a:p>
                      <a:pPr algn="l"/>
                      <a:r>
                        <a:rPr sz="950" b="0">
                          <a:solidFill>
                            <a:srgbClr val="202020"/>
                          </a:solidFill>
                        </a:rPr>
                        <a:t>LOSO (10)</a:t>
                      </a:r>
                    </a:p>
                  </a:txBody>
                  <a:tcPr>
                    <a:solidFill>
                      <a:srgbClr val="E8F0FE"/>
                    </a:solidFill>
                  </a:tcPr>
                </a:tc>
                <a:tc>
                  <a:txBody>
                    <a:bodyPr/>
                    <a:lstStyle/>
                    <a:p>
                      <a:pPr algn="ctr"/>
                      <a:r>
                        <a:rPr sz="950" b="0">
                          <a:solidFill>
                            <a:srgbClr val="202020"/>
                          </a:solidFill>
                        </a:rPr>
                        <a:t>Late Fusion</a:t>
                      </a:r>
                    </a:p>
                  </a:txBody>
                  <a:tcPr>
                    <a:solidFill>
                      <a:srgbClr val="E8F0FE"/>
                    </a:solidFill>
                  </a:tcPr>
                </a:tc>
                <a:tc>
                  <a:txBody>
                    <a:bodyPr/>
                    <a:lstStyle/>
                    <a:p>
                      <a:pPr algn="ctr"/>
                      <a:r>
                        <a:rPr sz="950" b="0">
                          <a:solidFill>
                            <a:srgbClr val="202020"/>
                          </a:solidFill>
                        </a:rPr>
                        <a:t>0.467 +/- 0.092</a:t>
                      </a:r>
                    </a:p>
                  </a:txBody>
                  <a:tcPr>
                    <a:solidFill>
                      <a:srgbClr val="E8F0FE"/>
                    </a:solidFill>
                  </a:tcPr>
                </a:tc>
              </a:tr>
              <a:tr h="287382">
                <a:tc>
                  <a:txBody>
                    <a:bodyPr/>
                    <a:lstStyle/>
                    <a:p>
                      <a:pPr algn="l"/>
                      <a:r>
                        <a:rPr sz="950" b="1">
                          <a:solidFill>
                            <a:srgbClr val="202020"/>
                          </a:solidFill>
                        </a:rPr>
                        <a:t>JAFFE 4-class</a:t>
                      </a:r>
                    </a:p>
                  </a:txBody>
                  <a:tcPr>
                    <a:solidFill>
                      <a:srgbClr val="FFFFFF"/>
                    </a:solidFill>
                  </a:tcPr>
                </a:tc>
                <a:tc>
                  <a:txBody>
                    <a:bodyPr/>
                    <a:lstStyle/>
                    <a:p>
                      <a:pPr algn="l"/>
                      <a:r>
                        <a:rPr sz="950" b="0">
                          <a:solidFill>
                            <a:srgbClr val="202020"/>
                          </a:solidFill>
                        </a:rPr>
                        <a:t>LOSO (10)</a:t>
                      </a:r>
                    </a:p>
                  </a:txBody>
                  <a:tcPr>
                    <a:solidFill>
                      <a:srgbClr val="FFFFFF"/>
                    </a:solidFill>
                  </a:tcPr>
                </a:tc>
                <a:tc>
                  <a:txBody>
                    <a:bodyPr/>
                    <a:lstStyle/>
                    <a:p>
                      <a:pPr algn="ctr"/>
                      <a:r>
                        <a:rPr sz="950" b="0">
                          <a:solidFill>
                            <a:srgbClr val="202020"/>
                          </a:solidFill>
                        </a:rPr>
                        <a:t>Late Fusion</a:t>
                      </a:r>
                    </a:p>
                  </a:txBody>
                  <a:tcPr>
                    <a:solidFill>
                      <a:srgbClr val="FFFFFF"/>
                    </a:solidFill>
                  </a:tcPr>
                </a:tc>
                <a:tc>
                  <a:txBody>
                    <a:bodyPr/>
                    <a:lstStyle/>
                    <a:p>
                      <a:pPr algn="ctr"/>
                      <a:r>
                        <a:rPr sz="950" b="0">
                          <a:solidFill>
                            <a:srgbClr val="202020"/>
                          </a:solidFill>
                        </a:rPr>
                        <a:t>0.530 +/- 0.126</a:t>
                      </a:r>
                    </a:p>
                  </a:txBody>
                  <a:tcPr>
                    <a:solidFill>
                      <a:srgbClr val="FFFFFF"/>
                    </a:solidFill>
                  </a:tcPr>
                </a:tc>
              </a:tr>
              <a:tr h="287382">
                <a:tc>
                  <a:txBody>
                    <a:bodyPr/>
                    <a:lstStyle/>
                    <a:p>
                      <a:pPr algn="l"/>
                      <a:r>
                        <a:rPr sz="950" b="1">
                          <a:solidFill>
                            <a:srgbClr val="202020"/>
                          </a:solidFill>
                        </a:rPr>
                        <a:t>Dataset sendiri 4c</a:t>
                      </a:r>
                    </a:p>
                  </a:txBody>
                  <a:tcPr>
                    <a:solidFill>
                      <a:srgbClr val="E8F0FE"/>
                    </a:solidFill>
                  </a:tcPr>
                </a:tc>
                <a:tc>
                  <a:txBody>
                    <a:bodyPr/>
                    <a:lstStyle/>
                    <a:p>
                      <a:pPr algn="l"/>
                      <a:r>
                        <a:rPr sz="950" b="0">
                          <a:solidFill>
                            <a:srgbClr val="202020"/>
                          </a:solidFill>
                        </a:rPr>
                        <a:t>5-Fold CV</a:t>
                      </a:r>
                    </a:p>
                  </a:txBody>
                  <a:tcPr>
                    <a:solidFill>
                      <a:srgbClr val="E8F0FE"/>
                    </a:solidFill>
                  </a:tcPr>
                </a:tc>
                <a:tc>
                  <a:txBody>
                    <a:bodyPr/>
                    <a:lstStyle/>
                    <a:p>
                      <a:pPr algn="ctr"/>
                      <a:r>
                        <a:rPr sz="950" b="0">
                          <a:solidFill>
                            <a:srgbClr val="202020"/>
                          </a:solidFill>
                        </a:rPr>
                        <a:t>Intermediate TL</a:t>
                      </a:r>
                    </a:p>
                  </a:txBody>
                  <a:tcPr>
                    <a:solidFill>
                      <a:srgbClr val="E8F0FE"/>
                    </a:solidFill>
                  </a:tcPr>
                </a:tc>
                <a:tc>
                  <a:txBody>
                    <a:bodyPr/>
                    <a:lstStyle/>
                    <a:p>
                      <a:pPr algn="ctr"/>
                      <a:r>
                        <a:rPr sz="950" b="0">
                          <a:solidFill>
                            <a:srgbClr val="202020"/>
                          </a:solidFill>
                        </a:rPr>
                        <a:t>0.435 +/- 0.068</a:t>
                      </a:r>
                    </a:p>
                  </a:txBody>
                  <a:tcPr>
                    <a:solidFill>
                      <a:srgbClr val="E8F0FE"/>
                    </a:solidFill>
                  </a:tcPr>
                </a:tc>
              </a:tr>
              <a:tr h="287388">
                <a:tc>
                  <a:txBody>
                    <a:bodyPr/>
                    <a:lstStyle/>
                    <a:p>
                      <a:pPr algn="l"/>
                      <a:r>
                        <a:rPr sz="950" b="1">
                          <a:solidFill>
                            <a:srgbClr val="202020"/>
                          </a:solidFill>
                        </a:rPr>
                        <a:t>Dataset sendiri 4c</a:t>
                      </a:r>
                    </a:p>
                  </a:txBody>
                  <a:tcPr>
                    <a:solidFill>
                      <a:srgbClr val="FFFFFF"/>
                    </a:solidFill>
                  </a:tcPr>
                </a:tc>
                <a:tc>
                  <a:txBody>
                    <a:bodyPr/>
                    <a:lstStyle/>
                    <a:p>
                      <a:pPr algn="l"/>
                      <a:r>
                        <a:rPr sz="950" b="0">
                          <a:solidFill>
                            <a:srgbClr val="202020"/>
                          </a:solidFill>
                        </a:rPr>
                        <a:t>LOSO (37)</a:t>
                      </a:r>
                    </a:p>
                  </a:txBody>
                  <a:tcPr>
                    <a:solidFill>
                      <a:srgbClr val="FFFFFF"/>
                    </a:solidFill>
                  </a:tcPr>
                </a:tc>
                <a:tc>
                  <a:txBody>
                    <a:bodyPr/>
                    <a:lstStyle/>
                    <a:p>
                      <a:pPr algn="ctr"/>
                      <a:r>
                        <a:rPr sz="950" b="0">
                          <a:solidFill>
                            <a:srgbClr val="202020"/>
                          </a:solidFill>
                        </a:rPr>
                        <a:t>Intermediate TL</a:t>
                      </a:r>
                    </a:p>
                  </a:txBody>
                  <a:tcPr>
                    <a:solidFill>
                      <a:srgbClr val="FFFFFF"/>
                    </a:solidFill>
                  </a:tcPr>
                </a:tc>
                <a:tc>
                  <a:txBody>
                    <a:bodyPr/>
                    <a:lstStyle/>
                    <a:p>
                      <a:pPr algn="ctr"/>
                      <a:r>
                        <a:rPr sz="950" b="0">
                          <a:solidFill>
                            <a:srgbClr val="202020"/>
                          </a:solidFill>
                        </a:rPr>
                        <a:t>0.370 +/- 0.125</a:t>
                      </a:r>
                    </a:p>
                  </a:txBody>
                  <a:tcPr>
                    <a:solidFill>
                      <a:srgbClr val="FFFFFF"/>
                    </a:solidFill>
                  </a:tcPr>
                </a:tc>
              </a:tr>
            </a:tbl>
          </a:graphicData>
        </a:graphic>
      </p:graphicFrame>
      <p:sp>
        <p:nvSpPr>
          <p:cNvPr id="5" name="TextBox 4"/>
          <p:cNvSpPr txBox="1"/>
          <p:nvPr/>
        </p:nvSpPr>
        <p:spPr>
          <a:xfrm>
            <a:off x="274320" y="3063240"/>
            <a:ext cx="8595360" cy="502920"/>
          </a:xfrm>
          <a:prstGeom prst="rect">
            <a:avLst/>
          </a:prstGeom>
          <a:solidFill>
            <a:srgbClr val="E8F0FE"/>
          </a:solidFill>
        </p:spPr>
        <p:txBody>
          <a:bodyPr wrap="square">
            <a:spAutoFit/>
          </a:bodyPr>
          <a:lstStyle/>
          <a:p>
            <a:pPr algn="ctr"/>
            <a:r>
              <a:rPr sz="1000" b="1" i="0">
                <a:solidFill>
                  <a:srgbClr val="202020"/>
                </a:solidFill>
              </a:rPr>
              <a:t>Pola: CK+ (0.783) &gt;&gt; JAFFE (0.467) &gt; Dataset sendiri (0.370)</a:t>
            </a:r>
          </a:p>
          <a:p>
            <a:pPr algn="ctr"/>
            <a:r>
              <a:rPr sz="900" b="0" i="0">
                <a:solidFill>
                  <a:srgbClr val="666666"/>
                </a:solidFill>
              </a:rPr>
              <a:t>Semakin natural ekspresinya dan semakin imbalanced, semakin rendah performanya</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Perbandingan dengan Paper State-of-the-Art</a:t>
            </a:r>
          </a:p>
        </p:txBody>
      </p:sp>
      <p:sp>
        <p:nvSpPr>
          <p:cNvPr id="3" name="TextBox 2"/>
          <p:cNvSpPr txBox="1"/>
          <p:nvPr/>
        </p:nvSpPr>
        <p:spPr>
          <a:xfrm>
            <a:off x="274320" y="658368"/>
            <a:ext cx="8595360" cy="228600"/>
          </a:xfrm>
          <a:prstGeom prst="rect">
            <a:avLst/>
          </a:prstGeom>
          <a:noFill/>
        </p:spPr>
        <p:txBody>
          <a:bodyPr wrap="none">
            <a:spAutoFit/>
          </a:bodyPr>
          <a:lstStyle/>
          <a:p>
            <a:pPr algn="l"/>
            <a:r>
              <a:rPr sz="1000" b="1" i="0">
                <a:solidFill>
                  <a:srgbClr val="1A73E8"/>
                </a:solidFill>
              </a:rPr>
              <a:t>CK+ (10-Fold CV)</a:t>
            </a:r>
          </a:p>
        </p:txBody>
      </p:sp>
      <p:graphicFrame>
        <p:nvGraphicFramePr>
          <p:cNvPr id="4" name="Table 3"/>
          <p:cNvGraphicFramePr>
            <a:graphicFrameLocks noGrp="1"/>
          </p:cNvGraphicFramePr>
          <p:nvPr/>
        </p:nvGraphicFramePr>
        <p:xfrm>
          <a:off x="274320" y="914400"/>
          <a:ext cx="8595358" cy="1554480"/>
        </p:xfrm>
        <a:graphic>
          <a:graphicData uri="http://schemas.openxmlformats.org/drawingml/2006/table">
            <a:tbl>
              <a:tblPr firstRow="1" bandRow="1"/>
              <a:tblGrid>
                <a:gridCol w="1910080"/>
                <a:gridCol w="848924"/>
                <a:gridCol w="3183466"/>
                <a:gridCol w="2652888"/>
              </a:tblGrid>
              <a:tr h="259080">
                <a:tc>
                  <a:txBody>
                    <a:bodyPr/>
                    <a:lstStyle/>
                    <a:p>
                      <a:pPr algn="ctr"/>
                      <a:r>
                        <a:rPr sz="900" b="1">
                          <a:solidFill>
                            <a:srgbClr val="FFFFFF"/>
                          </a:solidFill>
                        </a:rPr>
                        <a:t>Paper</a:t>
                      </a:r>
                    </a:p>
                  </a:txBody>
                  <a:tcPr>
                    <a:solidFill>
                      <a:srgbClr val="1A73E8"/>
                    </a:solidFill>
                  </a:tcPr>
                </a:tc>
                <a:tc>
                  <a:txBody>
                    <a:bodyPr/>
                    <a:lstStyle/>
                    <a:p>
                      <a:pPr algn="ctr"/>
                      <a:r>
                        <a:rPr sz="900" b="1">
                          <a:solidFill>
                            <a:srgbClr val="FFFFFF"/>
                          </a:solidFill>
                        </a:rPr>
                        <a:t>Tahun</a:t>
                      </a:r>
                    </a:p>
                  </a:txBody>
                  <a:tcPr>
                    <a:solidFill>
                      <a:srgbClr val="1A73E8"/>
                    </a:solidFill>
                  </a:tcPr>
                </a:tc>
                <a:tc>
                  <a:txBody>
                    <a:bodyPr/>
                    <a:lstStyle/>
                    <a:p>
                      <a:pPr algn="ctr"/>
                      <a:r>
                        <a:rPr sz="900" b="1">
                          <a:solidFill>
                            <a:srgbClr val="FFFFFF"/>
                          </a:solidFill>
                        </a:rPr>
                        <a:t>Metode</a:t>
                      </a:r>
                    </a:p>
                  </a:txBody>
                  <a:tcPr>
                    <a:solidFill>
                      <a:srgbClr val="1A73E8"/>
                    </a:solidFill>
                  </a:tcPr>
                </a:tc>
                <a:tc>
                  <a:txBody>
                    <a:bodyPr/>
                    <a:lstStyle/>
                    <a:p>
                      <a:pPr algn="ctr"/>
                      <a:r>
                        <a:rPr sz="900" b="1">
                          <a:solidFill>
                            <a:srgbClr val="FFFFFF"/>
                          </a:solidFill>
                        </a:rPr>
                        <a:t>Acc/F1</a:t>
                      </a:r>
                    </a:p>
                  </a:txBody>
                  <a:tcPr>
                    <a:solidFill>
                      <a:srgbClr val="1A73E8"/>
                    </a:solidFill>
                  </a:tcPr>
                </a:tc>
              </a:tr>
              <a:tr h="259080">
                <a:tc>
                  <a:txBody>
                    <a:bodyPr/>
                    <a:lstStyle/>
                    <a:p>
                      <a:pPr algn="l"/>
                      <a:r>
                        <a:rPr sz="850" b="1">
                          <a:solidFill>
                            <a:srgbClr val="202020"/>
                          </a:solidFill>
                        </a:rPr>
                        <a:t>Dada et al.</a:t>
                      </a:r>
                    </a:p>
                  </a:txBody>
                  <a:tcPr>
                    <a:solidFill>
                      <a:srgbClr val="E8F0FE"/>
                    </a:solidFill>
                  </a:tcPr>
                </a:tc>
                <a:tc>
                  <a:txBody>
                    <a:bodyPr/>
                    <a:lstStyle/>
                    <a:p>
                      <a:pPr algn="l"/>
                      <a:r>
                        <a:rPr sz="850" b="0">
                          <a:solidFill>
                            <a:srgbClr val="202020"/>
                          </a:solidFill>
                        </a:rPr>
                        <a:t>2023</a:t>
                      </a:r>
                    </a:p>
                  </a:txBody>
                  <a:tcPr>
                    <a:solidFill>
                      <a:srgbClr val="E8F0FE"/>
                    </a:solidFill>
                  </a:tcPr>
                </a:tc>
                <a:tc>
                  <a:txBody>
                    <a:bodyPr/>
                    <a:lstStyle/>
                    <a:p>
                      <a:pPr algn="ctr"/>
                      <a:r>
                        <a:rPr sz="850" b="0">
                          <a:solidFill>
                            <a:srgbClr val="202020"/>
                          </a:solidFill>
                        </a:rPr>
                        <a:t>CNN-10</a:t>
                      </a:r>
                    </a:p>
                  </a:txBody>
                  <a:tcPr>
                    <a:solidFill>
                      <a:srgbClr val="E8F0FE"/>
                    </a:solidFill>
                  </a:tcPr>
                </a:tc>
                <a:tc>
                  <a:txBody>
                    <a:bodyPr/>
                    <a:lstStyle/>
                    <a:p>
                      <a:pPr algn="ctr"/>
                      <a:r>
                        <a:rPr sz="850" b="0">
                          <a:solidFill>
                            <a:srgbClr val="202020"/>
                          </a:solidFill>
                        </a:rPr>
                        <a:t>99.9% (acc)</a:t>
                      </a:r>
                    </a:p>
                  </a:txBody>
                  <a:tcPr>
                    <a:solidFill>
                      <a:srgbClr val="E8F0FE"/>
                    </a:solidFill>
                  </a:tcPr>
                </a:tc>
              </a:tr>
              <a:tr h="259080">
                <a:tc>
                  <a:txBody>
                    <a:bodyPr/>
                    <a:lstStyle/>
                    <a:p>
                      <a:pPr algn="l"/>
                      <a:r>
                        <a:rPr sz="850" b="1">
                          <a:solidFill>
                            <a:srgbClr val="202020"/>
                          </a:solidFill>
                        </a:rPr>
                        <a:t>AA-DCN</a:t>
                      </a:r>
                    </a:p>
                  </a:txBody>
                  <a:tcPr>
                    <a:solidFill>
                      <a:srgbClr val="FFFFFF"/>
                    </a:solidFill>
                  </a:tcPr>
                </a:tc>
                <a:tc>
                  <a:txBody>
                    <a:bodyPr/>
                    <a:lstStyle/>
                    <a:p>
                      <a:pPr algn="l"/>
                      <a:r>
                        <a:rPr sz="850" b="0">
                          <a:solidFill>
                            <a:srgbClr val="202020"/>
                          </a:solidFill>
                        </a:rPr>
                        <a:t>2024</a:t>
                      </a:r>
                    </a:p>
                  </a:txBody>
                  <a:tcPr>
                    <a:solidFill>
                      <a:srgbClr val="FFFFFF"/>
                    </a:solidFill>
                  </a:tcPr>
                </a:tc>
                <a:tc>
                  <a:txBody>
                    <a:bodyPr/>
                    <a:lstStyle/>
                    <a:p>
                      <a:pPr algn="ctr"/>
                      <a:r>
                        <a:rPr sz="850" b="0">
                          <a:solidFill>
                            <a:srgbClr val="202020"/>
                          </a:solidFill>
                        </a:rPr>
                        <a:t>Anti-aliased Deep Conv</a:t>
                      </a:r>
                    </a:p>
                  </a:txBody>
                  <a:tcPr>
                    <a:solidFill>
                      <a:srgbClr val="FFFFFF"/>
                    </a:solidFill>
                  </a:tcPr>
                </a:tc>
                <a:tc>
                  <a:txBody>
                    <a:bodyPr/>
                    <a:lstStyle/>
                    <a:p>
                      <a:pPr algn="ctr"/>
                      <a:r>
                        <a:rPr sz="850" b="0">
                          <a:solidFill>
                            <a:srgbClr val="202020"/>
                          </a:solidFill>
                        </a:rPr>
                        <a:t>99.26% (acc)</a:t>
                      </a:r>
                    </a:p>
                  </a:txBody>
                  <a:tcPr>
                    <a:solidFill>
                      <a:srgbClr val="FFFFFF"/>
                    </a:solidFill>
                  </a:tcPr>
                </a:tc>
              </a:tr>
              <a:tr h="259080">
                <a:tc>
                  <a:txBody>
                    <a:bodyPr/>
                    <a:lstStyle/>
                    <a:p>
                      <a:pPr algn="l"/>
                      <a:r>
                        <a:rPr sz="850" b="1">
                          <a:solidFill>
                            <a:srgbClr val="202020"/>
                          </a:solidFill>
                        </a:rPr>
                        <a:t>GhostNet</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Face+Speech+EEG</a:t>
                      </a:r>
                    </a:p>
                  </a:txBody>
                  <a:tcPr>
                    <a:solidFill>
                      <a:srgbClr val="E8F0FE"/>
                    </a:solidFill>
                  </a:tcPr>
                </a:tc>
                <a:tc>
                  <a:txBody>
                    <a:bodyPr/>
                    <a:lstStyle/>
                    <a:p>
                      <a:pPr algn="ctr"/>
                      <a:r>
                        <a:rPr sz="850" b="0">
                          <a:solidFill>
                            <a:srgbClr val="202020"/>
                          </a:solidFill>
                        </a:rPr>
                        <a:t>98.27% (acc)</a:t>
                      </a:r>
                    </a:p>
                  </a:txBody>
                  <a:tcPr>
                    <a:solidFill>
                      <a:srgbClr val="E8F0FE"/>
                    </a:solidFill>
                  </a:tcPr>
                </a:tc>
              </a:tr>
              <a:tr h="259080">
                <a:tc>
                  <a:txBody>
                    <a:bodyPr/>
                    <a:lstStyle/>
                    <a:p>
                      <a:pPr algn="l"/>
                      <a:r>
                        <a:rPr sz="850" b="1">
                          <a:solidFill>
                            <a:srgbClr val="202020"/>
                          </a:solidFill>
                        </a:rPr>
                        <a:t>b-skeleton+CNN</a:t>
                      </a:r>
                    </a:p>
                  </a:txBody>
                  <a:tcPr>
                    <a:solidFill>
                      <a:srgbClr val="FFFFFF"/>
                    </a:solidFill>
                  </a:tcPr>
                </a:tc>
                <a:tc>
                  <a:txBody>
                    <a:bodyPr/>
                    <a:lstStyle/>
                    <a:p>
                      <a:pPr algn="l"/>
                      <a:r>
                        <a:rPr sz="850" b="0">
                          <a:solidFill>
                            <a:srgbClr val="202020"/>
                          </a:solidFill>
                        </a:rPr>
                        <a:t>2024</a:t>
                      </a:r>
                    </a:p>
                  </a:txBody>
                  <a:tcPr>
                    <a:solidFill>
                      <a:srgbClr val="FFFFFF"/>
                    </a:solidFill>
                  </a:tcPr>
                </a:tc>
                <a:tc>
                  <a:txBody>
                    <a:bodyPr/>
                    <a:lstStyle/>
                    <a:p>
                      <a:pPr algn="ctr"/>
                      <a:r>
                        <a:rPr sz="850" b="0">
                          <a:solidFill>
                            <a:srgbClr val="202020"/>
                          </a:solidFill>
                        </a:rPr>
                        <a:t>Landmark + CNN</a:t>
                      </a:r>
                    </a:p>
                  </a:txBody>
                  <a:tcPr>
                    <a:solidFill>
                      <a:srgbClr val="FFFFFF"/>
                    </a:solidFill>
                  </a:tcPr>
                </a:tc>
                <a:tc>
                  <a:txBody>
                    <a:bodyPr/>
                    <a:lstStyle/>
                    <a:p>
                      <a:pPr algn="ctr"/>
                      <a:r>
                        <a:rPr sz="850" b="0">
                          <a:solidFill>
                            <a:srgbClr val="202020"/>
                          </a:solidFill>
                        </a:rPr>
                        <a:t>96.19% (acc)</a:t>
                      </a:r>
                    </a:p>
                  </a:txBody>
                  <a:tcPr>
                    <a:solidFill>
                      <a:srgbClr val="FFFFFF"/>
                    </a:solidFill>
                  </a:tcPr>
                </a:tc>
              </a:tr>
              <a:tr h="259080">
                <a:tc>
                  <a:txBody>
                    <a:bodyPr/>
                    <a:lstStyle/>
                    <a:p>
                      <a:pPr algn="l"/>
                      <a:r>
                        <a:rPr sz="850" b="1">
                          <a:solidFill>
                            <a:srgbClr val="202020"/>
                          </a:solidFill>
                        </a:rPr>
                        <a:t>Penelitian ini</a:t>
                      </a:r>
                    </a:p>
                  </a:txBody>
                  <a:tcPr>
                    <a:solidFill>
                      <a:srgbClr val="C6EFCE"/>
                    </a:solidFill>
                  </a:tcPr>
                </a:tc>
                <a:tc>
                  <a:txBody>
                    <a:bodyPr/>
                    <a:lstStyle/>
                    <a:p>
                      <a:pPr algn="l"/>
                      <a:r>
                        <a:rPr sz="850" b="1">
                          <a:solidFill>
                            <a:srgbClr val="202020"/>
                          </a:solidFill>
                        </a:rPr>
                        <a:t>2026</a:t>
                      </a:r>
                    </a:p>
                  </a:txBody>
                  <a:tcPr>
                    <a:solidFill>
                      <a:srgbClr val="C6EFCE"/>
                    </a:solidFill>
                  </a:tcPr>
                </a:tc>
                <a:tc>
                  <a:txBody>
                    <a:bodyPr/>
                    <a:lstStyle/>
                    <a:p>
                      <a:pPr algn="ctr"/>
                      <a:r>
                        <a:rPr sz="850" b="1">
                          <a:solidFill>
                            <a:srgbClr val="202020"/>
                          </a:solidFill>
                        </a:rPr>
                        <a:t>Intermediate TL (ResNet18)</a:t>
                      </a:r>
                    </a:p>
                  </a:txBody>
                  <a:tcPr>
                    <a:solidFill>
                      <a:srgbClr val="C6EFCE"/>
                    </a:solidFill>
                  </a:tcPr>
                </a:tc>
                <a:tc>
                  <a:txBody>
                    <a:bodyPr/>
                    <a:lstStyle/>
                    <a:p>
                      <a:pPr algn="ctr"/>
                      <a:r>
                        <a:rPr sz="850" b="1">
                          <a:solidFill>
                            <a:srgbClr val="202020"/>
                          </a:solidFill>
                        </a:rPr>
                        <a:t>91.9% / F1: 0.783</a:t>
                      </a:r>
                    </a:p>
                  </a:txBody>
                  <a:tcPr>
                    <a:solidFill>
                      <a:srgbClr val="C6EFCE"/>
                    </a:solidFill>
                  </a:tcPr>
                </a:tc>
              </a:tr>
            </a:tbl>
          </a:graphicData>
        </a:graphic>
      </p:graphicFrame>
      <p:sp>
        <p:nvSpPr>
          <p:cNvPr id="5" name="TextBox 4"/>
          <p:cNvSpPr txBox="1"/>
          <p:nvPr/>
        </p:nvSpPr>
        <p:spPr>
          <a:xfrm>
            <a:off x="274320" y="2560320"/>
            <a:ext cx="8595360" cy="228600"/>
          </a:xfrm>
          <a:prstGeom prst="rect">
            <a:avLst/>
          </a:prstGeom>
          <a:noFill/>
        </p:spPr>
        <p:txBody>
          <a:bodyPr wrap="none">
            <a:spAutoFit/>
          </a:bodyPr>
          <a:lstStyle/>
          <a:p>
            <a:pPr algn="l"/>
            <a:r>
              <a:rPr sz="1000" b="1" i="0">
                <a:solidFill>
                  <a:srgbClr val="1A73E8"/>
                </a:solidFill>
              </a:rPr>
              <a:t>JAFFE (LOSO)</a:t>
            </a:r>
          </a:p>
        </p:txBody>
      </p:sp>
      <p:graphicFrame>
        <p:nvGraphicFramePr>
          <p:cNvPr id="6" name="Table 5"/>
          <p:cNvGraphicFramePr>
            <a:graphicFrameLocks noGrp="1"/>
          </p:cNvGraphicFramePr>
          <p:nvPr/>
        </p:nvGraphicFramePr>
        <p:xfrm>
          <a:off x="274320" y="2834640"/>
          <a:ext cx="8595358" cy="1234440"/>
        </p:xfrm>
        <a:graphic>
          <a:graphicData uri="http://schemas.openxmlformats.org/drawingml/2006/table">
            <a:tbl>
              <a:tblPr firstRow="1" bandRow="1"/>
              <a:tblGrid>
                <a:gridCol w="2071171"/>
                <a:gridCol w="828468"/>
                <a:gridCol w="3106756"/>
                <a:gridCol w="2588963"/>
              </a:tblGrid>
              <a:tr h="246888">
                <a:tc>
                  <a:txBody>
                    <a:bodyPr/>
                    <a:lstStyle/>
                    <a:p>
                      <a:pPr algn="ctr"/>
                      <a:r>
                        <a:rPr sz="900" b="1">
                          <a:solidFill>
                            <a:srgbClr val="FFFFFF"/>
                          </a:solidFill>
                        </a:rPr>
                        <a:t>Paper</a:t>
                      </a:r>
                    </a:p>
                  </a:txBody>
                  <a:tcPr>
                    <a:solidFill>
                      <a:srgbClr val="1A73E8"/>
                    </a:solidFill>
                  </a:tcPr>
                </a:tc>
                <a:tc>
                  <a:txBody>
                    <a:bodyPr/>
                    <a:lstStyle/>
                    <a:p>
                      <a:pPr algn="ctr"/>
                      <a:r>
                        <a:rPr sz="900" b="1">
                          <a:solidFill>
                            <a:srgbClr val="FFFFFF"/>
                          </a:solidFill>
                        </a:rPr>
                        <a:t>Tahun</a:t>
                      </a:r>
                    </a:p>
                  </a:txBody>
                  <a:tcPr>
                    <a:solidFill>
                      <a:srgbClr val="1A73E8"/>
                    </a:solidFill>
                  </a:tcPr>
                </a:tc>
                <a:tc>
                  <a:txBody>
                    <a:bodyPr/>
                    <a:lstStyle/>
                    <a:p>
                      <a:pPr algn="ctr"/>
                      <a:r>
                        <a:rPr sz="900" b="1">
                          <a:solidFill>
                            <a:srgbClr val="FFFFFF"/>
                          </a:solidFill>
                        </a:rPr>
                        <a:t>Metode</a:t>
                      </a:r>
                    </a:p>
                  </a:txBody>
                  <a:tcPr>
                    <a:solidFill>
                      <a:srgbClr val="1A73E8"/>
                    </a:solidFill>
                  </a:tcPr>
                </a:tc>
                <a:tc>
                  <a:txBody>
                    <a:bodyPr/>
                    <a:lstStyle/>
                    <a:p>
                      <a:pPr algn="ctr"/>
                      <a:r>
                        <a:rPr sz="900" b="1">
                          <a:solidFill>
                            <a:srgbClr val="FFFFFF"/>
                          </a:solidFill>
                        </a:rPr>
                        <a:t>Acc/F1</a:t>
                      </a:r>
                    </a:p>
                  </a:txBody>
                  <a:tcPr>
                    <a:solidFill>
                      <a:srgbClr val="1A73E8"/>
                    </a:solidFill>
                  </a:tcPr>
                </a:tc>
              </a:tr>
              <a:tr h="246888">
                <a:tc>
                  <a:txBody>
                    <a:bodyPr/>
                    <a:lstStyle/>
                    <a:p>
                      <a:pPr algn="l"/>
                      <a:r>
                        <a:rPr sz="850" b="1">
                          <a:solidFill>
                            <a:srgbClr val="202020"/>
                          </a:solidFill>
                        </a:rPr>
                        <a:t>AA-DCN</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Anti-aliased Deep Conv</a:t>
                      </a:r>
                    </a:p>
                  </a:txBody>
                  <a:tcPr>
                    <a:solidFill>
                      <a:srgbClr val="E8F0FE"/>
                    </a:solidFill>
                  </a:tcPr>
                </a:tc>
                <a:tc>
                  <a:txBody>
                    <a:bodyPr/>
                    <a:lstStyle/>
                    <a:p>
                      <a:pPr algn="ctr"/>
                      <a:r>
                        <a:rPr sz="850" b="0">
                          <a:solidFill>
                            <a:srgbClr val="202020"/>
                          </a:solidFill>
                        </a:rPr>
                        <a:t>98.0% (acc)</a:t>
                      </a:r>
                    </a:p>
                  </a:txBody>
                  <a:tcPr>
                    <a:solidFill>
                      <a:srgbClr val="E8F0FE"/>
                    </a:solidFill>
                  </a:tcPr>
                </a:tc>
              </a:tr>
              <a:tr h="246888">
                <a:tc>
                  <a:txBody>
                    <a:bodyPr/>
                    <a:lstStyle/>
                    <a:p>
                      <a:pPr algn="l"/>
                      <a:r>
                        <a:rPr sz="850" b="1">
                          <a:solidFill>
                            <a:srgbClr val="202020"/>
                          </a:solidFill>
                        </a:rPr>
                        <a:t>Fine-grained fusion</a:t>
                      </a:r>
                    </a:p>
                  </a:txBody>
                  <a:tcPr>
                    <a:solidFill>
                      <a:srgbClr val="FFFFFF"/>
                    </a:solidFill>
                  </a:tcPr>
                </a:tc>
                <a:tc>
                  <a:txBody>
                    <a:bodyPr/>
                    <a:lstStyle/>
                    <a:p>
                      <a:pPr algn="l"/>
                      <a:r>
                        <a:rPr sz="850" b="0">
                          <a:solidFill>
                            <a:srgbClr val="202020"/>
                          </a:solidFill>
                        </a:rPr>
                        <a:t>2025</a:t>
                      </a:r>
                    </a:p>
                  </a:txBody>
                  <a:tcPr>
                    <a:solidFill>
                      <a:srgbClr val="FFFFFF"/>
                    </a:solidFill>
                  </a:tcPr>
                </a:tc>
                <a:tc>
                  <a:txBody>
                    <a:bodyPr/>
                    <a:lstStyle/>
                    <a:p>
                      <a:pPr algn="ctr"/>
                      <a:r>
                        <a:rPr sz="850" b="0">
                          <a:solidFill>
                            <a:srgbClr val="202020"/>
                          </a:solidFill>
                        </a:rPr>
                        <a:t>Landmark + image</a:t>
                      </a:r>
                    </a:p>
                  </a:txBody>
                  <a:tcPr>
                    <a:solidFill>
                      <a:srgbClr val="FFFFFF"/>
                    </a:solidFill>
                  </a:tcPr>
                </a:tc>
                <a:tc>
                  <a:txBody>
                    <a:bodyPr/>
                    <a:lstStyle/>
                    <a:p>
                      <a:pPr algn="ctr"/>
                      <a:r>
                        <a:rPr sz="850" b="0">
                          <a:solidFill>
                            <a:srgbClr val="202020"/>
                          </a:solidFill>
                        </a:rPr>
                        <a:t>97.61% (acc)</a:t>
                      </a:r>
                    </a:p>
                  </a:txBody>
                  <a:tcPr>
                    <a:solidFill>
                      <a:srgbClr val="FFFFFF"/>
                    </a:solidFill>
                  </a:tcPr>
                </a:tc>
              </a:tr>
              <a:tr h="246888">
                <a:tc>
                  <a:txBody>
                    <a:bodyPr/>
                    <a:lstStyle/>
                    <a:p>
                      <a:pPr algn="l"/>
                      <a:r>
                        <a:rPr sz="850" b="1">
                          <a:solidFill>
                            <a:srgbClr val="202020"/>
                          </a:solidFill>
                        </a:rPr>
                        <a:t>b-skeleton+CNN</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Landmark geometric</a:t>
                      </a:r>
                    </a:p>
                  </a:txBody>
                  <a:tcPr>
                    <a:solidFill>
                      <a:srgbClr val="E8F0FE"/>
                    </a:solidFill>
                  </a:tcPr>
                </a:tc>
                <a:tc>
                  <a:txBody>
                    <a:bodyPr/>
                    <a:lstStyle/>
                    <a:p>
                      <a:pPr algn="ctr"/>
                      <a:r>
                        <a:rPr sz="850" b="0">
                          <a:solidFill>
                            <a:srgbClr val="202020"/>
                          </a:solidFill>
                        </a:rPr>
                        <a:t>89.23% (acc)</a:t>
                      </a:r>
                    </a:p>
                  </a:txBody>
                  <a:tcPr>
                    <a:solidFill>
                      <a:srgbClr val="E8F0FE"/>
                    </a:solidFill>
                  </a:tcPr>
                </a:tc>
              </a:tr>
              <a:tr h="246888">
                <a:tc>
                  <a:txBody>
                    <a:bodyPr/>
                    <a:lstStyle/>
                    <a:p>
                      <a:pPr algn="l"/>
                      <a:r>
                        <a:rPr sz="850" b="1">
                          <a:solidFill>
                            <a:srgbClr val="202020"/>
                          </a:solidFill>
                        </a:rPr>
                        <a:t>Penelitian ini</a:t>
                      </a:r>
                    </a:p>
                  </a:txBody>
                  <a:tcPr>
                    <a:solidFill>
                      <a:srgbClr val="C6EFCE"/>
                    </a:solidFill>
                  </a:tcPr>
                </a:tc>
                <a:tc>
                  <a:txBody>
                    <a:bodyPr/>
                    <a:lstStyle/>
                    <a:p>
                      <a:pPr algn="l"/>
                      <a:r>
                        <a:rPr sz="850" b="1">
                          <a:solidFill>
                            <a:srgbClr val="202020"/>
                          </a:solidFill>
                        </a:rPr>
                        <a:t>2026</a:t>
                      </a:r>
                    </a:p>
                  </a:txBody>
                  <a:tcPr>
                    <a:solidFill>
                      <a:srgbClr val="C6EFCE"/>
                    </a:solidFill>
                  </a:tcPr>
                </a:tc>
                <a:tc>
                  <a:txBody>
                    <a:bodyPr/>
                    <a:lstStyle/>
                    <a:p>
                      <a:pPr algn="ctr"/>
                      <a:r>
                        <a:rPr sz="850" b="1">
                          <a:solidFill>
                            <a:srgbClr val="202020"/>
                          </a:solidFill>
                        </a:rPr>
                        <a:t>Late Fusion (CNN+FCNN)</a:t>
                      </a:r>
                    </a:p>
                  </a:txBody>
                  <a:tcPr>
                    <a:solidFill>
                      <a:srgbClr val="C6EFCE"/>
                    </a:solidFill>
                  </a:tcPr>
                </a:tc>
                <a:tc>
                  <a:txBody>
                    <a:bodyPr/>
                    <a:lstStyle/>
                    <a:p>
                      <a:pPr algn="ctr"/>
                      <a:r>
                        <a:rPr sz="850" b="1">
                          <a:solidFill>
                            <a:srgbClr val="202020"/>
                          </a:solidFill>
                        </a:rPr>
                        <a:t>54.0% / F1: 0.467</a:t>
                      </a:r>
                    </a:p>
                  </a:txBody>
                  <a:tcPr>
                    <a:solidFill>
                      <a:srgbClr val="C6EFCE"/>
                    </a:solidFill>
                  </a:tcPr>
                </a:tc>
              </a:tr>
            </a:tbl>
          </a:graphicData>
        </a:graphic>
      </p:graphicFrame>
      <p:sp>
        <p:nvSpPr>
          <p:cNvPr id="7" name="TextBox 6"/>
          <p:cNvSpPr txBox="1"/>
          <p:nvPr/>
        </p:nvSpPr>
        <p:spPr>
          <a:xfrm>
            <a:off x="274320" y="4160520"/>
            <a:ext cx="8595360" cy="914400"/>
          </a:xfrm>
          <a:prstGeom prst="rect">
            <a:avLst/>
          </a:prstGeom>
          <a:noFill/>
        </p:spPr>
        <p:txBody>
          <a:bodyPr wrap="square">
            <a:spAutoFit/>
          </a:bodyPr>
          <a:lstStyle/>
          <a:p>
            <a:pPr algn="l"/>
            <a:r>
              <a:rPr sz="850" b="1">
                <a:solidFill>
                  <a:srgbClr val="666666"/>
                </a:solidFill>
              </a:rPr>
              <a:t>Catatan Penting:</a:t>
            </a:r>
          </a:p>
          <a:p>
            <a:pPr algn="l"/>
          </a:p>
          <a:p>
            <a:pPr algn="l"/>
          </a:p>
          <a:p>
            <a:pPr algn="l"/>
          </a:p>
          <a:p>
            <a:pPr algn="l"/>
          </a:p>
          <a:p>
            <a:pPr algn="l"/>
            <a:r>
              <a:rPr sz="750" i="1">
                <a:solidFill>
                  <a:srgbClr val="666666"/>
                </a:solidFill>
              </a:rPr>
              <a:t>- Paper SOTA (99%+) kemungkinan besar pakai random split (data leakage) -- bukan subject-wise</a:t>
            </a:r>
          </a:p>
          <a:p>
            <a:pPr algn="l"/>
            <a:r>
              <a:rPr sz="750" i="1">
                <a:solidFill>
                  <a:srgbClr val="666666"/>
                </a:solidFill>
              </a:rPr>
              <a:t>- Penelitian ini pakai subject-wise CV/LOSO yang lebih ketat -- hasil lebih rendah tapi lebih valid</a:t>
            </a:r>
          </a:p>
          <a:p>
            <a:pPr algn="l"/>
            <a:r>
              <a:rPr sz="750" i="1">
                <a:solidFill>
                  <a:srgbClr val="666666"/>
                </a:solidFill>
              </a:rPr>
              <a:t>- Paper SOTA pakai arsitektur besar (VGG16, EfficientNet, ViT) vs penelitian ini ResNet18 sederhana</a:t>
            </a:r>
          </a:p>
          <a:p>
            <a:pPr algn="l"/>
            <a:r>
              <a:rPr sz="750" i="1">
                <a:solidFill>
                  <a:srgbClr val="666666"/>
                </a:solidFill>
              </a:rPr>
              <a:t>- Metrik: paper lain lapor accuracy, penelitian ini fokus Macro F1 (lebih jujur untuk imbalanced)</a:t>
            </a:r>
          </a:p>
          <a:p>
            <a:pPr algn="l"/>
            <a:r>
              <a:rPr sz="750" i="1">
                <a:solidFill>
                  <a:srgbClr val="666666"/>
                </a:solidFill>
              </a:rPr>
              <a:t>- Bukti: di dataset sendiri, random split naik +30-47% vs subject-wise -- angka SOTA bisa inflate serupa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Analisis Hasil -- Temuan Benchmark</a:t>
            </a:r>
          </a:p>
        </p:txBody>
      </p:sp>
      <p:sp>
        <p:nvSpPr>
          <p:cNvPr id="3" name="TextBox 2"/>
          <p:cNvSpPr txBox="1"/>
          <p:nvPr/>
        </p:nvSpPr>
        <p:spPr>
          <a:xfrm>
            <a:off x="274320" y="713232"/>
            <a:ext cx="4114800" cy="228600"/>
          </a:xfrm>
          <a:prstGeom prst="rect">
            <a:avLst/>
          </a:prstGeom>
          <a:noFill/>
        </p:spPr>
        <p:txBody>
          <a:bodyPr wrap="none">
            <a:spAutoFit/>
          </a:bodyPr>
          <a:lstStyle/>
          <a:p>
            <a:pPr algn="l"/>
            <a:r>
              <a:rPr sz="850" b="1" i="0">
                <a:solidFill>
                  <a:srgbClr val="1A73E8"/>
                </a:solidFill>
              </a:rPr>
              <a:t>Temuan 16: CK+ jauh lebih tinggi dari dataset sendiri</a:t>
            </a:r>
          </a:p>
        </p:txBody>
      </p:sp>
      <p:graphicFrame>
        <p:nvGraphicFramePr>
          <p:cNvPr id="4" name="Table 3"/>
          <p:cNvGraphicFramePr>
            <a:graphicFrameLocks noGrp="1"/>
          </p:cNvGraphicFramePr>
          <p:nvPr/>
        </p:nvGraphicFramePr>
        <p:xfrm>
          <a:off x="274320" y="987552"/>
          <a:ext cx="4114800" cy="822960"/>
        </p:xfrm>
        <a:graphic>
          <a:graphicData uri="http://schemas.openxmlformats.org/drawingml/2006/table">
            <a:tbl>
              <a:tblPr firstRow="1" bandRow="1"/>
              <a:tblGrid>
                <a:gridCol w="2286000"/>
                <a:gridCol w="1828800"/>
              </a:tblGrid>
              <a:tr h="205740">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F1</a:t>
                      </a:r>
                    </a:p>
                  </a:txBody>
                  <a:tcPr>
                    <a:solidFill>
                      <a:srgbClr val="1A73E8"/>
                    </a:solidFill>
                  </a:tcPr>
                </a:tc>
              </a:tr>
              <a:tr h="205740">
                <a:tc>
                  <a:txBody>
                    <a:bodyPr/>
                    <a:lstStyle/>
                    <a:p>
                      <a:pPr algn="l"/>
                      <a:r>
                        <a:rPr sz="850" b="1">
                          <a:solidFill>
                            <a:srgbClr val="202020"/>
                          </a:solidFill>
                        </a:rPr>
                        <a:t>CK+ (lab)</a:t>
                      </a:r>
                    </a:p>
                  </a:txBody>
                  <a:tcPr>
                    <a:solidFill>
                      <a:srgbClr val="E8F0FE"/>
                    </a:solidFill>
                  </a:tcPr>
                </a:tc>
                <a:tc>
                  <a:txBody>
                    <a:bodyPr/>
                    <a:lstStyle/>
                    <a:p>
                      <a:pPr algn="l"/>
                      <a:r>
                        <a:rPr sz="850" b="0">
                          <a:solidFill>
                            <a:srgbClr val="202020"/>
                          </a:solidFill>
                        </a:rPr>
                        <a:t>0.783</a:t>
                      </a:r>
                    </a:p>
                  </a:txBody>
                  <a:tcPr>
                    <a:solidFill>
                      <a:srgbClr val="E8F0FE"/>
                    </a:solidFill>
                  </a:tcPr>
                </a:tc>
              </a:tr>
              <a:tr h="205740">
                <a:tc>
                  <a:txBody>
                    <a:bodyPr/>
                    <a:lstStyle/>
                    <a:p>
                      <a:pPr algn="l"/>
                      <a:r>
                        <a:rPr sz="850" b="1">
                          <a:solidFill>
                            <a:srgbClr val="202020"/>
                          </a:solidFill>
                        </a:rPr>
                        <a:t>JAFFE (lab)</a:t>
                      </a:r>
                    </a:p>
                  </a:txBody>
                  <a:tcPr>
                    <a:solidFill>
                      <a:srgbClr val="FFFFFF"/>
                    </a:solidFill>
                  </a:tcPr>
                </a:tc>
                <a:tc>
                  <a:txBody>
                    <a:bodyPr/>
                    <a:lstStyle/>
                    <a:p>
                      <a:pPr algn="l"/>
                      <a:r>
                        <a:rPr sz="850" b="0">
                          <a:solidFill>
                            <a:srgbClr val="202020"/>
                          </a:solidFill>
                        </a:rPr>
                        <a:t>0.467</a:t>
                      </a:r>
                    </a:p>
                  </a:txBody>
                  <a:tcPr>
                    <a:solidFill>
                      <a:srgbClr val="FFFFFF"/>
                    </a:solidFill>
                  </a:tcPr>
                </a:tc>
              </a:tr>
              <a:tr h="205740">
                <a:tc>
                  <a:txBody>
                    <a:bodyPr/>
                    <a:lstStyle/>
                    <a:p>
                      <a:pPr algn="l"/>
                      <a:r>
                        <a:rPr sz="850" b="1">
                          <a:solidFill>
                            <a:srgbClr val="202020"/>
                          </a:solidFill>
                        </a:rPr>
                        <a:t>Dataset sendiri</a:t>
                      </a:r>
                    </a:p>
                  </a:txBody>
                  <a:tcPr>
                    <a:solidFill>
                      <a:srgbClr val="E8F0FE"/>
                    </a:solidFill>
                  </a:tcPr>
                </a:tc>
                <a:tc>
                  <a:txBody>
                    <a:bodyPr/>
                    <a:lstStyle/>
                    <a:p>
                      <a:pPr algn="l"/>
                      <a:r>
                        <a:rPr sz="850" b="0">
                          <a:solidFill>
                            <a:srgbClr val="202020"/>
                          </a:solidFill>
                        </a:rPr>
                        <a:t>0.370</a:t>
                      </a:r>
                    </a:p>
                  </a:txBody>
                  <a:tcPr>
                    <a:solidFill>
                      <a:srgbClr val="E8F0FE"/>
                    </a:solidFill>
                  </a:tcPr>
                </a:tc>
              </a:tr>
            </a:tbl>
          </a:graphicData>
        </a:graphic>
      </p:graphicFrame>
      <p:sp>
        <p:nvSpPr>
          <p:cNvPr id="5" name="TextBox 4"/>
          <p:cNvSpPr txBox="1"/>
          <p:nvPr/>
        </p:nvSpPr>
        <p:spPr>
          <a:xfrm>
            <a:off x="4572000" y="713232"/>
            <a:ext cx="4206240" cy="228600"/>
          </a:xfrm>
          <a:prstGeom prst="rect">
            <a:avLst/>
          </a:prstGeom>
          <a:noFill/>
        </p:spPr>
        <p:txBody>
          <a:bodyPr wrap="none">
            <a:spAutoFit/>
          </a:bodyPr>
          <a:lstStyle/>
          <a:p>
            <a:pPr algn="l"/>
            <a:r>
              <a:rPr sz="850" b="1" i="0">
                <a:solidFill>
                  <a:srgbClr val="1A73E8"/>
                </a:solidFill>
              </a:rPr>
              <a:t>Temuan 17: Transfer Learning konsisten terbaik</a:t>
            </a:r>
          </a:p>
        </p:txBody>
      </p:sp>
      <p:graphicFrame>
        <p:nvGraphicFramePr>
          <p:cNvPr id="6" name="Table 5"/>
          <p:cNvGraphicFramePr>
            <a:graphicFrameLocks noGrp="1"/>
          </p:cNvGraphicFramePr>
          <p:nvPr/>
        </p:nvGraphicFramePr>
        <p:xfrm>
          <a:off x="4572000" y="987552"/>
          <a:ext cx="4206240" cy="1005840"/>
        </p:xfrm>
        <a:graphic>
          <a:graphicData uri="http://schemas.openxmlformats.org/drawingml/2006/table">
            <a:tbl>
              <a:tblPr firstRow="1" bandRow="1"/>
              <a:tblGrid>
                <a:gridCol w="2011680"/>
                <a:gridCol w="2194560"/>
              </a:tblGrid>
              <a:tr h="201168">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Model</a:t>
                      </a:r>
                    </a:p>
                  </a:txBody>
                  <a:tcPr>
                    <a:solidFill>
                      <a:srgbClr val="1A73E8"/>
                    </a:solidFill>
                  </a:tcPr>
                </a:tc>
              </a:tr>
              <a:tr h="201168">
                <a:tc>
                  <a:txBody>
                    <a:bodyPr/>
                    <a:lstStyle/>
                    <a:p>
                      <a:pPr algn="l"/>
                      <a:r>
                        <a:rPr sz="850" b="1">
                          <a:solidFill>
                            <a:srgbClr val="202020"/>
                          </a:solidFill>
                        </a:rPr>
                        <a:t>CK+ 7c</a:t>
                      </a:r>
                    </a:p>
                  </a:txBody>
                  <a:tcPr>
                    <a:solidFill>
                      <a:srgbClr val="E8F0FE"/>
                    </a:solidFill>
                  </a:tcPr>
                </a:tc>
                <a:tc>
                  <a:txBody>
                    <a:bodyPr/>
                    <a:lstStyle/>
                    <a:p>
                      <a:pPr algn="l"/>
                      <a:r>
                        <a:rPr sz="850" b="0">
                          <a:solidFill>
                            <a:srgbClr val="202020"/>
                          </a:solidFill>
                        </a:rPr>
                        <a:t>Intermediate TL</a:t>
                      </a:r>
                    </a:p>
                  </a:txBody>
                  <a:tcPr>
                    <a:solidFill>
                      <a:srgbClr val="E8F0FE"/>
                    </a:solidFill>
                  </a:tcPr>
                </a:tc>
              </a:tr>
              <a:tr h="201168">
                <a:tc>
                  <a:txBody>
                    <a:bodyPr/>
                    <a:lstStyle/>
                    <a:p>
                      <a:pPr algn="l"/>
                      <a:r>
                        <a:rPr sz="850" b="1">
                          <a:solidFill>
                            <a:srgbClr val="202020"/>
                          </a:solidFill>
                        </a:rPr>
                        <a:t>CK+ 4c</a:t>
                      </a:r>
                    </a:p>
                  </a:txBody>
                  <a:tcPr>
                    <a:solidFill>
                      <a:srgbClr val="FFFFFF"/>
                    </a:solidFill>
                  </a:tcPr>
                </a:tc>
                <a:tc>
                  <a:txBody>
                    <a:bodyPr/>
                    <a:lstStyle/>
                    <a:p>
                      <a:pPr algn="l"/>
                      <a:r>
                        <a:rPr sz="850" b="0">
                          <a:solidFill>
                            <a:srgbClr val="202020"/>
                          </a:solidFill>
                        </a:rPr>
                        <a:t>CNN TL</a:t>
                      </a:r>
                    </a:p>
                  </a:txBody>
                  <a:tcPr>
                    <a:solidFill>
                      <a:srgbClr val="FFFFFF"/>
                    </a:solidFill>
                  </a:tcPr>
                </a:tc>
              </a:tr>
              <a:tr h="201168">
                <a:tc>
                  <a:txBody>
                    <a:bodyPr/>
                    <a:lstStyle/>
                    <a:p>
                      <a:pPr algn="l"/>
                      <a:r>
                        <a:rPr sz="850" b="1">
                          <a:solidFill>
                            <a:srgbClr val="202020"/>
                          </a:solidFill>
                        </a:rPr>
                        <a:t>JAFFE</a:t>
                      </a:r>
                    </a:p>
                  </a:txBody>
                  <a:tcPr>
                    <a:solidFill>
                      <a:srgbClr val="E8F0FE"/>
                    </a:solidFill>
                  </a:tcPr>
                </a:tc>
                <a:tc>
                  <a:txBody>
                    <a:bodyPr/>
                    <a:lstStyle/>
                    <a:p>
                      <a:pPr algn="l"/>
                      <a:r>
                        <a:rPr sz="850" b="0">
                          <a:solidFill>
                            <a:srgbClr val="202020"/>
                          </a:solidFill>
                        </a:rPr>
                        <a:t>Late Fusion (CNN+FCNN)</a:t>
                      </a:r>
                    </a:p>
                  </a:txBody>
                  <a:tcPr>
                    <a:solidFill>
                      <a:srgbClr val="E8F0FE"/>
                    </a:solidFill>
                  </a:tcPr>
                </a:tc>
              </a:tr>
              <a:tr h="201168">
                <a:tc>
                  <a:txBody>
                    <a:bodyPr/>
                    <a:lstStyle/>
                    <a:p>
                      <a:pPr algn="l"/>
                      <a:r>
                        <a:rPr sz="850" b="1">
                          <a:solidFill>
                            <a:srgbClr val="202020"/>
                          </a:solidFill>
                        </a:rPr>
                        <a:t>Dataset sendiri</a:t>
                      </a:r>
                    </a:p>
                  </a:txBody>
                  <a:tcPr>
                    <a:solidFill>
                      <a:srgbClr val="FFFFFF"/>
                    </a:solidFill>
                  </a:tcPr>
                </a:tc>
                <a:tc>
                  <a:txBody>
                    <a:bodyPr/>
                    <a:lstStyle/>
                    <a:p>
                      <a:pPr algn="l"/>
                      <a:r>
                        <a:rPr sz="850" b="0">
                          <a:solidFill>
                            <a:srgbClr val="202020"/>
                          </a:solidFill>
                        </a:rPr>
                        <a:t>Intermediate TL</a:t>
                      </a:r>
                    </a:p>
                  </a:txBody>
                  <a:tcPr>
                    <a:solidFill>
                      <a:srgbClr val="FFFFFF"/>
                    </a:solidFill>
                  </a:tcPr>
                </a:tc>
              </a:tr>
            </a:tbl>
          </a:graphicData>
        </a:graphic>
      </p:graphicFrame>
      <p:sp>
        <p:nvSpPr>
          <p:cNvPr id="7" name="TextBox 6"/>
          <p:cNvSpPr txBox="1"/>
          <p:nvPr/>
        </p:nvSpPr>
        <p:spPr>
          <a:xfrm>
            <a:off x="274320" y="1965960"/>
            <a:ext cx="4114800" cy="228600"/>
          </a:xfrm>
          <a:prstGeom prst="rect">
            <a:avLst/>
          </a:prstGeom>
          <a:noFill/>
        </p:spPr>
        <p:txBody>
          <a:bodyPr wrap="none">
            <a:spAutoFit/>
          </a:bodyPr>
          <a:lstStyle/>
          <a:p>
            <a:pPr algn="l"/>
            <a:r>
              <a:rPr sz="850" b="1" i="0">
                <a:solidFill>
                  <a:srgbClr val="1A73E8"/>
                </a:solidFill>
              </a:rPr>
              <a:t>Temuan 18: Dataset sendiri paling menantang</a:t>
            </a:r>
          </a:p>
        </p:txBody>
      </p:sp>
      <p:sp>
        <p:nvSpPr>
          <p:cNvPr id="8" name="TextBox 7"/>
          <p:cNvSpPr txBox="1"/>
          <p:nvPr/>
        </p:nvSpPr>
        <p:spPr>
          <a:xfrm>
            <a:off x="274320" y="2240280"/>
            <a:ext cx="4114800" cy="1005840"/>
          </a:xfrm>
          <a:prstGeom prst="rect">
            <a:avLst/>
          </a:prstGeom>
          <a:solidFill>
            <a:srgbClr val="FCE4E4"/>
          </a:solidFill>
        </p:spPr>
        <p:txBody>
          <a:bodyPr wrap="square">
            <a:spAutoFit/>
          </a:bodyPr>
          <a:lstStyle/>
          <a:p>
            <a:pPr algn="l"/>
            <a:r>
              <a:rPr sz="900" b="1" i="0">
                <a:solidFill>
                  <a:srgbClr val="D93C3C"/>
                </a:solidFill>
              </a:rPr>
              <a:t>Alasan performa rendah:</a:t>
            </a:r>
          </a:p>
          <a:p>
            <a:pPr algn="l"/>
            <a:r>
              <a:rPr sz="850" b="0" i="0">
                <a:solidFill>
                  <a:srgbClr val="202020"/>
                </a:solidFill>
              </a:rPr>
              <a:t>1. Ekspresi natural (bukan lab-induced)</a:t>
            </a:r>
          </a:p>
          <a:p>
            <a:pPr algn="l"/>
            <a:r>
              <a:rPr sz="850" b="0" i="0">
                <a:solidFill>
                  <a:srgbClr val="202020"/>
                </a:solidFill>
              </a:rPr>
              <a:t>2. Sangat imbalanced (neutral 82%)</a:t>
            </a:r>
          </a:p>
          <a:p>
            <a:pPr algn="l"/>
            <a:r>
              <a:rPr sz="850" b="0" i="0">
                <a:solidFill>
                  <a:srgbClr val="202020"/>
                </a:solidFill>
              </a:rPr>
              <a:t>3. Variasi pencahayaan &amp; posisi</a:t>
            </a:r>
          </a:p>
          <a:p>
            <a:pPr algn="l"/>
            <a:r>
              <a:rPr sz="850" b="0" i="0">
                <a:solidFill>
                  <a:srgbClr val="202020"/>
                </a:solidFill>
              </a:rPr>
              <a:t>4. Micro-expression saat programming</a:t>
            </a:r>
          </a:p>
        </p:txBody>
      </p:sp>
      <p:sp>
        <p:nvSpPr>
          <p:cNvPr id="9" name="TextBox 8"/>
          <p:cNvSpPr txBox="1"/>
          <p:nvPr/>
        </p:nvSpPr>
        <p:spPr>
          <a:xfrm>
            <a:off x="4572000" y="1965960"/>
            <a:ext cx="4206240" cy="228600"/>
          </a:xfrm>
          <a:prstGeom prst="rect">
            <a:avLst/>
          </a:prstGeom>
          <a:noFill/>
        </p:spPr>
        <p:txBody>
          <a:bodyPr wrap="none">
            <a:spAutoFit/>
          </a:bodyPr>
          <a:lstStyle/>
          <a:p>
            <a:pPr algn="l"/>
            <a:r>
              <a:rPr sz="850" b="1" i="0">
                <a:solidFill>
                  <a:srgbClr val="1A73E8"/>
                </a:solidFill>
              </a:rPr>
              <a:t>Temuan 19: Std deviation = stabilitas model</a:t>
            </a:r>
          </a:p>
        </p:txBody>
      </p:sp>
      <p:graphicFrame>
        <p:nvGraphicFramePr>
          <p:cNvPr id="10" name="Table 9"/>
          <p:cNvGraphicFramePr>
            <a:graphicFrameLocks noGrp="1"/>
          </p:cNvGraphicFramePr>
          <p:nvPr/>
        </p:nvGraphicFramePr>
        <p:xfrm>
          <a:off x="4572000" y="2240280"/>
          <a:ext cx="4206240" cy="822960"/>
        </p:xfrm>
        <a:graphic>
          <a:graphicData uri="http://schemas.openxmlformats.org/drawingml/2006/table">
            <a:tbl>
              <a:tblPr firstRow="1" bandRow="1"/>
              <a:tblGrid>
                <a:gridCol w="1645920"/>
                <a:gridCol w="1097280"/>
                <a:gridCol w="1463040"/>
              </a:tblGrid>
              <a:tr h="205740">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F1</a:t>
                      </a:r>
                    </a:p>
                  </a:txBody>
                  <a:tcPr>
                    <a:solidFill>
                      <a:srgbClr val="1A73E8"/>
                    </a:solidFill>
                  </a:tcPr>
                </a:tc>
                <a:tc>
                  <a:txBody>
                    <a:bodyPr/>
                    <a:lstStyle/>
                    <a:p>
                      <a:pPr algn="ctr"/>
                      <a:r>
                        <a:rPr sz="850" b="1">
                          <a:solidFill>
                            <a:srgbClr val="FFFFFF"/>
                          </a:solidFill>
                        </a:rPr>
                        <a:t>Std</a:t>
                      </a:r>
                    </a:p>
                  </a:txBody>
                  <a:tcPr>
                    <a:solidFill>
                      <a:srgbClr val="1A73E8"/>
                    </a:solidFill>
                  </a:tcPr>
                </a:tc>
              </a:tr>
              <a:tr h="205740">
                <a:tc>
                  <a:txBody>
                    <a:bodyPr/>
                    <a:lstStyle/>
                    <a:p>
                      <a:pPr algn="l"/>
                      <a:r>
                        <a:rPr sz="850" b="1">
                          <a:solidFill>
                            <a:srgbClr val="202020"/>
                          </a:solidFill>
                        </a:rPr>
                        <a:t>CK+</a:t>
                      </a:r>
                    </a:p>
                  </a:txBody>
                  <a:tcPr>
                    <a:solidFill>
                      <a:srgbClr val="E8F0FE"/>
                    </a:solidFill>
                  </a:tcPr>
                </a:tc>
                <a:tc>
                  <a:txBody>
                    <a:bodyPr/>
                    <a:lstStyle/>
                    <a:p>
                      <a:pPr algn="l"/>
                      <a:r>
                        <a:rPr sz="850" b="0">
                          <a:solidFill>
                            <a:srgbClr val="202020"/>
                          </a:solidFill>
                        </a:rPr>
                        <a:t>0.783</a:t>
                      </a:r>
                    </a:p>
                  </a:txBody>
                  <a:tcPr>
                    <a:solidFill>
                      <a:srgbClr val="E8F0FE"/>
                    </a:solidFill>
                  </a:tcPr>
                </a:tc>
                <a:tc>
                  <a:txBody>
                    <a:bodyPr/>
                    <a:lstStyle/>
                    <a:p>
                      <a:pPr algn="ctr"/>
                      <a:r>
                        <a:rPr sz="850" b="0">
                          <a:solidFill>
                            <a:srgbClr val="202020"/>
                          </a:solidFill>
                        </a:rPr>
                        <a:t>0.107 (stabil)</a:t>
                      </a:r>
                    </a:p>
                  </a:txBody>
                  <a:tcPr>
                    <a:solidFill>
                      <a:srgbClr val="E8F0FE"/>
                    </a:solidFill>
                  </a:tcPr>
                </a:tc>
              </a:tr>
              <a:tr h="205740">
                <a:tc>
                  <a:txBody>
                    <a:bodyPr/>
                    <a:lstStyle/>
                    <a:p>
                      <a:pPr algn="l"/>
                      <a:r>
                        <a:rPr sz="850" b="1">
                          <a:solidFill>
                            <a:srgbClr val="202020"/>
                          </a:solidFill>
                        </a:rPr>
                        <a:t>JAFFE</a:t>
                      </a:r>
                    </a:p>
                  </a:txBody>
                  <a:tcPr>
                    <a:solidFill>
                      <a:srgbClr val="FFFFFF"/>
                    </a:solidFill>
                  </a:tcPr>
                </a:tc>
                <a:tc>
                  <a:txBody>
                    <a:bodyPr/>
                    <a:lstStyle/>
                    <a:p>
                      <a:pPr algn="l"/>
                      <a:r>
                        <a:rPr sz="850" b="0">
                          <a:solidFill>
                            <a:srgbClr val="202020"/>
                          </a:solidFill>
                        </a:rPr>
                        <a:t>0.467</a:t>
                      </a:r>
                    </a:p>
                  </a:txBody>
                  <a:tcPr>
                    <a:solidFill>
                      <a:srgbClr val="FFFFFF"/>
                    </a:solidFill>
                  </a:tcPr>
                </a:tc>
                <a:tc>
                  <a:txBody>
                    <a:bodyPr/>
                    <a:lstStyle/>
                    <a:p>
                      <a:pPr algn="ctr"/>
                      <a:r>
                        <a:rPr sz="850" b="0">
                          <a:solidFill>
                            <a:srgbClr val="202020"/>
                          </a:solidFill>
                        </a:rPr>
                        <a:t>0.092 (moderat)</a:t>
                      </a:r>
                    </a:p>
                  </a:txBody>
                  <a:tcPr>
                    <a:solidFill>
                      <a:srgbClr val="FFFFFF"/>
                    </a:solidFill>
                  </a:tcPr>
                </a:tc>
              </a:tr>
              <a:tr h="205740">
                <a:tc>
                  <a:txBody>
                    <a:bodyPr/>
                    <a:lstStyle/>
                    <a:p>
                      <a:pPr algn="l"/>
                      <a:r>
                        <a:rPr sz="850" b="1">
                          <a:solidFill>
                            <a:srgbClr val="202020"/>
                          </a:solidFill>
                        </a:rPr>
                        <a:t>Dataset sendiri</a:t>
                      </a:r>
                    </a:p>
                  </a:txBody>
                  <a:tcPr>
                    <a:solidFill>
                      <a:srgbClr val="E8F0FE"/>
                    </a:solidFill>
                  </a:tcPr>
                </a:tc>
                <a:tc>
                  <a:txBody>
                    <a:bodyPr/>
                    <a:lstStyle/>
                    <a:p>
                      <a:pPr algn="l"/>
                      <a:r>
                        <a:rPr sz="850" b="0">
                          <a:solidFill>
                            <a:srgbClr val="202020"/>
                          </a:solidFill>
                        </a:rPr>
                        <a:t>0.370</a:t>
                      </a:r>
                    </a:p>
                  </a:txBody>
                  <a:tcPr>
                    <a:solidFill>
                      <a:srgbClr val="E8F0FE"/>
                    </a:solidFill>
                  </a:tcPr>
                </a:tc>
                <a:tc>
                  <a:txBody>
                    <a:bodyPr/>
                    <a:lstStyle/>
                    <a:p>
                      <a:pPr algn="ctr"/>
                      <a:r>
                        <a:rPr sz="850" b="0">
                          <a:solidFill>
                            <a:srgbClr val="202020"/>
                          </a:solidFill>
                        </a:rPr>
                        <a:t>0.125 (variabel)</a:t>
                      </a:r>
                    </a:p>
                  </a:txBody>
                  <a:tcPr>
                    <a:solidFill>
                      <a:srgbClr val="E8F0FE"/>
                    </a:solidFill>
                  </a:tcPr>
                </a:tc>
              </a:tr>
            </a:tbl>
          </a:graphicData>
        </a:graphic>
      </p:graphicFrame>
      <p:sp>
        <p:nvSpPr>
          <p:cNvPr id="11" name="TextBox 10"/>
          <p:cNvSpPr txBox="1"/>
          <p:nvPr/>
        </p:nvSpPr>
        <p:spPr>
          <a:xfrm>
            <a:off x="274320" y="3383280"/>
            <a:ext cx="8503920" cy="320040"/>
          </a:xfrm>
          <a:prstGeom prst="rect">
            <a:avLst/>
          </a:prstGeom>
          <a:solidFill>
            <a:srgbClr val="E8F0FE"/>
          </a:solidFill>
        </p:spPr>
        <p:txBody>
          <a:bodyPr wrap="square">
            <a:spAutoFit/>
          </a:bodyPr>
          <a:lstStyle/>
          <a:p>
            <a:pPr algn="ctr"/>
            <a:r>
              <a:rPr sz="850" b="1" i="0">
                <a:solidFill>
                  <a:srgbClr val="202020"/>
                </a:solidFill>
              </a:rPr>
              <a:t>Kesimpulan: Arsitektur bekerja baik di dataset standar (CK+ 0.783) -- performa rendah di dataset sendiri karena karakteristik data natural programming, bukan kelemahan arsitektur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Progress Validasi Ahli Psikologi</a:t>
            </a:r>
          </a:p>
        </p:txBody>
      </p:sp>
      <p:sp>
        <p:nvSpPr>
          <p:cNvPr id="3" name="TextBox 2"/>
          <p:cNvSpPr txBox="1"/>
          <p:nvPr/>
        </p:nvSpPr>
        <p:spPr>
          <a:xfrm>
            <a:off x="274320" y="713232"/>
            <a:ext cx="8595360" cy="640080"/>
          </a:xfrm>
          <a:prstGeom prst="rect">
            <a:avLst/>
          </a:prstGeom>
          <a:solidFill>
            <a:srgbClr val="E8F0FE"/>
          </a:solidFill>
        </p:spPr>
        <p:txBody>
          <a:bodyPr wrap="square">
            <a:spAutoFit/>
          </a:bodyPr>
          <a:lstStyle/>
          <a:p>
            <a:pPr algn="l"/>
            <a:r>
              <a:rPr sz="1000" b="1" i="0">
                <a:solidFill>
                  <a:srgbClr val="202020"/>
                </a:solidFill>
              </a:rPr>
              <a:t>Pendekatan: 1% stratified sampling (128 sampel front-only)</a:t>
            </a:r>
          </a:p>
          <a:p>
            <a:pPr algn="l"/>
            <a:r>
              <a:rPr sz="900" b="0" i="0">
                <a:solidFill>
                  <a:srgbClr val="666666"/>
                </a:solidFill>
              </a:rPr>
              <a:t>Mengacu MER2024 (Lian et al., 2024): 1% labeled + 99% SSL verification</a:t>
            </a:r>
          </a:p>
          <a:p>
            <a:pPr algn="l"/>
            <a:r>
              <a:rPr sz="900" b="0" i="0">
                <a:solidFill>
                  <a:srgbClr val="666666"/>
                </a:solidFill>
              </a:rPr>
              <a:t>Target: 3 validator, Fleiss Kappa &gt;= 0.61 (Landis &amp; Koch, 1977)</a:t>
            </a:r>
          </a:p>
        </p:txBody>
      </p:sp>
      <p:graphicFrame>
        <p:nvGraphicFramePr>
          <p:cNvPr id="4" name="Table 3"/>
          <p:cNvGraphicFramePr>
            <a:graphicFrameLocks noGrp="1"/>
          </p:cNvGraphicFramePr>
          <p:nvPr/>
        </p:nvGraphicFramePr>
        <p:xfrm>
          <a:off x="274320" y="1508760"/>
          <a:ext cx="8595360" cy="1188720"/>
        </p:xfrm>
        <a:graphic>
          <a:graphicData uri="http://schemas.openxmlformats.org/drawingml/2006/table">
            <a:tbl>
              <a:tblPr firstRow="1" bandRow="1"/>
              <a:tblGrid>
                <a:gridCol w="1371600"/>
                <a:gridCol w="1828800"/>
                <a:gridCol w="1828800"/>
                <a:gridCol w="3566160"/>
              </a:tblGrid>
              <a:tr h="297180">
                <a:tc>
                  <a:txBody>
                    <a:bodyPr/>
                    <a:lstStyle/>
                    <a:p>
                      <a:pPr algn="ctr"/>
                      <a:r>
                        <a:rPr sz="1000" b="1">
                          <a:solidFill>
                            <a:srgbClr val="FFFFFF"/>
                          </a:solidFill>
                        </a:rPr>
                        <a:t>Validator</a:t>
                      </a:r>
                    </a:p>
                  </a:txBody>
                  <a:tcPr>
                    <a:solidFill>
                      <a:srgbClr val="1A73E8"/>
                    </a:solidFill>
                  </a:tcPr>
                </a:tc>
                <a:tc>
                  <a:txBody>
                    <a:bodyPr/>
                    <a:lstStyle/>
                    <a:p>
                      <a:pPr algn="ctr"/>
                      <a:r>
                        <a:rPr sz="1000" b="1">
                          <a:solidFill>
                            <a:srgbClr val="FFFFFF"/>
                          </a:solidFill>
                        </a:rPr>
                        <a:t>Sumber</a:t>
                      </a:r>
                    </a:p>
                  </a:txBody>
                  <a:tcPr>
                    <a:solidFill>
                      <a:srgbClr val="1A73E8"/>
                    </a:solidFill>
                  </a:tcPr>
                </a:tc>
                <a:tc>
                  <a:txBody>
                    <a:bodyPr/>
                    <a:lstStyle/>
                    <a:p>
                      <a:pPr algn="ctr"/>
                      <a:r>
                        <a:rPr sz="1000" b="1">
                          <a:solidFill>
                            <a:srgbClr val="FFFFFF"/>
                          </a:solidFill>
                        </a:rPr>
                        <a:t>Status</a:t>
                      </a:r>
                    </a:p>
                  </a:txBody>
                  <a:tcPr>
                    <a:solidFill>
                      <a:srgbClr val="1A73E8"/>
                    </a:solidFill>
                  </a:tcPr>
                </a:tc>
                <a:tc>
                  <a:txBody>
                    <a:bodyPr/>
                    <a:lstStyle/>
                    <a:p>
                      <a:pPr algn="ctr"/>
                      <a:r>
                        <a:rPr sz="1000" b="1">
                          <a:solidFill>
                            <a:srgbClr val="FFFFFF"/>
                          </a:solidFill>
                        </a:rPr>
                        <a:t>Keterangan</a:t>
                      </a:r>
                    </a:p>
                  </a:txBody>
                  <a:tcPr>
                    <a:solidFill>
                      <a:srgbClr val="1A73E8"/>
                    </a:solidFill>
                  </a:tcPr>
                </a:tc>
              </a:tr>
              <a:tr h="297180">
                <a:tc>
                  <a:txBody>
                    <a:bodyPr/>
                    <a:lstStyle/>
                    <a:p>
                      <a:pPr algn="l"/>
                      <a:r>
                        <a:rPr sz="1000" b="1">
                          <a:solidFill>
                            <a:srgbClr val="202020"/>
                          </a:solidFill>
                        </a:rPr>
                        <a:t>Validator 1</a:t>
                      </a:r>
                    </a:p>
                  </a:txBody>
                  <a:tcPr>
                    <a:solidFill>
                      <a:srgbClr val="E8F0FE"/>
                    </a:solidFill>
                  </a:tcPr>
                </a:tc>
                <a:tc>
                  <a:txBody>
                    <a:bodyPr/>
                    <a:lstStyle/>
                    <a:p>
                      <a:pPr algn="ctr"/>
                      <a:r>
                        <a:rPr sz="1000" b="0">
                          <a:solidFill>
                            <a:srgbClr val="202020"/>
                          </a:solidFill>
                        </a:rPr>
                        <a:t>Dari mahasiswa (saya)</a:t>
                      </a:r>
                    </a:p>
                  </a:txBody>
                  <a:tcPr>
                    <a:solidFill>
                      <a:srgbClr val="E8F0FE"/>
                    </a:solidFill>
                  </a:tcPr>
                </a:tc>
                <a:tc>
                  <a:txBody>
                    <a:bodyPr/>
                    <a:lstStyle/>
                    <a:p>
                      <a:pPr algn="ctr"/>
                      <a:r>
                        <a:rPr sz="1000" b="0">
                          <a:solidFill>
                            <a:srgbClr val="202020"/>
                          </a:solidFill>
                        </a:rPr>
                        <a:t>Sedang proses</a:t>
                      </a:r>
                    </a:p>
                  </a:txBody>
                  <a:tcPr>
                    <a:solidFill>
                      <a:srgbClr val="C6EFCE"/>
                    </a:solidFill>
                  </a:tcPr>
                </a:tc>
                <a:tc>
                  <a:txBody>
                    <a:bodyPr/>
                    <a:lstStyle/>
                    <a:p>
                      <a:pPr algn="l"/>
                      <a:r>
                        <a:rPr sz="1000" b="0">
                          <a:solidFill>
                            <a:srgbClr val="202020"/>
                          </a:solidFill>
                        </a:rPr>
                        <a:t>Sudah bersedia, sedang validasi</a:t>
                      </a:r>
                    </a:p>
                  </a:txBody>
                  <a:tcPr>
                    <a:solidFill>
                      <a:srgbClr val="E8F0FE"/>
                    </a:solidFill>
                  </a:tcPr>
                </a:tc>
              </a:tr>
              <a:tr h="297180">
                <a:tc>
                  <a:txBody>
                    <a:bodyPr/>
                    <a:lstStyle/>
                    <a:p>
                      <a:pPr algn="l"/>
                      <a:r>
                        <a:rPr sz="1000" b="1">
                          <a:solidFill>
                            <a:srgbClr val="202020"/>
                          </a:solidFill>
                        </a:rPr>
                        <a:t>Validator 2</a:t>
                      </a:r>
                    </a:p>
                  </a:txBody>
                  <a:tcPr>
                    <a:solidFill>
                      <a:srgbClr val="FFFFFF"/>
                    </a:solidFill>
                  </a:tcPr>
                </a:tc>
                <a:tc>
                  <a:txBody>
                    <a:bodyPr/>
                    <a:lstStyle/>
                    <a:p>
                      <a:r>
                        <a:t>Dari Pak Fitra</a:t>
                      </a:r>
                    </a:p>
                  </a:txBody>
                  <a:tcPr>
                    <a:solidFill>
                      <a:srgbClr val="FFFFFF"/>
                    </a:solidFill>
                  </a:tcPr>
                </a:tc>
                <a:tc>
                  <a:txBody>
                    <a:bodyPr/>
                    <a:lstStyle/>
                    <a:p>
                      <a:r>
                        <a:t>Menunggu konfirmasi</a:t>
                      </a:r>
                    </a:p>
                  </a:txBody>
                  <a:tcPr>
                    <a:solidFill>
                      <a:srgbClr val="FFF0CC"/>
                    </a:solidFill>
                  </a:tcPr>
                </a:tc>
                <a:tc>
                  <a:txBody>
                    <a:bodyPr/>
                    <a:lstStyle/>
                    <a:p>
                      <a:r>
                        <a:t>Sudah dihubungi Pak Fitra</a:t>
                      </a:r>
                    </a:p>
                  </a:txBody>
                  <a:tcPr>
                    <a:solidFill>
                      <a:srgbClr val="FFFFFF"/>
                    </a:solidFill>
                  </a:tcPr>
                </a:tc>
              </a:tr>
              <a:tr h="297180">
                <a:tc>
                  <a:txBody>
                    <a:bodyPr/>
                    <a:lstStyle/>
                    <a:p>
                      <a:pPr algn="l"/>
                      <a:r>
                        <a:rPr sz="1000" b="1">
                          <a:solidFill>
                            <a:srgbClr val="202020"/>
                          </a:solidFill>
                        </a:rPr>
                        <a:t>Validator 3</a:t>
                      </a:r>
                    </a:p>
                  </a:txBody>
                  <a:tcPr>
                    <a:solidFill>
                      <a:srgbClr val="E8F0FE"/>
                    </a:solidFill>
                  </a:tcPr>
                </a:tc>
                <a:tc>
                  <a:txBody>
                    <a:bodyPr/>
                    <a:lstStyle/>
                    <a:p>
                      <a:r>
                        <a:t>Dari Pak Fitra</a:t>
                      </a:r>
                    </a:p>
                  </a:txBody>
                  <a:tcPr>
                    <a:solidFill>
                      <a:srgbClr val="E8F0FE"/>
                    </a:solidFill>
                  </a:tcPr>
                </a:tc>
                <a:tc>
                  <a:txBody>
                    <a:bodyPr/>
                    <a:lstStyle/>
                    <a:p>
                      <a:r>
                        <a:t>Menunggu konfirmasi</a:t>
                      </a:r>
                    </a:p>
                  </a:txBody>
                  <a:tcPr>
                    <a:solidFill>
                      <a:srgbClr val="FFF0CC"/>
                    </a:solidFill>
                  </a:tcPr>
                </a:tc>
                <a:tc>
                  <a:txBody>
                    <a:bodyPr/>
                    <a:lstStyle/>
                    <a:p>
                      <a:r>
                        <a:t>Sudah dihubungi Pak Fitra</a:t>
                      </a:r>
                    </a:p>
                  </a:txBody>
                  <a:tcPr>
                    <a:solidFill>
                      <a:srgbClr val="E8F0FE"/>
                    </a:solidFill>
                  </a:tcPr>
                </a:tc>
              </a:tr>
            </a:tbl>
          </a:graphicData>
        </a:graphic>
      </p:graphicFrame>
      <p:sp>
        <p:nvSpPr>
          <p:cNvPr id="5" name="TextBox 4"/>
          <p:cNvSpPr txBox="1"/>
          <p:nvPr/>
        </p:nvSpPr>
        <p:spPr>
          <a:xfrm>
            <a:off x="274320" y="2834640"/>
            <a:ext cx="4114800" cy="1097280"/>
          </a:xfrm>
          <a:prstGeom prst="rect">
            <a:avLst/>
          </a:prstGeom>
          <a:solidFill>
            <a:srgbClr val="F1F3F4"/>
          </a:solidFill>
        </p:spPr>
        <p:txBody>
          <a:bodyPr wrap="square">
            <a:spAutoFit/>
          </a:bodyPr>
          <a:lstStyle/>
          <a:p>
            <a:pPr algn="l"/>
            <a:r>
              <a:rPr sz="1000" b="1" i="0">
                <a:solidFill>
                  <a:srgbClr val="202020"/>
                </a:solidFill>
              </a:rPr>
              <a:t>Tool Validasi (Streamlit)</a:t>
            </a:r>
          </a:p>
          <a:p>
            <a:pPr algn="l"/>
            <a:r>
              <a:rPr sz="400" b="0" i="0"/>
              <a:t/>
            </a:r>
          </a:p>
          <a:p>
            <a:pPr algn="l"/>
            <a:r>
              <a:rPr sz="900" b="0" i="0">
                <a:solidFill>
                  <a:srgbClr val="202020"/>
                </a:solidFill>
              </a:rPr>
              <a:t>Link: taufikhdyt-emo-validation.streamlit.app</a:t>
            </a:r>
          </a:p>
          <a:p>
            <a:pPr algn="l"/>
            <a:r>
              <a:rPr sz="900" b="0" i="0">
                <a:solidFill>
                  <a:srgbClr val="202020"/>
                </a:solidFill>
              </a:rPr>
              <a:t>Dataset: 128 sampel (front-only, 7 emosi)</a:t>
            </a:r>
          </a:p>
          <a:p>
            <a:pPr algn="l"/>
            <a:r>
              <a:rPr sz="900" b="0" i="0">
                <a:solidFill>
                  <a:srgbClr val="202020"/>
                </a:solidFill>
              </a:rPr>
              <a:t>Waktu: ~30-45 menit per validator</a:t>
            </a:r>
          </a:p>
          <a:p>
            <a:pPr algn="l"/>
            <a:r>
              <a:rPr sz="900" b="0" i="0">
                <a:solidFill>
                  <a:srgbClr val="202020"/>
                </a:solidFill>
              </a:rPr>
              <a:t>Admin panel tersedia untuk monitoring</a:t>
            </a:r>
          </a:p>
        </p:txBody>
      </p:sp>
      <p:sp>
        <p:nvSpPr>
          <p:cNvPr id="6" name="TextBox 5"/>
          <p:cNvSpPr txBox="1"/>
          <p:nvPr/>
        </p:nvSpPr>
        <p:spPr>
          <a:xfrm>
            <a:off x="4572000" y="2834640"/>
            <a:ext cx="4297680" cy="1097280"/>
          </a:xfrm>
          <a:prstGeom prst="rect">
            <a:avLst/>
          </a:prstGeom>
          <a:solidFill>
            <a:srgbClr val="FFF0CC"/>
          </a:solidFill>
        </p:spPr>
        <p:txBody>
          <a:bodyPr wrap="square">
            <a:spAutoFit/>
          </a:bodyPr>
          <a:lstStyle/>
          <a:p>
            <a:pPr algn="l"/>
            <a:r>
              <a:rPr sz="1000" b="1">
                <a:solidFill>
                  <a:srgbClr val="E65100"/>
                </a:solidFill>
              </a:rPr>
              <a:t>Pertanyaan untuk Pak Fitra:</a:t>
            </a:r>
          </a:p>
          <a:p>
            <a:pPr algn="l"/>
          </a:p>
          <a:p>
            <a:pPr algn="l"/>
          </a:p>
          <a:p>
            <a:pPr algn="l"/>
          </a:p>
          <a:p>
            <a:pPr algn="l"/>
          </a:p>
          <a:p>
            <a:pPr algn="l"/>
          </a:p>
          <a:p>
            <a:pPr algn="l"/>
            <a:r>
              <a:rPr sz="950">
                <a:solidFill>
                  <a:srgbClr val="202020"/>
                </a:solidFill>
              </a:rPr>
              <a:t/>
            </a:r>
          </a:p>
          <a:p>
            <a:pPr algn="l"/>
            <a:r>
              <a:rPr sz="950">
                <a:solidFill>
                  <a:srgbClr val="202020"/>
                </a:solidFill>
              </a:rPr>
              <a:t>1. Bagaimana kesediaan 2 validator</a:t>
            </a:r>
          </a:p>
          <a:p>
            <a:pPr algn="l"/>
            <a:r>
              <a:rPr sz="950">
                <a:solidFill>
                  <a:srgbClr val="202020"/>
                </a:solidFill>
              </a:rPr>
              <a:t>   yang sudah dihubungi?</a:t>
            </a:r>
          </a:p>
          <a:p>
            <a:pPr algn="l"/>
            <a:r>
              <a:rPr sz="950">
                <a:solidFill>
                  <a:srgbClr val="202020"/>
                </a:solidFill>
              </a:rPr>
              <a:t>2. Apakah perlu honorarium?</a:t>
            </a:r>
          </a:p>
          <a:p>
            <a:pPr algn="l"/>
            <a:r>
              <a:rPr sz="950">
                <a:solidFill>
                  <a:srgbClr val="202020"/>
                </a:solidFill>
              </a:rPr>
              <a:t>3. Kapan estimasi bisa mulai validasi?</a:t>
            </a:r>
          </a:p>
        </p:txBody>
      </p:sp>
      <p:sp>
        <p:nvSpPr>
          <p:cNvPr id="7" name="TextBox 6"/>
          <p:cNvSpPr txBox="1"/>
          <p:nvPr/>
        </p:nvSpPr>
        <p:spPr>
          <a:xfrm>
            <a:off x="274320" y="4069080"/>
            <a:ext cx="8595360" cy="320040"/>
          </a:xfrm>
          <a:prstGeom prst="rect">
            <a:avLst/>
          </a:prstGeom>
          <a:solidFill>
            <a:srgbClr val="1A73E8"/>
          </a:solidFill>
        </p:spPr>
        <p:txBody>
          <a:bodyPr wrap="square">
            <a:spAutoFit/>
          </a:bodyPr>
          <a:lstStyle/>
          <a:p>
            <a:pPr algn="ctr"/>
            <a:r>
              <a:rPr sz="950" b="1" i="0">
                <a:solidFill>
                  <a:srgbClr val="FFFFFF"/>
                </a:solidFill>
              </a:rPr>
              <a:t>Target: validasi selesai dalam 1-2 minggu setelah validator confirmed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Progress &amp; Konsultasi Paper</a:t>
            </a:r>
          </a:p>
        </p:txBody>
      </p:sp>
      <p:sp>
        <p:nvSpPr>
          <p:cNvPr id="3" name="TextBox 2"/>
          <p:cNvSpPr txBox="1"/>
          <p:nvPr/>
        </p:nvSpPr>
        <p:spPr>
          <a:xfrm>
            <a:off x="274320" y="685800"/>
            <a:ext cx="8595360" cy="914400"/>
          </a:xfrm>
          <a:prstGeom prst="rect">
            <a:avLst/>
          </a:prstGeom>
          <a:solidFill>
            <a:srgbClr val="E6F4EA"/>
          </a:solidFill>
        </p:spPr>
        <p:txBody>
          <a:bodyPr wrap="square">
            <a:spAutoFit/>
          </a:bodyPr>
          <a:lstStyle/>
          <a:p>
            <a:pPr algn="l"/>
            <a:r>
              <a:rPr sz="1100" b="1" i="0">
                <a:solidFill>
                  <a:srgbClr val="0F9D58"/>
                </a:solidFill>
              </a:rPr>
              <a:t>1. Draft Paper Taylor &amp; Francis (T&amp;F)</a:t>
            </a:r>
          </a:p>
          <a:p>
            <a:pPr algn="l"/>
            <a:r>
              <a:rPr sz="300" b="0" i="0"/>
              <a:t/>
            </a:r>
          </a:p>
          <a:p>
            <a:pPr algn="l"/>
            <a:r>
              <a:rPr sz="1000" b="1" i="0">
                <a:solidFill>
                  <a:srgbClr val="202020"/>
                </a:solidFill>
              </a:rPr>
              <a:t>Status: Revisi draft v0.3 sudah selesai dan dikirim ke Pak Fitra via WA</a:t>
            </a:r>
          </a:p>
          <a:p>
            <a:pPr algn="l"/>
            <a:r>
              <a:rPr sz="900" b="0" i="1">
                <a:solidFill>
                  <a:srgbClr val="666666"/>
                </a:solidFill>
              </a:rPr>
              <a:t>Link: drive.google.com/.../Taufik-Publikasi v0.3</a:t>
            </a:r>
          </a:p>
          <a:p>
            <a:pPr algn="l"/>
            <a:r>
              <a:rPr sz="300" b="0" i="0"/>
              <a:t/>
            </a:r>
          </a:p>
          <a:p>
            <a:pPr algn="l"/>
            <a:r>
              <a:rPr sz="950" b="0" i="0">
                <a:solidFill>
                  <a:srgbClr val="202020"/>
                </a:solidFill>
              </a:rPr>
              <a:t>Pertanyaan: Apakah draft sudah bisa dikirim ke Pak Budi &amp; Pak Fajar untuk review paralel,</a:t>
            </a:r>
          </a:p>
          <a:p>
            <a:pPr algn="l"/>
            <a:r>
              <a:rPr sz="950" b="0" i="0">
                <a:solidFill>
                  <a:srgbClr val="202020"/>
                </a:solidFill>
              </a:rPr>
              <a:t>atau menunggu arahan dari Pak Fitra terlebih dahulu?</a:t>
            </a:r>
          </a:p>
        </p:txBody>
      </p:sp>
      <p:sp>
        <p:nvSpPr>
          <p:cNvPr id="4" name="TextBox 3"/>
          <p:cNvSpPr txBox="1"/>
          <p:nvPr/>
        </p:nvSpPr>
        <p:spPr>
          <a:xfrm>
            <a:off x="274320" y="1737360"/>
            <a:ext cx="8595360" cy="640080"/>
          </a:xfrm>
          <a:prstGeom prst="rect">
            <a:avLst/>
          </a:prstGeom>
          <a:solidFill>
            <a:srgbClr val="E8F0FE"/>
          </a:solidFill>
        </p:spPr>
        <p:txBody>
          <a:bodyPr wrap="square">
            <a:spAutoFit/>
          </a:bodyPr>
          <a:lstStyle/>
          <a:p>
            <a:pPr algn="l"/>
            <a:r>
              <a:rPr sz="1100" b="1" i="0">
                <a:solidFill>
                  <a:srgbClr val="1A73E8"/>
                </a:solidFill>
              </a:rPr>
              <a:t>2. Paper EECCIS (subset APDM)</a:t>
            </a:r>
          </a:p>
          <a:p>
            <a:pPr algn="l"/>
            <a:r>
              <a:rPr sz="300" b="0" i="0"/>
              <a:t/>
            </a:r>
          </a:p>
          <a:p>
            <a:pPr algn="l"/>
            <a:r>
              <a:rPr sz="1000" b="1" i="0">
                <a:solidFill>
                  <a:srgbClr val="202020"/>
                </a:solidFill>
              </a:rPr>
              <a:t>Status: Menunggu pengumuman -- tanggal 20 April 2026</a:t>
            </a:r>
          </a:p>
        </p:txBody>
      </p:sp>
      <p:sp>
        <p:nvSpPr>
          <p:cNvPr id="5" name="TextBox 4"/>
          <p:cNvSpPr txBox="1"/>
          <p:nvPr/>
        </p:nvSpPr>
        <p:spPr>
          <a:xfrm>
            <a:off x="274320" y="2514600"/>
            <a:ext cx="8595360" cy="1463040"/>
          </a:xfrm>
          <a:prstGeom prst="rect">
            <a:avLst/>
          </a:prstGeom>
          <a:solidFill>
            <a:srgbClr val="FFF0CC"/>
          </a:solidFill>
        </p:spPr>
        <p:txBody>
          <a:bodyPr wrap="square">
            <a:spAutoFit/>
          </a:bodyPr>
          <a:lstStyle/>
          <a:p>
            <a:pPr algn="l"/>
            <a:r>
              <a:rPr sz="1100" b="1" i="0">
                <a:solidFill>
                  <a:srgbClr val="E65100"/>
                </a:solidFill>
              </a:rPr>
              <a:t>3. Draft Paper JITECH (untuk akselerasi)</a:t>
            </a:r>
          </a:p>
          <a:p>
            <a:pPr algn="l"/>
            <a:r>
              <a:rPr sz="300" b="0" i="0"/>
              <a:t/>
            </a:r>
          </a:p>
          <a:p>
            <a:pPr algn="l"/>
            <a:r>
              <a:rPr sz="1000" b="1" i="0">
                <a:solidFill>
                  <a:srgbClr val="202020"/>
                </a:solidFill>
              </a:rPr>
              <a:t>Pertanyaan:</a:t>
            </a:r>
          </a:p>
          <a:p>
            <a:pPr algn="l"/>
            <a:r>
              <a:rPr sz="300" b="0" i="0"/>
              <a:t/>
            </a:r>
          </a:p>
          <a:p>
            <a:pPr algn="l"/>
            <a:r>
              <a:rPr sz="1000" b="0" i="0">
                <a:solidFill>
                  <a:srgbClr val="202020"/>
                </a:solidFill>
              </a:rPr>
              <a:t>a. Apakah paper JITECH menggunakan data dari penelitian tesis ini?</a:t>
            </a:r>
          </a:p>
          <a:p>
            <a:pPr algn="l"/>
            <a:r>
              <a:rPr sz="300" b="0" i="0"/>
              <a:t/>
            </a:r>
          </a:p>
          <a:p>
            <a:pPr algn="l"/>
            <a:r>
              <a:rPr sz="1000" b="0" i="0">
                <a:solidFill>
                  <a:srgbClr val="202020"/>
                </a:solidFill>
              </a:rPr>
              <a:t>b. Jika iya, eksperimen mana yang digunakan?</a:t>
            </a:r>
          </a:p>
          <a:p>
            <a:pPr algn="l"/>
            <a:r>
              <a:rPr sz="900" b="0" i="0">
                <a:solidFill>
                  <a:srgbClr val="666666"/>
                </a:solidFill>
              </a:rPr>
              <a:t>   - Front-only saja atau termasuk front+side?</a:t>
            </a:r>
          </a:p>
          <a:p>
            <a:pPr algn="l"/>
            <a:r>
              <a:rPr sz="900" b="0" i="0">
                <a:solidFill>
                  <a:srgbClr val="666666"/>
                </a:solidFill>
              </a:rPr>
              <a:t>   - 4-class saja atau 7-class juga?</a:t>
            </a:r>
          </a:p>
          <a:p>
            <a:pPr algn="l"/>
            <a:r>
              <a:rPr sz="900" b="0" i="0">
                <a:solidFill>
                  <a:srgbClr val="666666"/>
                </a:solidFill>
              </a:rPr>
              <a:t>   - Termasuk benchmark (JAFFE/CK+)?</a:t>
            </a:r>
          </a:p>
          <a:p>
            <a:pPr algn="l"/>
            <a:r>
              <a:rPr sz="900" b="0" i="0">
                <a:solidFill>
                  <a:srgbClr val="666666"/>
                </a:solidFill>
              </a:rPr>
              <a:t>   - Transfer Learning saja atau semua model?</a:t>
            </a:r>
          </a:p>
        </p:txBody>
      </p:sp>
      <p:sp>
        <p:nvSpPr>
          <p:cNvPr id="6" name="TextBox 5"/>
          <p:cNvSpPr txBox="1"/>
          <p:nvPr/>
        </p:nvSpPr>
        <p:spPr>
          <a:xfrm>
            <a:off x="274320" y="4114800"/>
            <a:ext cx="8595360" cy="274320"/>
          </a:xfrm>
          <a:prstGeom prst="rect">
            <a:avLst/>
          </a:prstGeom>
          <a:solidFill>
            <a:srgbClr val="1A73E8"/>
          </a:solidFill>
        </p:spPr>
        <p:txBody>
          <a:bodyPr wrap="square">
            <a:spAutoFit/>
          </a:bodyPr>
          <a:lstStyle/>
          <a:p>
            <a:pPr algn="ctr"/>
            <a:r>
              <a:rPr sz="950" b="1" i="0">
                <a:solidFill>
                  <a:srgbClr val="FFFFFF"/>
                </a:solidFill>
              </a:rPr>
              <a:t>Mohon arahan Pak Fitra terkait scope dan timeline ketiga paper ini</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Diskusi &amp; Konsultasi</a:t>
            </a:r>
          </a:p>
        </p:txBody>
      </p:sp>
      <p:graphicFrame>
        <p:nvGraphicFramePr>
          <p:cNvPr id="3" name="Table 2"/>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548640"/>
                <a:gridCol w="2286000"/>
                <a:gridCol w="5394960"/>
              </a:tblGrid>
              <a:tr h="457200">
                <a:tc>
                  <a:txBody>
                    <a:bodyPr/>
                    <a:lstStyle/>
                    <a:p>
                      <a:pPr algn="ctr"/>
                      <a:r>
                        <a:rPr sz="1000" b="1">
                          <a:solidFill>
                            <a:srgbClr val="FFFFFF"/>
                          </a:solidFill>
                        </a:rPr>
                        <a:t>RQ</a:t>
                      </a:r>
                    </a:p>
                  </a:txBody>
                  <a:tcPr>
                    <a:solidFill>
                      <a:srgbClr val="1A73E8"/>
                    </a:solidFill>
                  </a:tcPr>
                </a:tc>
                <a:tc>
                  <a:txBody>
                    <a:bodyPr/>
                    <a:lstStyle/>
                    <a:p>
                      <a:pPr algn="ctr"/>
                      <a:r>
                        <a:rPr sz="1000" b="1">
                          <a:solidFill>
                            <a:srgbClr val="FFFFFF"/>
                          </a:solidFill>
                        </a:rPr>
                        <a:t>Pertanyaan Penelitian</a:t>
                      </a:r>
                    </a:p>
                  </a:txBody>
                  <a:tcPr>
                    <a:solidFill>
                      <a:srgbClr val="1A73E8"/>
                    </a:solidFill>
                  </a:tcPr>
                </a:tc>
                <a:tc>
                  <a:txBody>
                    <a:bodyPr/>
                    <a:lstStyle/>
                    <a:p>
                      <a:pPr algn="ctr"/>
                      <a:r>
                        <a:rPr sz="1000" b="1">
                          <a:solidFill>
                            <a:srgbClr val="FFFFFF"/>
                          </a:solidFill>
                        </a:rPr>
                        <a:t>Jawaban / Hasil</a:t>
                      </a:r>
                    </a:p>
                  </a:txBody>
                  <a:tcPr>
                    <a:solidFill>
                      <a:srgbClr val="1A73E8"/>
                    </a:solidFill>
                  </a:tcPr>
                </a:tc>
              </a:tr>
              <a:tr h="457200">
                <a:tc>
                  <a:txBody>
                    <a:bodyPr/>
                    <a:lstStyle/>
                    <a:p>
                      <a:pPr algn="l"/>
                      <a:r>
                        <a:rPr sz="900">
                          <a:solidFill>
                            <a:srgbClr val="202020"/>
                          </a:solidFill>
                        </a:rPr>
                        <a:t>RQ1</a:t>
                      </a:r>
                    </a:p>
                  </a:txBody>
                  <a:tcPr>
                    <a:solidFill>
                      <a:srgbClr val="E8F0FE"/>
                    </a:solidFill>
                  </a:tcPr>
                </a:tc>
                <a:tc>
                  <a:txBody>
                    <a:bodyPr/>
                    <a:lstStyle/>
                    <a:p>
                      <a:pPr algn="ctr"/>
                      <a:r>
                        <a:rPr sz="900">
                          <a:solidFill>
                            <a:srgbClr val="202020"/>
                          </a:solidFill>
                        </a:rPr>
                        <a:t>Performa CNN</a:t>
                      </a:r>
                    </a:p>
                  </a:txBody>
                  <a:tcPr>
                    <a:solidFill>
                      <a:srgbClr val="E8F0FE"/>
                    </a:solidFill>
                  </a:tcPr>
                </a:tc>
                <a:tc>
                  <a:txBody>
                    <a:bodyPr/>
                    <a:lstStyle/>
                    <a:p>
                      <a:pPr algn="ctr"/>
                      <a:r>
                        <a:rPr sz="900">
                          <a:solidFill>
                            <a:srgbClr val="202020"/>
                          </a:solidFill>
                        </a:rPr>
                        <a:t>From scratch: 0.134 (7c) / 0.296 (4c)
Transfer Learning: 0.177 (7c) / 0.407 (4c, +37%)</a:t>
                      </a:r>
                    </a:p>
                    <a:p>
                      <a:r>
                        <a:t>Transfer Learning: 0.177 (7c) / 0.407 (4c, +37%)</a:t>
                      </a:r>
                    </a:p>
                  </a:txBody>
                  <a:tcPr>
                    <a:solidFill>
                      <a:srgbClr val="E8F0FE"/>
                    </a:solidFill>
                  </a:tcPr>
                </a:tc>
              </a:tr>
              <a:tr h="457200">
                <a:tc>
                  <a:txBody>
                    <a:bodyPr/>
                    <a:lstStyle/>
                    <a:p>
                      <a:pPr algn="l"/>
                      <a:r>
                        <a:rPr sz="900">
                          <a:solidFill>
                            <a:srgbClr val="202020"/>
                          </a:solidFill>
                        </a:rPr>
                        <a:t>RQ2</a:t>
                      </a:r>
                    </a:p>
                  </a:txBody>
                  <a:tcPr>
                    <a:solidFill>
                      <a:srgbClr val="FFFFFF"/>
                    </a:solidFill>
                  </a:tcPr>
                </a:tc>
                <a:tc>
                  <a:txBody>
                    <a:bodyPr/>
                    <a:lstStyle/>
                    <a:p>
                      <a:pPr algn="ctr"/>
                      <a:r>
                        <a:rPr sz="900">
                          <a:solidFill>
                            <a:srgbClr val="202020"/>
                          </a:solidFill>
                        </a:rPr>
                        <a:t>Performa FCNN</a:t>
                      </a:r>
                    </a:p>
                  </a:txBody>
                  <a:tcPr>
                    <a:solidFill>
                      <a:srgbClr val="FFFFFF"/>
                    </a:solidFill>
                  </a:tcPr>
                </a:tc>
                <a:tc>
                  <a:txBody>
                    <a:bodyPr/>
                    <a:lstStyle/>
                    <a:p>
                      <a:pPr algn="ctr"/>
                      <a:r>
                        <a:rPr sz="900">
                          <a:solidFill>
                            <a:srgbClr val="202020"/>
                          </a:solidFill>
                        </a:rPr>
                        <a:t>0.234 (7-class) / 0.394 (4-class)
Landmark terbukti lebih robust</a:t>
                      </a:r>
                    </a:p>
                    <a:p>
                      <a:r>
                        <a:t>Landmark terbukti lebih robust</a:t>
                      </a:r>
                    </a:p>
                  </a:txBody>
                  <a:tcPr>
                    <a:solidFill>
                      <a:srgbClr val="FFFFFF"/>
                    </a:solidFill>
                  </a:tcPr>
                </a:tc>
              </a:tr>
              <a:tr h="457200">
                <a:tc>
                  <a:txBody>
                    <a:bodyPr/>
                    <a:lstStyle/>
                    <a:p>
                      <a:pPr algn="l"/>
                      <a:r>
                        <a:rPr sz="900">
                          <a:solidFill>
                            <a:srgbClr val="202020"/>
                          </a:solidFill>
                        </a:rPr>
                        <a:t>RQ3</a:t>
                      </a:r>
                    </a:p>
                  </a:txBody>
                  <a:tcPr>
                    <a:solidFill>
                      <a:srgbClr val="E8F0FE"/>
                    </a:solidFill>
                  </a:tcPr>
                </a:tc>
                <a:tc>
                  <a:txBody>
                    <a:bodyPr/>
                    <a:lstStyle/>
                    <a:p>
                      <a:pPr algn="ctr"/>
                      <a:r>
                        <a:rPr sz="900">
                          <a:solidFill>
                            <a:srgbClr val="202020"/>
                          </a:solidFill>
                        </a:rPr>
                        <a:t>Perbandingan Fusion</a:t>
                      </a:r>
                    </a:p>
                  </a:txBody>
                  <a:tcPr>
                    <a:solidFill>
                      <a:srgbClr val="E8F0FE"/>
                    </a:solidFill>
                  </a:tcPr>
                </a:tc>
                <a:tc>
                  <a:txBody>
                    <a:bodyPr/>
                    <a:lstStyle/>
                    <a:p>
                      <a:pPr algn="ctr"/>
                      <a:r>
                        <a:rPr sz="900">
                          <a:solidFill>
                            <a:srgbClr val="202020"/>
                          </a:solidFill>
                        </a:rPr>
                        <a:t>From scratch: FCNN &gt; Late Fusion &gt; Intermediate
TL: Late Fusion TL terbaik (0.442)</a:t>
                      </a:r>
                    </a:p>
                    <a:p>
                      <a:r>
                        <a:t>TL: Late Fusion TL terbaik (0.442)</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3017520"/>
          <a:ext cx="8229600" cy="1828800"/>
        </p:xfrm>
        <a:graphic>
          <a:graphicData uri="http://schemas.openxmlformats.org/drawingml/2006/table">
            <a:tbl>
              <a:tblPr firstRow="1" bandRow="1">
                <a:tableStyleId>{5C22544A-7EE6-4342-B048-85BDC9FD1C3A}</a:tableStyleId>
              </a:tblPr>
              <a:tblGrid>
                <a:gridCol w="365760"/>
                <a:gridCol w="2286000"/>
                <a:gridCol w="5577840"/>
              </a:tblGrid>
              <a:tr h="365760">
                <a:tc>
                  <a:txBody>
                    <a:bodyPr/>
                    <a:lstStyle/>
                    <a:p>
                      <a:pPr algn="ctr"/>
                      <a:r>
                        <a:rPr sz="1000" b="1">
                          <a:solidFill>
                            <a:srgbClr val="FFFFFF"/>
                          </a:solidFill>
                        </a:rPr>
                        <a:t>No</a:t>
                      </a:r>
                    </a:p>
                  </a:txBody>
                  <a:tcPr>
                    <a:solidFill>
                      <a:srgbClr val="1A73E8"/>
                    </a:solidFill>
                  </a:tcPr>
                </a:tc>
                <a:tc>
                  <a:txBody>
                    <a:bodyPr/>
                    <a:lstStyle/>
                    <a:p>
                      <a:pPr algn="ctr"/>
                      <a:r>
                        <a:rPr sz="1000" b="1">
                          <a:solidFill>
                            <a:srgbClr val="FFFFFF"/>
                          </a:solidFill>
                        </a:rPr>
                        <a:t>Topik Konsultasi</a:t>
                      </a:r>
                    </a:p>
                  </a:txBody>
                  <a:tcPr>
                    <a:solidFill>
                      <a:srgbClr val="1A73E8"/>
                    </a:solidFill>
                  </a:tcPr>
                </a:tc>
                <a:tc>
                  <a:txBody>
                    <a:bodyPr/>
                    <a:lstStyle/>
                    <a:p>
                      <a:pPr algn="ctr"/>
                      <a:r>
                        <a:rPr sz="1000" b="1">
                          <a:solidFill>
                            <a:srgbClr val="FFFFFF"/>
                          </a:solidFill>
                        </a:rPr>
                        <a:t>Pertanyaan</a:t>
                      </a:r>
                    </a:p>
                  </a:txBody>
                  <a:tcPr>
                    <a:solidFill>
                      <a:srgbClr val="1A73E8"/>
                    </a:solidFill>
                  </a:tcPr>
                </a:tc>
              </a:tr>
              <a:tr h="365760">
                <a:tc>
                  <a:txBody>
                    <a:bodyPr/>
                    <a:lstStyle/>
                    <a:p>
                      <a:pPr algn="l"/>
                      <a:r>
                        <a:rPr sz="900">
                          <a:solidFill>
                            <a:srgbClr val="202020"/>
                          </a:solidFill>
                        </a:rPr>
                        <a:t>1</a:t>
                      </a:r>
                    </a:p>
                  </a:txBody>
                  <a:tcPr>
                    <a:solidFill>
                      <a:srgbClr val="E8F0FE"/>
                    </a:solidFill>
                  </a:tcPr>
                </a:tc>
                <a:tc>
                  <a:txBody>
                    <a:bodyPr/>
                    <a:lstStyle/>
                    <a:p>
                      <a:pPr algn="ctr"/>
                      <a:r>
                        <a:rPr sz="900">
                          <a:solidFill>
                            <a:srgbClr val="202020"/>
                          </a:solidFill>
                        </a:rPr>
                        <a:t>Transfer Learning sebagai kontribusi</a:t>
                      </a:r>
                    </a:p>
                  </a:txBody>
                  <a:tcPr>
                    <a:solidFill>
                      <a:srgbClr val="E8F0FE"/>
                    </a:solidFill>
                  </a:tcPr>
                </a:tc>
                <a:tc>
                  <a:txBody>
                    <a:bodyPr/>
                    <a:lstStyle/>
                    <a:p>
                      <a:pPr algn="ctr"/>
                      <a:r>
                        <a:rPr sz="900">
                          <a:solidFill>
                            <a:srgbClr val="202020"/>
                          </a:solidFill>
                        </a:rPr>
                        <a:t>TL meningkatkan F1: 0.394 → 0.442. Cukup signifikan sebagai kontribusi tesis?</a:t>
                      </a:r>
                    </a:p>
                  </a:txBody>
                  <a:tcPr>
                    <a:solidFill>
                      <a:srgbClr val="E8F0FE"/>
                    </a:solidFill>
                  </a:tcPr>
                </a:tc>
              </a:tr>
              <a:tr h="365760">
                <a:tc>
                  <a:txBody>
                    <a:bodyPr/>
                    <a:lstStyle/>
                    <a:p>
                      <a:pPr algn="l"/>
                      <a:r>
                        <a:rPr sz="900">
                          <a:solidFill>
                            <a:srgbClr val="202020"/>
                          </a:solidFill>
                        </a:rPr>
                        <a:t>2</a:t>
                      </a:r>
                    </a:p>
                  </a:txBody>
                  <a:tcPr>
                    <a:solidFill>
                      <a:srgbClr val="FFFFFF"/>
                    </a:solidFill>
                  </a:tcPr>
                </a:tc>
                <a:tc>
                  <a:txBody>
                    <a:bodyPr/>
                    <a:lstStyle/>
                    <a:p>
                      <a:pPr algn="ctr"/>
                      <a:r>
                        <a:rPr sz="900">
                          <a:solidFill>
                            <a:srgbClr val="202020"/>
                          </a:solidFill>
                        </a:rPr>
                        <a:t>FCNN &gt; Fusion (from scratch)</a:t>
                      </a:r>
                    </a:p>
                  </a:txBody>
                  <a:tcPr>
                    <a:solidFill>
                      <a:srgbClr val="FFFFFF"/>
                    </a:solidFill>
                  </a:tcPr>
                </a:tc>
                <a:tc>
                  <a:txBody>
                    <a:bodyPr/>
                    <a:lstStyle/>
                    <a:p>
                      <a:pPr algn="ctr"/>
                      <a:r>
                        <a:rPr sz="900">
                          <a:solidFill>
                            <a:srgbClr val="202020"/>
                          </a:solidFill>
                        </a:rPr>
                        <a:t>Bertentangan hipotesis proposal — namun dengan TL, fusion akhirnya terbaik. Narasi tesis?</a:t>
                      </a:r>
                    </a:p>
                  </a:txBody>
                  <a:tcPr>
                    <a:solidFill>
                      <a:srgbClr val="FFFFFF"/>
                    </a:solidFill>
                  </a:tcPr>
                </a:tc>
              </a:tr>
              <a:tr h="365760">
                <a:tc>
                  <a:txBody>
                    <a:bodyPr/>
                    <a:lstStyle/>
                    <a:p>
                      <a:pPr algn="l"/>
                      <a:r>
                        <a:rPr sz="900">
                          <a:solidFill>
                            <a:srgbClr val="202020"/>
                          </a:solidFill>
                        </a:rPr>
                        <a:t>3</a:t>
                      </a:r>
                    </a:p>
                  </a:txBody>
                  <a:tcPr>
                    <a:solidFill>
                      <a:srgbClr val="E8F0FE"/>
                    </a:solidFill>
                  </a:tcPr>
                </a:tc>
                <a:tc>
                  <a:txBody>
                    <a:bodyPr/>
                    <a:lstStyle/>
                    <a:p>
                      <a:pPr algn="ctr"/>
                      <a:r>
                        <a:rPr sz="900">
                          <a:solidFill>
                            <a:srgbClr val="202020"/>
                          </a:solidFill>
                        </a:rPr>
                        <a:t>Macro F1 0.442</a:t>
                      </a:r>
                    </a:p>
                  </a:txBody>
                  <a:tcPr>
                    <a:solidFill>
                      <a:srgbClr val="E8F0FE"/>
                    </a:solidFill>
                  </a:tcPr>
                </a:tc>
                <a:tc>
                  <a:txBody>
                    <a:bodyPr/>
                    <a:lstStyle/>
                    <a:p>
                      <a:pPr algn="ctr"/>
                      <a:r>
                        <a:rPr sz="900">
                          <a:solidFill>
                            <a:srgbClr val="202020"/>
                          </a:solidFill>
                        </a:rPr>
                        <a:t>Acceptable untuk tesis S2? Dataset naturalistik, nyata, sangat imbalanced</a:t>
                      </a:r>
                    </a:p>
                  </a:txBody>
                  <a:tcPr>
                    <a:solidFill>
                      <a:srgbClr val="E8F0FE"/>
                    </a:solidFill>
                  </a:tcPr>
                </a:tc>
              </a:tr>
              <a:tr h="365760">
                <a:tc>
                  <a:txBody>
                    <a:bodyPr/>
                    <a:lstStyle/>
                    <a:p>
                      <a:pPr algn="l"/>
                      <a:r>
                        <a:rPr sz="900">
                          <a:solidFill>
                            <a:srgbClr val="202020"/>
                          </a:solidFill>
                        </a:rPr>
                        <a:t>4</a:t>
                      </a:r>
                    </a:p>
                  </a:txBody>
                  <a:tcPr>
                    <a:solidFill>
                      <a:srgbClr val="FFFFFF"/>
                    </a:solidFill>
                  </a:tcPr>
                </a:tc>
                <a:tc>
                  <a:txBody>
                    <a:bodyPr/>
                    <a:lstStyle/>
                    <a:p>
                      <a:pPr algn="ctr"/>
                      <a:r>
                        <a:rPr sz="900">
                          <a:solidFill>
                            <a:srgbClr val="202020"/>
                          </a:solidFill>
                        </a:rPr>
                        <a:t>Validasi ahli psikologi</a:t>
                      </a:r>
                    </a:p>
                  </a:txBody>
                  <a:tcPr>
                    <a:solidFill>
                      <a:srgbClr val="FFFFFF"/>
                    </a:solidFill>
                  </a:tcPr>
                </a:tc>
                <a:tc>
                  <a:txBody>
                    <a:bodyPr/>
                    <a:lstStyle/>
                    <a:p>
                      <a:pPr algn="ctr"/>
                      <a:r>
                        <a:rPr sz="900">
                          <a:solidFill>
                            <a:srgbClr val="202020"/>
                          </a:solidFill>
                        </a:rPr>
                        <a:t>Opsi A/B/C? 1 atau 2 ahli? Perlu honorarium?</a:t>
                      </a:r>
                    </a:p>
                  </a:txBody>
                  <a:tcPr>
                    <a:solidFill>
                      <a:srgbClr val="FFFFFF"/>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914400" y="1920240"/>
            <a:ext cx="7315200" cy="1097280"/>
          </a:xfrm>
          <a:prstGeom prst="rect">
            <a:avLst/>
          </a:prstGeom>
          <a:noFill/>
        </p:spPr>
        <p:txBody>
          <a:bodyPr wrap="none">
            <a:spAutoFit/>
          </a:bodyPr>
          <a:lstStyle/>
          <a:p>
            <a:pPr algn="ctr">
              <a:defRPr sz="4000" b="1"/>
            </a:pPr>
            <a:r>
              <a:t>Terimakasih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Rencana Eksperimen Lanjutan: Peningkatan Performa</a:t>
            </a:r>
          </a:p>
        </p:txBody>
      </p:sp>
      <p:sp>
        <p:nvSpPr>
          <p:cNvPr id="3" name="TextBox 2"/>
          <p:cNvSpPr txBox="1"/>
          <p:nvPr/>
        </p:nvSpPr>
        <p:spPr>
          <a:xfrm>
            <a:off x="274320" y="685800"/>
            <a:ext cx="8595360" cy="640080"/>
          </a:xfrm>
          <a:prstGeom prst="rect">
            <a:avLst/>
          </a:prstGeom>
          <a:solidFill>
            <a:srgbClr val="FFF0CC"/>
          </a:solidFill>
        </p:spPr>
        <p:txBody>
          <a:bodyPr wrap="square">
            <a:spAutoFit/>
          </a:bodyPr>
          <a:lstStyle/>
          <a:p>
            <a:pPr algn="l"/>
            <a:r>
              <a:rPr sz="1000" b="1" i="0">
                <a:solidFill>
                  <a:srgbClr val="202020"/>
                </a:solidFill>
              </a:rPr>
              <a:t>Motivasi: Macro F1 terbaik saat ini 0.412 (single split) / 0.370 (LOSO).</a:t>
            </a:r>
          </a:p>
          <a:p>
            <a:pPr algn="l"/>
            <a:r>
              <a:rPr sz="950" b="0" i="0">
                <a:solidFill>
                  <a:srgbClr val="202020"/>
                </a:solidFill>
              </a:rPr>
              <a:t>Dua strategi yang sedang disiapkan untuk meningkatkan performa:</a:t>
            </a:r>
          </a:p>
        </p:txBody>
      </p:sp>
      <p:sp>
        <p:nvSpPr>
          <p:cNvPr id="4" name="TextBox 3"/>
          <p:cNvSpPr txBox="1"/>
          <p:nvPr/>
        </p:nvSpPr>
        <p:spPr>
          <a:xfrm>
            <a:off x="274320" y="1463040"/>
            <a:ext cx="4114800" cy="1463040"/>
          </a:xfrm>
          <a:prstGeom prst="rect">
            <a:avLst/>
          </a:prstGeom>
          <a:solidFill>
            <a:srgbClr val="E6F4EA"/>
          </a:solidFill>
        </p:spPr>
        <p:txBody>
          <a:bodyPr wrap="square">
            <a:spAutoFit/>
          </a:bodyPr>
          <a:lstStyle/>
          <a:p>
            <a:pPr algn="l"/>
            <a:r>
              <a:rPr sz="1100" b="1" i="0">
                <a:solidFill>
                  <a:srgbClr val="0F9D58"/>
                </a:solidFill>
              </a:rPr>
              <a:t>Strategi 1: Focal Loss</a:t>
            </a:r>
          </a:p>
          <a:p>
            <a:pPr algn="l"/>
            <a:r>
              <a:rPr sz="800" b="0" i="1">
                <a:solidFill>
                  <a:srgbClr val="666666"/>
                </a:solidFill>
              </a:rPr>
              <a:t>(Lin et al., 2017)</a:t>
            </a:r>
          </a:p>
          <a:p>
            <a:pPr algn="l"/>
            <a:r>
              <a:rPr sz="400" b="0" i="0"/>
              <a:t/>
            </a:r>
          </a:p>
          <a:p>
            <a:pPr algn="l"/>
            <a:r>
              <a:rPr sz="950" b="0" i="0">
                <a:solidFill>
                  <a:srgbClr val="202020"/>
                </a:solidFill>
              </a:rPr>
              <a:t>Mengganti CrossEntropyLoss dengan</a:t>
            </a:r>
          </a:p>
          <a:p>
            <a:pPr algn="l"/>
            <a:r>
              <a:rPr sz="950" b="0" i="0">
                <a:solidFill>
                  <a:srgbClr val="202020"/>
                </a:solidFill>
              </a:rPr>
              <a:t>Focal Loss yang fokus ke sampel sulit.</a:t>
            </a:r>
          </a:p>
          <a:p>
            <a:pPr algn="l"/>
            <a:r>
              <a:rPr sz="300" b="0" i="0"/>
              <a:t/>
            </a:r>
          </a:p>
          <a:p>
            <a:pPr algn="l"/>
            <a:r>
              <a:rPr sz="900" b="0" i="1">
                <a:solidFill>
                  <a:srgbClr val="666666"/>
                </a:solidFill>
              </a:rPr>
              <a:t>FL(p) = -alpha * (1-p)^gamma * log(p)</a:t>
            </a:r>
          </a:p>
          <a:p>
            <a:pPr algn="l"/>
            <a:r>
              <a:rPr sz="300" b="0" i="0"/>
              <a:t/>
            </a:r>
          </a:p>
          <a:p>
            <a:pPr algn="l"/>
            <a:r>
              <a:rPr sz="950" b="0" i="0">
                <a:solidFill>
                  <a:srgbClr val="202020"/>
                </a:solidFill>
              </a:rPr>
              <a:t>Dirancang khusus untuk imbalanced data.</a:t>
            </a:r>
          </a:p>
          <a:p>
            <a:pPr algn="l"/>
            <a:r>
              <a:rPr sz="950" b="1" i="0">
                <a:solidFill>
                  <a:srgbClr val="0F9D58"/>
                </a:solidFill>
              </a:rPr>
              <a:t>Estimasi improvement: +5-15% F1</a:t>
            </a:r>
          </a:p>
        </p:txBody>
      </p:sp>
      <p:sp>
        <p:nvSpPr>
          <p:cNvPr id="5" name="TextBox 4"/>
          <p:cNvSpPr txBox="1"/>
          <p:nvPr/>
        </p:nvSpPr>
        <p:spPr>
          <a:xfrm>
            <a:off x="4572000" y="1463040"/>
            <a:ext cx="4297680" cy="1463040"/>
          </a:xfrm>
          <a:prstGeom prst="rect">
            <a:avLst/>
          </a:prstGeom>
          <a:solidFill>
            <a:srgbClr val="E8F0FE"/>
          </a:solidFill>
        </p:spPr>
        <p:txBody>
          <a:bodyPr wrap="square">
            <a:spAutoFit/>
          </a:bodyPr>
          <a:lstStyle/>
          <a:p>
            <a:pPr algn="l"/>
            <a:r>
              <a:rPr sz="1100" b="1" i="0">
                <a:solidFill>
                  <a:srgbClr val="1A73E8"/>
                </a:solidFill>
              </a:rPr>
              <a:t>Strategi 2: Pre-train FER2013</a:t>
            </a:r>
          </a:p>
          <a:p>
            <a:pPr algn="l"/>
            <a:r>
              <a:rPr sz="800" b="0" i="1">
                <a:solidFill>
                  <a:srgbClr val="666666"/>
                </a:solidFill>
              </a:rPr>
              <a:t>(35,887 gambar emosi wajah)</a:t>
            </a:r>
          </a:p>
          <a:p>
            <a:pPr algn="l"/>
            <a:r>
              <a:rPr sz="400" b="0" i="0"/>
              <a:t/>
            </a:r>
          </a:p>
          <a:p>
            <a:pPr algn="l"/>
            <a:r>
              <a:rPr sz="950" b="0" i="0">
                <a:solidFill>
                  <a:srgbClr val="202020"/>
                </a:solidFill>
              </a:rPr>
              <a:t>Two-stage Transfer Learning:</a:t>
            </a:r>
          </a:p>
          <a:p>
            <a:pPr algn="l"/>
            <a:r>
              <a:rPr sz="950" b="1" i="0">
                <a:solidFill>
                  <a:srgbClr val="202020"/>
                </a:solidFill>
              </a:rPr>
              <a:t>ImageNet -&gt; FER2013 -&gt; Dataset sendiri</a:t>
            </a:r>
          </a:p>
          <a:p>
            <a:pPr algn="l"/>
            <a:r>
              <a:rPr sz="300" b="0" i="0"/>
              <a:t/>
            </a:r>
          </a:p>
          <a:p>
            <a:pPr algn="l"/>
            <a:r>
              <a:rPr sz="900" b="0" i="0">
                <a:solidFill>
                  <a:srgbClr val="666666"/>
                </a:solidFill>
              </a:rPr>
              <a:t>ImageNet: fitur visual umum (kucing, mobil)</a:t>
            </a:r>
          </a:p>
          <a:p>
            <a:pPr algn="l"/>
            <a:r>
              <a:rPr sz="900" b="0" i="0">
                <a:solidFill>
                  <a:srgbClr val="666666"/>
                </a:solidFill>
              </a:rPr>
              <a:t>FER2013: fitur ekspresi wajah (domain-specific)</a:t>
            </a:r>
          </a:p>
          <a:p>
            <a:pPr algn="l"/>
            <a:r>
              <a:rPr sz="300" b="0" i="0"/>
              <a:t/>
            </a:r>
          </a:p>
          <a:p>
            <a:pPr algn="l"/>
            <a:r>
              <a:rPr sz="950" b="1" i="0">
                <a:solidFill>
                  <a:srgbClr val="1A73E8"/>
                </a:solidFill>
              </a:rPr>
              <a:t>Estimasi improvement: +10-20% F1</a:t>
            </a:r>
          </a:p>
        </p:txBody>
      </p:sp>
      <p:sp>
        <p:nvSpPr>
          <p:cNvPr id="6" name="TextBox 5"/>
          <p:cNvSpPr txBox="1"/>
          <p:nvPr/>
        </p:nvSpPr>
        <p:spPr>
          <a:xfrm>
            <a:off x="274320" y="3063240"/>
            <a:ext cx="8595360" cy="914400"/>
          </a:xfrm>
          <a:prstGeom prst="rect">
            <a:avLst/>
          </a:prstGeom>
          <a:solidFill>
            <a:srgbClr val="F1F3F4"/>
          </a:solidFill>
        </p:spPr>
        <p:txBody>
          <a:bodyPr wrap="square">
            <a:spAutoFit/>
          </a:bodyPr>
          <a:lstStyle/>
          <a:p>
            <a:pPr algn="l"/>
            <a:r>
              <a:rPr sz="1000" b="1" i="0">
                <a:solidFill>
                  <a:srgbClr val="202020"/>
                </a:solidFill>
              </a:rPr>
              <a:t>Eksperimen yang akan dijalankan (8 kombinasi, 4-class front-only):</a:t>
            </a:r>
          </a:p>
          <a:p>
            <a:pPr algn="l"/>
            <a:r>
              <a:rPr sz="300" b="0" i="0"/>
              <a:t/>
            </a:r>
          </a:p>
          <a:p>
            <a:pPr algn="l"/>
            <a:r>
              <a:rPr sz="900" b="0" i="0">
                <a:solidFill>
                  <a:srgbClr val="202020"/>
                </a:solidFill>
              </a:rPr>
              <a:t>1. CNN TL + Focal Loss                    5. CNN FER2013 + Focal Loss (best combo)</a:t>
            </a:r>
          </a:p>
          <a:p>
            <a:pPr algn="l"/>
            <a:r>
              <a:rPr sz="900" b="0" i="0">
                <a:solidFill>
                  <a:srgbClr val="202020"/>
                </a:solidFill>
              </a:rPr>
              <a:t>2. FCNN + Focal Loss                       6. Intermediate FER2013 + Focal Loss</a:t>
            </a:r>
          </a:p>
          <a:p>
            <a:pPr algn="l"/>
            <a:r>
              <a:rPr sz="900" b="0" i="0">
                <a:solidFill>
                  <a:srgbClr val="202020"/>
                </a:solidFill>
              </a:rPr>
              <a:t>3. Intermediate TL + Focal Loss       7. Late Fusion FER2013 + Focal Loss</a:t>
            </a:r>
          </a:p>
          <a:p>
            <a:pPr algn="l"/>
            <a:r>
              <a:rPr sz="900" b="0" i="0">
                <a:solidFill>
                  <a:srgbClr val="202020"/>
                </a:solidFill>
              </a:rPr>
              <a:t>4. CNN FER2013 + CrossEntropy        8. Intermediate FER2013 + CrossEntropy</a:t>
            </a:r>
          </a:p>
        </p:txBody>
      </p:sp>
      <p:sp>
        <p:nvSpPr>
          <p:cNvPr id="7" name="TextBox 6"/>
          <p:cNvSpPr txBox="1"/>
          <p:nvPr/>
        </p:nvSpPr>
        <p:spPr>
          <a:xfrm>
            <a:off x="274320" y="4069080"/>
            <a:ext cx="8595360" cy="320040"/>
          </a:xfrm>
          <a:prstGeom prst="rect">
            <a:avLst/>
          </a:prstGeom>
          <a:solidFill>
            <a:srgbClr val="1A73E8"/>
          </a:solidFill>
        </p:spPr>
        <p:txBody>
          <a:bodyPr wrap="square">
            <a:spAutoFit/>
          </a:bodyPr>
          <a:lstStyle/>
          <a:p>
            <a:pPr algn="ctr"/>
            <a:r>
              <a:rPr sz="950" b="1" i="0">
                <a:solidFill>
                  <a:srgbClr val="FFFFFF"/>
                </a:solidFill>
              </a:rPr>
              <a:t>Status: Script &amp; notebook sudah siap | FER2013 sudah didownload | Estimasi ~3-5 jam di VPS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